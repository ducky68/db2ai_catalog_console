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d5ce0e19b694a10" /><Relationship Type="http://schemas.openxmlformats.org/officeDocument/2006/relationships/extended-properties" Target="/docProps/app.xml" Id="R5d98b2373bfb4c6f" /><Relationship Type="http://schemas.openxmlformats.org/officeDocument/2006/relationships/officeDocument" Target="/ppt/presentation.xml" Id="Rb92d83827bd14d6a" /></Relationships>
</file>

<file path=ppt/presentation.xml><?xml version="1.0" encoding="utf-8"?>
<p:presentation xmlns:p="http://schemas.openxmlformats.org/presentationml/2006/main">
  <p:sldMasterIdLst>
    <p:sldMasterId xmlns:r="http://schemas.openxmlformats.org/officeDocument/2006/relationships" id="2147483648" r:id="R41dfe076fc584dc4"/>
  </p:sldMasterIdLst>
  <p:notesMasterIdLst>
    <p:notesMasterId xmlns:r="http://schemas.openxmlformats.org/officeDocument/2006/relationships" r:id="R88c9234abbd54f00"/>
  </p:notesMasterIdLst>
  <p:sldIdLst>
    <p:sldId xmlns:r="http://schemas.openxmlformats.org/officeDocument/2006/relationships" id="256" r:id="R3441bd182c904735"/>
    <p:sldId xmlns:r="http://schemas.openxmlformats.org/officeDocument/2006/relationships" id="257" r:id="R5ae743f899604f66"/>
    <p:sldId xmlns:r="http://schemas.openxmlformats.org/officeDocument/2006/relationships" id="258" r:id="Rb4fbdc830a744ca3"/>
    <p:sldId xmlns:r="http://schemas.openxmlformats.org/officeDocument/2006/relationships" id="259" r:id="R2128c9b163044ca1"/>
    <p:sldId xmlns:r="http://schemas.openxmlformats.org/officeDocument/2006/relationships" id="260" r:id="Rec0b3b0a97804cf1"/>
    <p:sldId xmlns:r="http://schemas.openxmlformats.org/officeDocument/2006/relationships" id="261" r:id="Rce7ff1c06ba44d2e"/>
    <p:sldId xmlns:r="http://schemas.openxmlformats.org/officeDocument/2006/relationships" id="262" r:id="Rc82a7aa7052844cc"/>
    <p:sldId xmlns:r="http://schemas.openxmlformats.org/officeDocument/2006/relationships" id="263" r:id="Rd303d1d999e6407f"/>
    <p:sldId xmlns:r="http://schemas.openxmlformats.org/officeDocument/2006/relationships" id="264" r:id="R2ecd378f6c494b4a"/>
    <p:sldId xmlns:r="http://schemas.openxmlformats.org/officeDocument/2006/relationships" id="265" r:id="Rc67ac3ac180f424a"/>
    <p:sldId xmlns:r="http://schemas.openxmlformats.org/officeDocument/2006/relationships" id="266" r:id="R7fa011e3df1a4aec"/>
    <p:sldId xmlns:r="http://schemas.openxmlformats.org/officeDocument/2006/relationships" id="267" r:id="Rc33b43e550cf4d65"/>
    <p:sldId xmlns:r="http://schemas.openxmlformats.org/officeDocument/2006/relationships" id="268" r:id="Rd6b0537830074552"/>
    <p:sldId xmlns:r="http://schemas.openxmlformats.org/officeDocument/2006/relationships" id="269" r:id="Rdb1ebb13bb6b4367"/>
    <p:sldId xmlns:r="http://schemas.openxmlformats.org/officeDocument/2006/relationships" id="270" r:id="Rb286cff91ed049c5"/>
    <p:sldId xmlns:r="http://schemas.openxmlformats.org/officeDocument/2006/relationships" id="271" r:id="Ra90e4dd98c4e495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8d59f3b49a4563" /><Relationship Type="http://schemas.openxmlformats.org/officeDocument/2006/relationships/slideMaster" Target="/ppt/slideMasters/slideMaster1.xml" Id="R41dfe076fc584dc4" /><Relationship Type="http://schemas.openxmlformats.org/officeDocument/2006/relationships/notesMaster" Target="/ppt/notesMasters/notesMaster1.xml" Id="R88c9234abbd54f00" /><Relationship Type="http://schemas.openxmlformats.org/officeDocument/2006/relationships/presProps" Target="/ppt/presProps.xml" Id="R4bb17dbfb92c4c57" /><Relationship Type="http://schemas.openxmlformats.org/officeDocument/2006/relationships/tableStyles" Target="/ppt/tableStyles.xml" Id="R3804d7be3d394334" /><Relationship Type="http://schemas.openxmlformats.org/officeDocument/2006/relationships/slide" Target="/ppt/slides/slide1.xml" Id="R3441bd182c904735" /><Relationship Type="http://schemas.openxmlformats.org/officeDocument/2006/relationships/slide" Target="/ppt/slides/slide2.xml" Id="R5ae743f899604f66" /><Relationship Type="http://schemas.openxmlformats.org/officeDocument/2006/relationships/slide" Target="/ppt/slides/slide3.xml" Id="Rb4fbdc830a744ca3" /><Relationship Type="http://schemas.openxmlformats.org/officeDocument/2006/relationships/slide" Target="/ppt/slides/slide4.xml" Id="R2128c9b163044ca1" /><Relationship Type="http://schemas.openxmlformats.org/officeDocument/2006/relationships/slide" Target="/ppt/slides/slide5.xml" Id="Rec0b3b0a97804cf1" /><Relationship Type="http://schemas.openxmlformats.org/officeDocument/2006/relationships/slide" Target="/ppt/slides/slide6.xml" Id="Rce7ff1c06ba44d2e" /><Relationship Type="http://schemas.openxmlformats.org/officeDocument/2006/relationships/slide" Target="/ppt/slides/slide7.xml" Id="Rc82a7aa7052844cc" /><Relationship Type="http://schemas.openxmlformats.org/officeDocument/2006/relationships/slide" Target="/ppt/slides/slide8.xml" Id="Rd303d1d999e6407f" /><Relationship Type="http://schemas.openxmlformats.org/officeDocument/2006/relationships/slide" Target="/ppt/slides/slide9.xml" Id="R2ecd378f6c494b4a" /><Relationship Type="http://schemas.openxmlformats.org/officeDocument/2006/relationships/slide" Target="/ppt/slides/slide10.xml" Id="Rc67ac3ac180f424a" /><Relationship Type="http://schemas.openxmlformats.org/officeDocument/2006/relationships/slide" Target="/ppt/slides/slide11.xml" Id="R7fa011e3df1a4aec" /><Relationship Type="http://schemas.openxmlformats.org/officeDocument/2006/relationships/slide" Target="/ppt/slides/slide12.xml" Id="Rc33b43e550cf4d65" /><Relationship Type="http://schemas.openxmlformats.org/officeDocument/2006/relationships/slide" Target="/ppt/slides/slide13.xml" Id="Rd6b0537830074552" /><Relationship Type="http://schemas.openxmlformats.org/officeDocument/2006/relationships/slide" Target="/ppt/slides/slide14.xml" Id="Rdb1ebb13bb6b4367" /><Relationship Type="http://schemas.openxmlformats.org/officeDocument/2006/relationships/slide" Target="/ppt/slides/slide15.xml" Id="Rb286cff91ed049c5" /><Relationship Type="http://schemas.openxmlformats.org/officeDocument/2006/relationships/slide" Target="/ppt/slides/slide16.xml" Id="Ra90e4dd98c4e49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5d5958017f4a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3d0267097a416f" /><Relationship Type="http://schemas.openxmlformats.org/officeDocument/2006/relationships/notesMaster" Target="/ppt/notesMasters/notesMaster1.xml" Id="Raa4024fac3e240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0c37f1ce977b4d5e" /><Relationship Type="http://schemas.openxmlformats.org/officeDocument/2006/relationships/notesMaster" Target="/ppt/notesMasters/notesMaster1.xml" Id="Rf990c11c3e2044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13e56f72514e11" /><Relationship Type="http://schemas.openxmlformats.org/officeDocument/2006/relationships/notesMaster" Target="/ppt/notesMasters/notesMaster1.xml" Id="Ra32de7f0e51344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0bf42d61dc46e9" /><Relationship Type="http://schemas.openxmlformats.org/officeDocument/2006/relationships/notesMaster" Target="/ppt/notesMasters/notesMaster1.xml" Id="Rbe03d16439f7412b"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f09f7f2d7c4ac8" /><Relationship Type="http://schemas.openxmlformats.org/officeDocument/2006/relationships/notesMaster" Target="/ppt/notesMasters/notesMaster1.xml" Id="Rf2d89f12f59545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d2a1af794c0c4c20" /><Relationship Type="http://schemas.openxmlformats.org/officeDocument/2006/relationships/notesMaster" Target="/ppt/notesMasters/notesMaster1.xml" Id="Rf2543528e056487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3a067084e274ca1" /><Relationship Type="http://schemas.openxmlformats.org/officeDocument/2006/relationships/notesMaster" Target="/ppt/notesMasters/notesMaster1.xml" Id="R430efb3c40b84d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8db773c34d9c40f0" /><Relationship Type="http://schemas.openxmlformats.org/officeDocument/2006/relationships/notesMaster" Target="/ppt/notesMasters/notesMaster1.xml" Id="Rd7cc5bff12a441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425156b79c4a93" /><Relationship Type="http://schemas.openxmlformats.org/officeDocument/2006/relationships/notesMaster" Target="/ppt/notesMasters/notesMaster1.xml" Id="Rb3b77bfd8d5e42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409e3f24174913" /><Relationship Type="http://schemas.openxmlformats.org/officeDocument/2006/relationships/notesMaster" Target="/ppt/notesMasters/notesMaster1.xml" Id="R21af4c19aa5147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f185c795d841ee" /><Relationship Type="http://schemas.openxmlformats.org/officeDocument/2006/relationships/notesMaster" Target="/ppt/notesMasters/notesMaster1.xml" Id="Rae953aed369840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4121406bba494b" /><Relationship Type="http://schemas.openxmlformats.org/officeDocument/2006/relationships/notesMaster" Target="/ppt/notesMasters/notesMaster1.xml" Id="Rd8c2d632db9847f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241f1903164052" /><Relationship Type="http://schemas.openxmlformats.org/officeDocument/2006/relationships/notesMaster" Target="/ppt/notesMasters/notesMaster1.xml" Id="R28682a6cf453482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8eacfab13f1413c" /><Relationship Type="http://schemas.openxmlformats.org/officeDocument/2006/relationships/notesMaster" Target="/ppt/notesMasters/notesMaster1.xml" Id="Rea12d6feb47d42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6897270baaa45b4" /><Relationship Type="http://schemas.openxmlformats.org/officeDocument/2006/relationships/notesMaster" Target="/ppt/notesMasters/notesMaster1.xml" Id="R63836eb13790425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6e70f605ede44d1" /><Relationship Type="http://schemas.openxmlformats.org/officeDocument/2006/relationships/notesMaster" Target="/ppt/notesMasters/notesMaster1.xml" Id="Rac32e90d3b4f40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DB2AI as a governed catalog-intelligence console rather than a general chatbot. DAISY handles natural-language intent, while deterministic Python retains control of execution.</a:t>
            </a:r>
          </a:p>
          <a:p xmlns:a="http://schemas.openxmlformats.org/drawingml/2006/main">
            <a:r>
              <a:t/>
            </a:r>
          </a:p>
          <a:p xmlns:a="http://schemas.openxmlformats.org/drawingml/2006/main">
            <a:r>
              <a:t>[Sources]</a:t>
            </a:r>
          </a:p>
          <a:p xmlns:a="http://schemas.openxmlformats.org/drawingml/2006/main">
            <a:r>
              <a:t>- 14-01_DB2AI_PROJECT_BRIEF_refreshed_20260615_P25F.md, sections 1-3</a:t>
            </a:r>
          </a:p>
          <a:p xmlns:a="http://schemas.openxmlformats.org/drawingml/2006/main">
            <a:r>
              <a:t>- 16-03_DB2AI_TECH_STACK_AND_WORKFLOW_refreshed_20260615_P25F.md, sections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67-tool count comes from the list returned by LangChainToolFactory.build(). The 16-workflow count comes from public CatalogWorkflows methods. The documented current architecture and syntax result cover 15 modules; this attachment set includes 12 source listings plus four refreshed documents.</a:t>
            </a:r>
          </a:p>
          <a:p xmlns:a="http://schemas.openxmlformats.org/drawingml/2006/main">
            <a:r>
              <a:t/>
            </a:r>
          </a:p>
          <a:p xmlns:a="http://schemas.openxmlformats.org/drawingml/2006/main">
            <a:r>
              <a:t>[Sources]</a:t>
            </a:r>
          </a:p>
          <a:p xmlns:a="http://schemas.openxmlformats.org/drawingml/2006/main">
            <a:r>
              <a:t>- 12-db2ai_llm_agent.txt, LangChainToolFactory.build returned tool list</a:t>
            </a:r>
          </a:p>
          <a:p xmlns:a="http://schemas.openxmlformats.org/drawingml/2006/main">
            <a:r>
              <a:t>- 08-db2ai_workflows.txt, CatalogWorkflows public methods</a:t>
            </a:r>
          </a:p>
          <a:p xmlns:a="http://schemas.openxmlformats.org/drawingml/2006/main">
            <a:r>
              <a:t>- 13-02_DB2AI_CURRENT_STATE_refreshed_20260615_P25F.md, sections 1 and 3</a:t>
            </a:r>
          </a:p>
          <a:p xmlns:a="http://schemas.openxmlformats.org/drawingml/2006/main">
            <a:r>
              <a:t>- 15-05_DB2AI_TEST_LOG_refreshed_20260615_P25F.md, section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repeatable reasoning and evidence assembly, not a lack of DBA expertise. DB2AI standardizes recurring checks while keeping the DBA responsible for interpretation and decisions.</a:t>
            </a:r>
          </a:p>
          <a:p xmlns:a="http://schemas.openxmlformats.org/drawingml/2006/main">
            <a:r>
              <a:t/>
            </a:r>
          </a:p>
          <a:p xmlns:a="http://schemas.openxmlformats.org/drawingml/2006/main">
            <a:r>
              <a:t>[Sources]</a:t>
            </a:r>
          </a:p>
          <a:p xmlns:a="http://schemas.openxmlformats.org/drawingml/2006/main">
            <a:r>
              <a:t>- 14-01_DB2AI_PROJECT_BRIEF_refreshed_20260615_P25F.md, sections 1-2</a:t>
            </a:r>
          </a:p>
          <a:p xmlns:a="http://schemas.openxmlformats.org/drawingml/2006/main">
            <a:r>
              <a:t>- 08-db2ai_workflows.txt, workflow docstrings for impact, storage, health and readiness</a:t>
            </a:r>
          </a:p>
          <a:p xmlns:a="http://schemas.openxmlformats.org/drawingml/2006/main">
            <a:r>
              <a:t>- 05-db2ai_exporter.txt, Exporter.export_evidence_pack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console supports both deterministic slash commands and natural-language requests. The audience includes DBAs, technical leads and application support. Capabilities are grouped here for management comprehension; detailed tool names remain in speaker notes and source.</a:t>
            </a:r>
          </a:p>
          <a:p xmlns:a="http://schemas.openxmlformats.org/drawingml/2006/main">
            <a:r>
              <a:t/>
            </a:r>
          </a:p>
          <a:p xmlns:a="http://schemas.openxmlformats.org/drawingml/2006/main">
            <a:r>
              <a:t>[Sources]</a:t>
            </a:r>
          </a:p>
          <a:p xmlns:a="http://schemas.openxmlformats.org/drawingml/2006/main">
            <a:r>
              <a:t>- 14-01_DB2AI_PROJECT_BRIEF_refreshed_20260615_P25F.md, sections 1, 2 and 6</a:t>
            </a:r>
          </a:p>
          <a:p xmlns:a="http://schemas.openxmlformats.org/drawingml/2006/main">
            <a:r>
              <a:t>- 12-db2ai_llm_agent.txt, LangChainToolFactory.build</a:t>
            </a:r>
          </a:p>
          <a:p xmlns:a="http://schemas.openxmlformats.org/drawingml/2006/main">
            <a:r>
              <a:t>- 08-db2ai_workflows.txt, CatalogWorkflows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layered view is an architectural interpretation of documented module responsibilities and runtime flow. The boundary is deliberate: the LLM is inside the control plane, not connected directly to Db2.</a:t>
            </a:r>
          </a:p>
          <a:p xmlns:a="http://schemas.openxmlformats.org/drawingml/2006/main">
            <a:r>
              <a:t/>
            </a:r>
          </a:p>
          <a:p xmlns:a="http://schemas.openxmlformats.org/drawingml/2006/main">
            <a:r>
              <a:t>[Sources]</a:t>
            </a:r>
          </a:p>
          <a:p xmlns:a="http://schemas.openxmlformats.org/drawingml/2006/main">
            <a:r>
              <a:t>- 13-02_DB2AI_CURRENT_STATE_refreshed_20260615_P25F.md, sections 2-3</a:t>
            </a:r>
          </a:p>
          <a:p xmlns:a="http://schemas.openxmlformats.org/drawingml/2006/main">
            <a:r>
              <a:t>- 16-03_DB2AI_TECH_STACK_AND_WORKFLOW_refreshed_20260615_P25F.md, sections 1-3</a:t>
            </a:r>
          </a:p>
          <a:p xmlns:a="http://schemas.openxmlformats.org/drawingml/2006/main">
            <a:r>
              <a:t>- 12-db2ai_llm_agent.txt, ReActAgentRunner and LangChainToolFactory</a:t>
            </a:r>
          </a:p>
          <a:p xmlns:a="http://schemas.openxmlformats.org/drawingml/2006/main">
            <a:r>
              <a:t>- 01-db2ai_db.txt, Db2Connection</a:t>
            </a:r>
          </a:p>
          <a:p xmlns:a="http://schemas.openxmlformats.org/drawingml/2006/main">
            <a:r>
              <a:t>- 03-db2ai_memory.txt and 05-db2ai_exporter.txt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startup sequence. Credentials are used for the connection but are not persisted in safe session memory. If the LLM is unavailable, the documented command surface and deterministic capabilities remain conceptually separate from AI initialization.</a:t>
            </a:r>
          </a:p>
          <a:p xmlns:a="http://schemas.openxmlformats.org/drawingml/2006/main">
            <a:r>
              <a:t/>
            </a:r>
          </a:p>
          <a:p xmlns:a="http://schemas.openxmlformats.org/drawingml/2006/main">
            <a:r>
              <a:t>[Sources]</a:t>
            </a:r>
          </a:p>
          <a:p xmlns:a="http://schemas.openxmlformats.org/drawingml/2006/main">
            <a:r>
              <a:t>- 02-db2ai_main.txt, choose_startup_dsn and main</a:t>
            </a:r>
          </a:p>
          <a:p xmlns:a="http://schemas.openxmlformats.org/drawingml/2006/main">
            <a:r>
              <a:t>- 01-db2ai_db.txt, Db2Connection.connect and refresh_context</a:t>
            </a:r>
          </a:p>
          <a:p xmlns:a="http://schemas.openxmlformats.org/drawingml/2006/main">
            <a:r>
              <a:t>- 03-db2ai_memory.txt, load_context_memory</a:t>
            </a:r>
          </a:p>
          <a:p xmlns:a="http://schemas.openxmlformats.org/drawingml/2006/main">
            <a:r>
              <a:t>- 13-02_DB2AI_CURRENT_STATE_refreshed_20260615_P25F.md, section 2</a:t>
            </a:r>
          </a:p>
          <a:p xmlns:a="http://schemas.openxmlformats.org/drawingml/2006/main">
            <a:r>
              <a:t>- 16-03_DB2AI_TECH_STACK_AND_WORKFLOW_refreshed_20260615_P25F.md, section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routing order is documented as a 13-stage gate. Slash commands are handled first; deterministic status, parser and glossary routes precede the general LLM router. Python validates the LLM decision before any approved dispatch.</a:t>
            </a:r>
          </a:p>
          <a:p xmlns:a="http://schemas.openxmlformats.org/drawingml/2006/main">
            <a:r>
              <a:t/>
            </a:r>
          </a:p>
          <a:p xmlns:a="http://schemas.openxmlformats.org/drawingml/2006/main">
            <a:r>
              <a:t>[Sources]</a:t>
            </a:r>
          </a:p>
          <a:p xmlns:a="http://schemas.openxmlformats.org/drawingml/2006/main">
            <a:r>
              <a:t>- 13-02_DB2AI_CURRENT_STATE_refreshed_20260615_P25F.md, section 5</a:t>
            </a:r>
          </a:p>
          <a:p xmlns:a="http://schemas.openxmlformats.org/drawingml/2006/main">
            <a:r>
              <a:t>- 16-03_DB2AI_TECH_STACK_AND_WORKFLOW_refreshed_20260615_P25F.md, sections 3-4</a:t>
            </a:r>
          </a:p>
          <a:p xmlns:a="http://schemas.openxmlformats.org/drawingml/2006/main">
            <a:r>
              <a:t>- 11-db2ai_guardrails.txt, classify_prompt_scope</a:t>
            </a:r>
          </a:p>
          <a:p xmlns:a="http://schemas.openxmlformats.org/drawingml/2006/main">
            <a:r>
              <a:t>- 09-db2ai_nl_router.txt, NaturalLanguageRouter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LLM router returns a structured action such as call_tool, ask_clarification, refuse or fallback_react. It does not execute. Python validates the tool name, arguments, signature and ambiguity, then dispatches only approved entries.</a:t>
            </a:r>
          </a:p>
          <a:p xmlns:a="http://schemas.openxmlformats.org/drawingml/2006/main">
            <a:r>
              <a:t/>
            </a:r>
          </a:p>
          <a:p xmlns:a="http://schemas.openxmlformats.org/drawingml/2006/main">
            <a:r>
              <a:t>[Sources]</a:t>
            </a:r>
          </a:p>
          <a:p xmlns:a="http://schemas.openxmlformats.org/drawingml/2006/main">
            <a:r>
              <a:t>- 09-db2ai_nl_router.txt, parse_llm_route_json and NLRoutePlan</a:t>
            </a:r>
          </a:p>
          <a:p xmlns:a="http://schemas.openxmlformats.org/drawingml/2006/main">
            <a:r>
              <a:t>- 12-db2ai_llm_agent.txt, ReActAgentRunner.route_prompt</a:t>
            </a:r>
          </a:p>
          <a:p xmlns:a="http://schemas.openxmlformats.org/drawingml/2006/main">
            <a:r>
              <a:t>- 16-03_DB2AI_TECH_STACK_AND_WORKFLOW_refreshed_20260615_P25F.md, sections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core governance message. The LLM contributes semantic interpretation; deterministic Python retains authorization and execution. Summaries must remain grounded in returned tool evidence.</a:t>
            </a:r>
          </a:p>
          <a:p xmlns:a="http://schemas.openxmlformats.org/drawingml/2006/main">
            <a:r>
              <a:t/>
            </a:r>
          </a:p>
          <a:p xmlns:a="http://schemas.openxmlformats.org/drawingml/2006/main">
            <a:r>
              <a:t>[Sources]</a:t>
            </a:r>
          </a:p>
          <a:p xmlns:a="http://schemas.openxmlformats.org/drawingml/2006/main">
            <a:r>
              <a:t>- 14-01_DB2AI_PROJECT_BRIEF_refreshed_20260615_P25F.md, section 3</a:t>
            </a:r>
          </a:p>
          <a:p xmlns:a="http://schemas.openxmlformats.org/drawingml/2006/main">
            <a:r>
              <a:t>- 12-db2ai_llm_agent.txt, system prompt, route_prompt and _run_tool</a:t>
            </a:r>
          </a:p>
          <a:p xmlns:a="http://schemas.openxmlformats.org/drawingml/2006/main">
            <a:r>
              <a:t>- 01-db2ai_db.txt, query and read-only validation</a:t>
            </a:r>
          </a:p>
          <a:p xmlns:a="http://schemas.openxmlformats.org/drawingml/2006/main">
            <a:r>
              <a:t>- 11-db2ai_guardrails.txt, classify_prompt_scope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is not a single prompt instruction. It is layered across prompt classification, route validation, tool exposure, SQL validation, data-source scoping and output handling. DISPLAY DATABASE is never issued; users may paste output for text-only parsing.</a:t>
            </a:r>
          </a:p>
          <a:p xmlns:a="http://schemas.openxmlformats.org/drawingml/2006/main">
            <a:r>
              <a:t/>
            </a:r>
          </a:p>
          <a:p xmlns:a="http://schemas.openxmlformats.org/drawingml/2006/main">
            <a:r>
              <a:t>[Sources]</a:t>
            </a:r>
          </a:p>
          <a:p xmlns:a="http://schemas.openxmlformats.org/drawingml/2006/main">
            <a:r>
              <a:t>- 14-01_DB2AI_PROJECT_BRIEF_refreshed_20260615_P25F.md, section 3</a:t>
            </a:r>
          </a:p>
          <a:p xmlns:a="http://schemas.openxmlformats.org/drawingml/2006/main">
            <a:r>
              <a:t>- 04-db2ai_utils.txt, validate_read_only_sql</a:t>
            </a:r>
          </a:p>
          <a:p xmlns:a="http://schemas.openxmlformats.org/drawingml/2006/main">
            <a:r>
              <a:t>- 01-db2ai_db.txt, Db2Connection.query</a:t>
            </a:r>
          </a:p>
          <a:p xmlns:a="http://schemas.openxmlformats.org/drawingml/2006/main">
            <a:r>
              <a:t>- 03-db2ai_memory.txt, safe memory docstrings</a:t>
            </a:r>
          </a:p>
          <a:p xmlns:a="http://schemas.openxmlformats.org/drawingml/2006/main">
            <a:r>
              <a:t>- 11-db2ai_guardrails.txt, classify_prompt_scope</a:t>
            </a:r>
          </a:p>
          <a:p xmlns:a="http://schemas.openxmlformats.org/drawingml/2006/main">
            <a:r>
              <a:t>- 15-05_DB2AI_TEST_LOG_refreshed_20260615_P25F.md, section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capability groups aggregate the 67 approved callable tools into DBA-oriented families. Several tools are pure reference or text parsing rather than Db2 queries; the source catalog and SQL evidence reflect that distinction.</a:t>
            </a:r>
          </a:p>
          <a:p xmlns:a="http://schemas.openxmlformats.org/drawingml/2006/main">
            <a:r>
              <a:t/>
            </a:r>
          </a:p>
          <a:p xmlns:a="http://schemas.openxmlformats.org/drawingml/2006/main">
            <a:r>
              <a:t>[Sources]</a:t>
            </a:r>
          </a:p>
          <a:p xmlns:a="http://schemas.openxmlformats.org/drawingml/2006/main">
            <a:r>
              <a:t>- 12-db2ai_llm_agent.txt, LangChainToolFactory.build</a:t>
            </a:r>
          </a:p>
          <a:p xmlns:a="http://schemas.openxmlformats.org/drawingml/2006/main">
            <a:r>
              <a:t>- 14-01_DB2AI_PROJECT_BRIEF_refreshed_20260615_P25F.md, sections 2 and 6</a:t>
            </a:r>
          </a:p>
          <a:p xmlns:a="http://schemas.openxmlformats.org/drawingml/2006/main">
            <a:r>
              <a:t>- 16-03_DB2AI_TECH_STACK_AND_WORKFLOW_refreshed_20260615_P25F.md, sections 5-8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Workflows do not create a new execution surface; they compose existing approved checks. WorkflowResult preserves conclusion, findings, source catalogs, trace, warnings and child result tables for rendering and export.</a:t>
            </a:r>
          </a:p>
          <a:p xmlns:a="http://schemas.openxmlformats.org/drawingml/2006/main">
            <a:r>
              <a:t/>
            </a:r>
          </a:p>
          <a:p xmlns:a="http://schemas.openxmlformats.org/drawingml/2006/main">
            <a:r>
              <a:t>[Sources]</a:t>
            </a:r>
          </a:p>
          <a:p xmlns:a="http://schemas.openxmlformats.org/drawingml/2006/main">
            <a:r>
              <a:t>- 08-db2ai_workflows.txt, CatalogWorkflows</a:t>
            </a:r>
          </a:p>
          <a:p xmlns:a="http://schemas.openxmlformats.org/drawingml/2006/main">
            <a:r>
              <a:t>- 10-db2ai_models.txt, WorkflowResult, Finding, SourceCatalog and ToolTraceStep</a:t>
            </a:r>
          </a:p>
          <a:p xmlns:a="http://schemas.openxmlformats.org/drawingml/2006/main">
            <a:r>
              <a:t>- 04-db2ai_utils.txt, workflow_result_to_payload</a:t>
            </a:r>
          </a:p>
          <a:p xmlns:a="http://schemas.openxmlformats.org/drawingml/2006/main">
            <a:r>
              <a:t>- 05-db2ai_exporter.txt, export_evidence_pack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refreshed documentation defines a 15-module architecture. In this attachment set, source listings were supplied for 12 modules. db2ai_app, db2ai_catalog_tools and db2ai_renderer are included here because their responsibilities are documented current state, but their source listings were not independently inspected in this package.</a:t>
            </a:r>
          </a:p>
          <a:p xmlns:a="http://schemas.openxmlformats.org/drawingml/2006/main">
            <a:r>
              <a:t/>
            </a:r>
          </a:p>
          <a:p xmlns:a="http://schemas.openxmlformats.org/drawingml/2006/main">
            <a:r>
              <a:t>[Sources]</a:t>
            </a:r>
          </a:p>
          <a:p xmlns:a="http://schemas.openxmlformats.org/drawingml/2006/main">
            <a:r>
              <a:t>- 13-02_DB2AI_CURRENT_STATE_refreshed_20260615_P25F.md, section 3</a:t>
            </a:r>
          </a:p>
          <a:p xmlns:a="http://schemas.openxmlformats.org/drawingml/2006/main">
            <a:r>
              <a:t>- 14-01_DB2AI_PROJECT_BRIEF_refreshed_20260615_P25F.md, section 5</a:t>
            </a:r>
          </a:p>
          <a:p xmlns:a="http://schemas.openxmlformats.org/drawingml/2006/main">
            <a:r>
              <a:t>- Supplied attachment inventory in project_sources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intentionally uses conventional Python components. The LLM layer is one controlled participant among deterministic validators, typed schemas, a read-only connection layer, terminal rendering and evidence export.</a:t>
            </a:r>
          </a:p>
          <a:p xmlns:a="http://schemas.openxmlformats.org/drawingml/2006/main">
            <a:r>
              <a:t/>
            </a:r>
          </a:p>
          <a:p xmlns:a="http://schemas.openxmlformats.org/drawingml/2006/main">
            <a:r>
              <a:t>[Sources]</a:t>
            </a:r>
          </a:p>
          <a:p xmlns:a="http://schemas.openxmlformats.org/drawingml/2006/main">
            <a:r>
              <a:t>- 16-03_DB2AI_TECH_STACK_AND_WORKFLOW_refreshed_20260615_P25F.md, section 1</a:t>
            </a:r>
          </a:p>
          <a:p xmlns:a="http://schemas.openxmlformats.org/drawingml/2006/main">
            <a:r>
              <a:t>- 07-db2ai_config.txt</a:t>
            </a:r>
          </a:p>
          <a:p xmlns:a="http://schemas.openxmlformats.org/drawingml/2006/main">
            <a:r>
              <a:t>- 10-db2ai_models.txt</a:t>
            </a:r>
          </a:p>
          <a:p xmlns:a="http://schemas.openxmlformats.org/drawingml/2006/main">
            <a:r>
              <a:t>- 12-db2ai_llm_agent.txt</a:t>
            </a:r>
          </a:p>
          <a:p xmlns:a="http://schemas.openxmlformats.org/drawingml/2006/main">
            <a:r>
              <a:t>- 05-db2ai_exporter.txt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QueryResult supports the latest visible simple result. WorkflowResult preserves multi-step evidence and can remain exportable after later reference queries. SQL Evidence appears only when catalog/RTS SQL actually ran; parser/reference-only results correctly have no SQL evidence.</a:t>
            </a:r>
          </a:p>
          <a:p xmlns:a="http://schemas.openxmlformats.org/drawingml/2006/main">
            <a:r>
              <a:t/>
            </a:r>
          </a:p>
          <a:p xmlns:a="http://schemas.openxmlformats.org/drawingml/2006/main">
            <a:r>
              <a:t>[Sources]</a:t>
            </a:r>
          </a:p>
          <a:p xmlns:a="http://schemas.openxmlformats.org/drawingml/2006/main">
            <a:r>
              <a:t>- 05-db2ai_exporter.txt, export_excel and export_evidence_pack</a:t>
            </a:r>
          </a:p>
          <a:p xmlns:a="http://schemas.openxmlformats.org/drawingml/2006/main">
            <a:r>
              <a:t>- 10-db2ai_models.txt, QueryResult and WorkflowResult</a:t>
            </a:r>
          </a:p>
          <a:p xmlns:a="http://schemas.openxmlformats.org/drawingml/2006/main">
            <a:r>
              <a:t>- 03-db2ai_memory.txt</a:t>
            </a:r>
          </a:p>
          <a:p xmlns:a="http://schemas.openxmlformats.org/drawingml/2006/main">
            <a:r>
              <a:t>- 16-03_DB2AI_TECH_STACK_AND_WORKFLOW_refreshed_20260615_P25F.md, sections 10-11</a:t>
            </a:r>
          </a:p>
          <a:p xmlns:a="http://schemas.openxmlformats.org/drawingml/2006/main">
            <a:r>
              <a:t>- 15-05_DB2AI_TEST_LOG_refreshed_20260615_P25F.md, sections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governance-value balance. Benefits are operationally supported but not quantified in the source, so the deck does not claim hours or percentages saved. Roadmap items are limited to those explicitly recommended or identified as current non-blocking polish.</a:t>
            </a:r>
          </a:p>
          <a:p xmlns:a="http://schemas.openxmlformats.org/drawingml/2006/main">
            <a:r>
              <a:t/>
            </a:r>
          </a:p>
          <a:p xmlns:a="http://schemas.openxmlformats.org/drawingml/2006/main">
            <a:r>
              <a:t>[Sources]</a:t>
            </a:r>
          </a:p>
          <a:p xmlns:a="http://schemas.openxmlformats.org/drawingml/2006/main">
            <a:r>
              <a:t>- 14-01_DB2AI_PROJECT_BRIEF_refreshed_20260615_P25F.md, sections 1, 8 and 9</a:t>
            </a:r>
          </a:p>
          <a:p xmlns:a="http://schemas.openxmlformats.org/drawingml/2006/main">
            <a:r>
              <a:t>- 13-02_DB2AI_CURRENT_STATE_refreshed_20260615_P25F.md, section 11</a:t>
            </a:r>
          </a:p>
          <a:p xmlns:a="http://schemas.openxmlformats.org/drawingml/2006/main">
            <a:r>
              <a:t>- 15-05_DB2AI_TEST_LOG_refreshed_20260615_P25F.md, sections 9-10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735c63121c4a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fce2f799db48ca" /><Relationship Type="http://schemas.openxmlformats.org/officeDocument/2006/relationships/slideLayout" Target="/ppt/slideLayouts/slideLayout1.xml" Id="Rd2fcfc27ad6c48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2fcfc27ad6c48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e8c3f2ec090481a" /><Relationship Type="http://schemas.openxmlformats.org/officeDocument/2006/relationships/notesSlide" Target="/ppt/notesSlides/notesSlide1.xml" Id="R2f586988e67e4e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ff5b299cd14041" /><Relationship Type="http://schemas.openxmlformats.org/officeDocument/2006/relationships/notesSlide" Target="/ppt/notesSlides/notesSlide2.xml" Id="R39b0b9b76bd34d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75c64969204371" /><Relationship Type="http://schemas.openxmlformats.org/officeDocument/2006/relationships/notesSlide" Target="/ppt/notesSlides/notesSlide3.xml" Id="R7b29f45b994d41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233c43ef5c547aa" /><Relationship Type="http://schemas.openxmlformats.org/officeDocument/2006/relationships/notesSlide" Target="/ppt/notesSlides/notesSlide4.xml" Id="Rb31ddd871f0f433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0260f3ea5b4384" /><Relationship Type="http://schemas.openxmlformats.org/officeDocument/2006/relationships/notesSlide" Target="/ppt/notesSlides/notesSlide5.xml" Id="Rb15422c215ce42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fdedf83f8c44a5e" /><Relationship Type="http://schemas.openxmlformats.org/officeDocument/2006/relationships/notesSlide" Target="/ppt/notesSlides/notesSlide6.xml" Id="R65d28f863c2a4d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254f22aa054e2e" /><Relationship Type="http://schemas.openxmlformats.org/officeDocument/2006/relationships/notesSlide" Target="/ppt/notesSlides/notesSlide7.xml" Id="Rd91db0c45ffd424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6bd0be339164c50" /><Relationship Type="http://schemas.openxmlformats.org/officeDocument/2006/relationships/notesSlide" Target="/ppt/notesSlides/notesSlide8.xml" Id="Rd254a14028d247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11c2a742cf48a4" /><Relationship Type="http://schemas.openxmlformats.org/officeDocument/2006/relationships/notesSlide" Target="/ppt/notesSlides/notesSlide9.xml" Id="R54cbd52108a74d2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8669852fc824c33" /><Relationship Type="http://schemas.openxmlformats.org/officeDocument/2006/relationships/notesSlide" Target="/ppt/notesSlides/notesSlide10.xml" Id="Rf7fdde80e1f446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49cc03ce67b4db3" /><Relationship Type="http://schemas.openxmlformats.org/officeDocument/2006/relationships/notesSlide" Target="/ppt/notesSlides/notesSlide11.xml" Id="Refcb259436fe419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2fa7f4790349bc" /><Relationship Type="http://schemas.openxmlformats.org/officeDocument/2006/relationships/notesSlide" Target="/ppt/notesSlides/notesSlide12.xml" Id="Re6873ddc99f4441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3f4cf9e61e4251" /><Relationship Type="http://schemas.openxmlformats.org/officeDocument/2006/relationships/notesSlide" Target="/ppt/notesSlides/notesSlide13.xml" Id="R5c58b9420a7946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5648c60034a4e30" /><Relationship Type="http://schemas.openxmlformats.org/officeDocument/2006/relationships/notesSlide" Target="/ppt/notesSlides/notesSlide14.xml" Id="R90a631e1506144c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018cdab9b6547eb" /><Relationship Type="http://schemas.openxmlformats.org/officeDocument/2006/relationships/notesSlide" Target="/ppt/notesSlides/notesSlide15.xml" Id="Rba22edd3a03d421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a426ced01464679" /><Relationship Type="http://schemas.openxmlformats.org/officeDocument/2006/relationships/notesSlide" Target="/ppt/notesSlides/notesSlide16.xml" Id="R87dc3b0e762742d6" /></Relationships>
</file>

<file path=ppt/slides/slide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5232E1-13ED-4FA7-B82D-E8C9447C239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46256010-A204-4518-8D58-7C1D82A998A7}"/>
              </a:ext>
            </a:extLst>
          </p:cNvPr>
          <p:cNvSpPr>
            <a:spLocks xmlns:a="http://schemas.openxmlformats.org/drawingml/2006/main" noGrp="1"/>
          </p:cNvSpPr>
          <p:nvPr/>
        </p:nvSpPr>
        <p:spPr>
          <a:xfrm xmlns:a="http://schemas.openxmlformats.org/drawingml/2006/main">
            <a:off x="685800" y="5905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40D9FF"/>
                </a:solidFill>
              </a:defRPr>
            </a:pPr>
            <a:r>
              <a:rPr sz="1125" b="1">
                <a:solidFill>
                  <a:srgbClr val="40D9FF"/>
                </a:solidFill>
              </a:rPr>
              <a:t>GOVERNED AI FOR DB2 CATALOG INTELLIGENCE</a:t>
            </a:r>
          </a:p>
        </p:txBody>
      </p:sp>
      <p:sp>
        <p:nvSpPr>
          <p:cNvPr id="3" name="">
            <a:extLst xmlns:a="http://schemas.openxmlformats.org/drawingml/2006/main">
              <a:ext uri="{FF2B5EF4-FFF2-40B4-BE49-F238E27FC236}">
                <a16:creationId xmlns:a16="http://schemas.microsoft.com/office/drawing/2014/main" id="{6E9AE630-5832-48B6-A66C-832D9AE6C085}"/>
              </a:ext>
            </a:extLst>
          </p:cNvPr>
          <p:cNvSpPr>
            <a:spLocks xmlns:a="http://schemas.openxmlformats.org/drawingml/2006/main" noGrp="1"/>
          </p:cNvSpPr>
          <p:nvPr/>
        </p:nvSpPr>
        <p:spPr>
          <a:xfrm xmlns:a="http://schemas.openxmlformats.org/drawingml/2006/main">
            <a:off x="685800" y="1333500"/>
            <a:ext cx="7429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350" b="1">
                <a:solidFill>
                  <a:srgbClr val="F5FAFF"/>
                </a:solidFill>
              </a:defRPr>
            </a:pPr>
            <a:r>
              <a:rPr sz="4350" b="1">
                <a:solidFill>
                  <a:srgbClr val="F5FAFF"/>
                </a:solidFill>
              </a:rPr>
              <a:t>DB2AI Catalog Console</a:t>
            </a:r>
          </a:p>
        </p:txBody>
      </p:sp>
      <p:sp>
        <p:nvSpPr>
          <p:cNvPr id="4" name="">
            <a:extLst xmlns:a="http://schemas.openxmlformats.org/drawingml/2006/main">
              <a:ext uri="{FF2B5EF4-FFF2-40B4-BE49-F238E27FC236}">
                <a16:creationId xmlns:a16="http://schemas.microsoft.com/office/drawing/2014/main" id="{E774BB58-ECD4-4A6E-897D-ED0C48A46C96}"/>
              </a:ext>
            </a:extLst>
          </p:cNvPr>
          <p:cNvSpPr>
            <a:spLocks xmlns:a="http://schemas.openxmlformats.org/drawingml/2006/main" noGrp="1"/>
          </p:cNvSpPr>
          <p:nvPr/>
        </p:nvSpPr>
        <p:spPr>
          <a:xfrm xmlns:a="http://schemas.openxmlformats.org/drawingml/2006/main">
            <a:off x="685800" y="2114550"/>
            <a:ext cx="685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D9E7F4"/>
                </a:solidFill>
              </a:defRPr>
            </a:pPr>
            <a:r>
              <a:rPr sz="2100" b="1">
                <a:solidFill>
                  <a:srgbClr val="D9E7F4"/>
                </a:solidFill>
              </a:rPr>
              <a:t>DAISY - Db2 AI Support for You</a:t>
            </a:r>
          </a:p>
        </p:txBody>
      </p:sp>
      <p:sp>
        <p:nvSpPr>
          <p:cNvPr id="5" name="">
            <a:extLst xmlns:a="http://schemas.openxmlformats.org/drawingml/2006/main">
              <a:ext uri="{FF2B5EF4-FFF2-40B4-BE49-F238E27FC236}">
                <a16:creationId xmlns:a16="http://schemas.microsoft.com/office/drawing/2014/main" id="{9CA952EE-B7DC-43DE-930F-F8497063B792}"/>
              </a:ext>
            </a:extLst>
          </p:cNvPr>
          <p:cNvSpPr>
            <a:spLocks xmlns:a="http://schemas.openxmlformats.org/drawingml/2006/main" noGrp="1"/>
          </p:cNvSpPr>
          <p:nvPr/>
        </p:nvSpPr>
        <p:spPr>
          <a:xfrm xmlns:a="http://schemas.openxmlformats.org/drawingml/2006/main">
            <a:off x="685800" y="2857500"/>
            <a:ext cx="63817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725" b="0">
                <a:solidFill>
                  <a:srgbClr val="D9E7F4"/>
                </a:solidFill>
              </a:defRPr>
            </a:pPr>
            <a:r>
              <a:rPr sz="1725" b="0">
                <a:solidFill>
                  <a:srgbClr val="D9E7F4"/>
                </a:solidFill>
              </a:rPr>
              <a:t>Natural-language DBA investigation routed through deterministic Python controls to approved read-only catalog and RTS evidence.</a:t>
            </a:r>
          </a:p>
        </p:txBody>
      </p:sp>
      <p:sp>
        <p:nvSpPr>
          <p:cNvPr id="6" name="">
            <a:extLst xmlns:a="http://schemas.openxmlformats.org/drawingml/2006/main">
              <a:ext uri="{FF2B5EF4-FFF2-40B4-BE49-F238E27FC236}">
                <a16:creationId xmlns:a16="http://schemas.microsoft.com/office/drawing/2014/main" id="{972532D6-9DC6-4EC8-A593-ECE77EDFAC88}"/>
              </a:ext>
            </a:extLst>
          </p:cNvPr>
          <p:cNvSpPr>
            <a:spLocks xmlns:a="http://schemas.openxmlformats.org/drawingml/2006/main" noGrp="1"/>
          </p:cNvSpPr>
          <p:nvPr/>
        </p:nvSpPr>
        <p:spPr>
          <a:xfrm xmlns:a="http://schemas.openxmlformats.org/drawingml/2006/main">
            <a:off x="8191500" y="1428750"/>
            <a:ext cx="2266950" cy="2266950"/>
          </a:xfrm>
          <a:prstGeom xmlns:a="http://schemas.openxmlformats.org/drawingml/2006/main" prst="ellipse">
            <a:avLst/>
          </a:prstGeom>
          <a:solidFill xmlns:a="http://schemas.openxmlformats.org/drawingml/2006/main">
            <a:srgbClr val="143A55"/>
          </a:solidFill>
          <a:ln xmlns:a="http://schemas.openxmlformats.org/drawingml/2006/main" w="9525">
            <a:solidFill>
              <a:srgbClr val="143A55"/>
            </a:solid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5FAFF"/>
                </a:solidFill>
              </a:defRPr>
            </a:pPr>
            <a:r>
              <a:rPr sz="2550" b="1">
                <a:solidFill>
                  <a:srgbClr val="F5FAFF"/>
                </a:solidFill>
              </a:rPr>
              <a:t>DAISY</a:t>
            </a:r>
          </a:p>
        </p:txBody>
      </p:sp>
      <p:sp>
        <p:nvSpPr>
          <p:cNvPr id="7" name="">
            <a:extLst xmlns:a="http://schemas.openxmlformats.org/drawingml/2006/main">
              <a:ext uri="{FF2B5EF4-FFF2-40B4-BE49-F238E27FC236}">
                <a16:creationId xmlns:a16="http://schemas.microsoft.com/office/drawing/2014/main" id="{78B52468-C7A2-40BD-89C8-2CD294286F07}"/>
              </a:ext>
            </a:extLst>
          </p:cNvPr>
          <p:cNvSpPr>
            <a:spLocks xmlns:a="http://schemas.openxmlformats.org/drawingml/2006/main" noGrp="1"/>
          </p:cNvSpPr>
          <p:nvPr/>
        </p:nvSpPr>
        <p:spPr>
          <a:xfrm xmlns:a="http://schemas.openxmlformats.org/drawingml/2006/main">
            <a:off x="7467600" y="685800"/>
            <a:ext cx="1524000" cy="533400"/>
          </a:xfrm>
          <a:prstGeom xmlns:a="http://schemas.openxmlformats.org/drawingml/2006/main" prst="roundRect">
            <a:avLst>
              <a:gd name="adj" fmla="val 21429"/>
            </a:avLst>
          </a:prstGeom>
          <a:solidFill xmlns:a="http://schemas.openxmlformats.org/drawingml/2006/main">
            <a:srgbClr val="102A43"/>
          </a:solidFill>
          <a:ln xmlns:a="http://schemas.openxmlformats.org/drawingml/2006/main" w="9525">
            <a:solidFill>
              <a:srgbClr val="40D9FF"/>
            </a:solidFill>
            <a:prstDash val="solid"/>
          </a:ln>
        </p:spPr>
      </p:sp>
      <p:sp>
        <p:nvSpPr>
          <p:cNvPr id="8" name="">
            <a:extLst xmlns:a="http://schemas.openxmlformats.org/drawingml/2006/main">
              <a:ext uri="{FF2B5EF4-FFF2-40B4-BE49-F238E27FC236}">
                <a16:creationId xmlns:a16="http://schemas.microsoft.com/office/drawing/2014/main" id="{2F448B2A-E368-4102-8F57-C7B286E835A8}"/>
              </a:ext>
            </a:extLst>
          </p:cNvPr>
          <p:cNvSpPr>
            <a:spLocks xmlns:a="http://schemas.openxmlformats.org/drawingml/2006/main" noGrp="1"/>
          </p:cNvSpPr>
          <p:nvPr/>
        </p:nvSpPr>
        <p:spPr>
          <a:xfrm xmlns:a="http://schemas.openxmlformats.org/drawingml/2006/main">
            <a:off x="7581900" y="800100"/>
            <a:ext cx="1295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40D9FF"/>
                </a:solidFill>
              </a:defRPr>
            </a:pPr>
            <a:r>
              <a:rPr sz="1050" b="1">
                <a:solidFill>
                  <a:srgbClr val="40D9FF"/>
                </a:solidFill>
              </a:rPr>
              <a:t>QUESTION</a:t>
            </a:r>
          </a:p>
        </p:txBody>
      </p:sp>
      <p:sp>
        <p:nvSpPr>
          <p:cNvPr id="9" name="">
            <a:extLst xmlns:a="http://schemas.openxmlformats.org/drawingml/2006/main">
              <a:ext uri="{FF2B5EF4-FFF2-40B4-BE49-F238E27FC236}">
                <a16:creationId xmlns:a16="http://schemas.microsoft.com/office/drawing/2014/main" id="{C7E3B33D-DECA-4064-9E51-EAD7F45CDCC2}"/>
              </a:ext>
            </a:extLst>
          </p:cNvPr>
          <p:cNvSpPr>
            <a:spLocks xmlns:a="http://schemas.openxmlformats.org/drawingml/2006/main" noGrp="1"/>
          </p:cNvSpPr>
          <p:nvPr/>
        </p:nvSpPr>
        <p:spPr>
          <a:xfrm xmlns:a="http://schemas.openxmlformats.org/drawingml/2006/main">
            <a:off x="9715500" y="3143250"/>
            <a:ext cx="1581150" cy="571500"/>
          </a:xfrm>
          <a:prstGeom xmlns:a="http://schemas.openxmlformats.org/drawingml/2006/main" prst="roundRect">
            <a:avLst>
              <a:gd name="adj" fmla="val 20000"/>
            </a:avLst>
          </a:prstGeom>
          <a:solidFill xmlns:a="http://schemas.openxmlformats.org/drawingml/2006/main">
            <a:srgbClr val="102A43"/>
          </a:solidFill>
          <a:ln xmlns:a="http://schemas.openxmlformats.org/drawingml/2006/main" w="9525">
            <a:solidFill>
              <a:srgbClr val="35D07F"/>
            </a:solidFill>
            <a:prstDash val="solid"/>
          </a:ln>
        </p:spPr>
      </p:sp>
      <p:sp>
        <p:nvSpPr>
          <p:cNvPr id="10" name="">
            <a:extLst xmlns:a="http://schemas.openxmlformats.org/drawingml/2006/main">
              <a:ext uri="{FF2B5EF4-FFF2-40B4-BE49-F238E27FC236}">
                <a16:creationId xmlns:a16="http://schemas.microsoft.com/office/drawing/2014/main" id="{387E0570-4E49-4F38-A39F-994284265ADE}"/>
              </a:ext>
            </a:extLst>
          </p:cNvPr>
          <p:cNvSpPr>
            <a:spLocks xmlns:a="http://schemas.openxmlformats.org/drawingml/2006/main" noGrp="1"/>
          </p:cNvSpPr>
          <p:nvPr/>
        </p:nvSpPr>
        <p:spPr>
          <a:xfrm xmlns:a="http://schemas.openxmlformats.org/drawingml/2006/main">
            <a:off x="9810750" y="3295650"/>
            <a:ext cx="1390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5D07F"/>
                </a:solidFill>
              </a:defRPr>
            </a:pPr>
            <a:r>
              <a:rPr sz="1050" b="1">
                <a:solidFill>
                  <a:srgbClr val="35D07F"/>
                </a:solidFill>
              </a:rPr>
              <a:t>EVIDENCE</a:t>
            </a:r>
          </a:p>
        </p:txBody>
      </p:sp>
      <p:sp>
        <p:nvSpPr>
          <p:cNvPr id="11" name="">
            <a:extLst xmlns:a="http://schemas.openxmlformats.org/drawingml/2006/main">
              <a:ext uri="{FF2B5EF4-FFF2-40B4-BE49-F238E27FC236}">
                <a16:creationId xmlns:a16="http://schemas.microsoft.com/office/drawing/2014/main" id="{9CB14207-DE3B-4C34-A8A7-352128F84F1D}"/>
              </a:ext>
            </a:extLst>
          </p:cNvPr>
          <p:cNvSpPr>
            <a:spLocks xmlns:a="http://schemas.openxmlformats.org/drawingml/2006/main" noGrp="1"/>
          </p:cNvSpPr>
          <p:nvPr/>
        </p:nvSpPr>
        <p:spPr>
          <a:xfrm xmlns:a="http://schemas.openxmlformats.org/drawingml/2006/main">
            <a:off x="7048500" y="4095750"/>
            <a:ext cx="1752600" cy="571500"/>
          </a:xfrm>
          <a:prstGeom xmlns:a="http://schemas.openxmlformats.org/drawingml/2006/main" prst="roundRect">
            <a:avLst>
              <a:gd name="adj" fmla="val 20000"/>
            </a:avLst>
          </a:prstGeom>
          <a:solidFill xmlns:a="http://schemas.openxmlformats.org/drawingml/2006/main">
            <a:srgbClr val="102A43"/>
          </a:solidFill>
          <a:ln xmlns:a="http://schemas.openxmlformats.org/drawingml/2006/main" w="9525">
            <a:solidFill>
              <a:srgbClr val="F4B942"/>
            </a:solidFill>
            <a:prstDash val="solid"/>
          </a:ln>
        </p:spPr>
      </p:sp>
      <p:sp>
        <p:nvSpPr>
          <p:cNvPr id="12" name="">
            <a:extLst xmlns:a="http://schemas.openxmlformats.org/drawingml/2006/main">
              <a:ext uri="{FF2B5EF4-FFF2-40B4-BE49-F238E27FC236}">
                <a16:creationId xmlns:a16="http://schemas.microsoft.com/office/drawing/2014/main" id="{1B9D2C40-E43F-4B79-8D84-7A57C624CBDD}"/>
              </a:ext>
            </a:extLst>
          </p:cNvPr>
          <p:cNvSpPr>
            <a:spLocks xmlns:a="http://schemas.openxmlformats.org/drawingml/2006/main" noGrp="1"/>
          </p:cNvSpPr>
          <p:nvPr/>
        </p:nvSpPr>
        <p:spPr>
          <a:xfrm xmlns:a="http://schemas.openxmlformats.org/drawingml/2006/main">
            <a:off x="7162800" y="42481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4B942"/>
                </a:solidFill>
              </a:defRPr>
            </a:pPr>
            <a:r>
              <a:rPr sz="1050" b="1">
                <a:solidFill>
                  <a:srgbClr val="F4B942"/>
                </a:solidFill>
              </a:rPr>
              <a:t>GOVERNANCE</a:t>
            </a:r>
          </a:p>
        </p:txBody>
      </p:sp>
      <p:cxnSp>
        <p:nvCxnSpPr>
          <p:cNvPr id="30" name=""/>
          <p:cNvCxnSpPr>
            <a:stCxn xmlns:a="http://schemas.openxmlformats.org/drawingml/2006/main" id="7" idx="2"/>
            <a:endCxn xmlns:a="http://schemas.openxmlformats.org/drawingml/2006/main" id="6" idx="0"/>
          </p:cNvCxnSpPr>
          <p:nvPr/>
        </p:nvCxnSpPr>
        <p:spPr>
          <a:xfrm xmlns:a="http://schemas.openxmlformats.org/drawingml/2006/main" rot="16200000" flipH="1">
            <a:off x="8672513" y="776288"/>
            <a:ext cx="209550" cy="1095375"/>
          </a:xfrm>
          <a:prstGeom xmlns:a="http://schemas.openxmlformats.org/drawingml/2006/main" prst="curvedConnector3">
            <a:avLst>
              <a:gd name="adj1" fmla="val 75000"/>
            </a:avLst>
          </a:prstGeom>
          <a:ln xmlns:a="http://schemas.openxmlformats.org/drawingml/2006/main" w="19050">
            <a:solidFill>
              <a:srgbClr val="40D9FF"/>
            </a:solidFill>
            <a:prstDash val="solid"/>
            <a:tailEnd type="arrow" w="med" len="med"/>
          </a:ln>
        </p:spPr>
      </p:cxnSp>
      <p:cxnSp>
        <p:nvCxnSpPr>
          <p:cNvPr id="31" name=""/>
          <p:cNvCxnSpPr>
            <a:stCxn xmlns:a="http://schemas.openxmlformats.org/drawingml/2006/main" id="6" idx="6"/>
            <a:endCxn xmlns:a="http://schemas.openxmlformats.org/drawingml/2006/main" id="9" idx="1"/>
          </p:cNvCxnSpPr>
          <p:nvPr/>
        </p:nvCxnSpPr>
        <p:spPr>
          <a:xfrm xmlns:a="http://schemas.openxmlformats.org/drawingml/2006/main" rot="5400000">
            <a:off x="9653588" y="2624138"/>
            <a:ext cx="866775" cy="742950"/>
          </a:xfrm>
          <a:prstGeom xmlns:a="http://schemas.openxmlformats.org/drawingml/2006/main" prst="curvedConnector3">
            <a:avLst>
              <a:gd name="adj1" fmla="val 90385"/>
            </a:avLst>
          </a:prstGeom>
          <a:ln xmlns:a="http://schemas.openxmlformats.org/drawingml/2006/main" w="19050">
            <a:solidFill>
              <a:srgbClr val="35D07F"/>
            </a:solidFill>
            <a:prstDash val="solid"/>
            <a:tailEnd type="arrow" w="med" len="med"/>
          </a:ln>
        </p:spPr>
      </p:cxnSp>
      <p:cxnSp>
        <p:nvCxnSpPr>
          <p:cNvPr id="32" name=""/>
          <p:cNvCxnSpPr>
            <a:stCxn xmlns:a="http://schemas.openxmlformats.org/drawingml/2006/main" id="11" idx="0"/>
            <a:endCxn xmlns:a="http://schemas.openxmlformats.org/drawingml/2006/main" id="6" idx="4"/>
          </p:cNvCxnSpPr>
          <p:nvPr/>
        </p:nvCxnSpPr>
        <p:spPr>
          <a:xfrm xmlns:a="http://schemas.openxmlformats.org/drawingml/2006/main" rot="5400000">
            <a:off x="8424863" y="3195638"/>
            <a:ext cx="400050" cy="1400175"/>
          </a:xfrm>
          <a:prstGeom xmlns:a="http://schemas.openxmlformats.org/drawingml/2006/main" prst="curvedConnector3">
            <a:avLst>
              <a:gd name="adj1" fmla="val 50000"/>
            </a:avLst>
          </a:prstGeom>
          <a:ln xmlns:a="http://schemas.openxmlformats.org/drawingml/2006/main" w="19050">
            <a:solidFill>
              <a:srgbClr val="F4B942"/>
            </a:solidFill>
            <a:prstDash val="solid"/>
            <a:tailEnd type="arrow" w="med" len="med"/>
          </a:ln>
        </p:spPr>
      </p:cxnSp>
      <p:sp>
        <p:nvSpPr>
          <p:cNvPr id="16" name="">
            <a:extLst xmlns:a="http://schemas.openxmlformats.org/drawingml/2006/main">
              <a:ext uri="{FF2B5EF4-FFF2-40B4-BE49-F238E27FC236}">
                <a16:creationId xmlns:a16="http://schemas.microsoft.com/office/drawing/2014/main" id="{84A5C84C-80E6-45FA-8226-5C78D4193734}"/>
              </a:ext>
            </a:extLst>
          </p:cNvPr>
          <p:cNvSpPr>
            <a:spLocks xmlns:a="http://schemas.openxmlformats.org/drawingml/2006/main" noGrp="1"/>
          </p:cNvSpPr>
          <p:nvPr/>
        </p:nvSpPr>
        <p:spPr>
          <a:xfrm xmlns:a="http://schemas.openxmlformats.org/drawingml/2006/main">
            <a:off x="685800" y="58102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91A7BA"/>
                </a:solidFill>
              </a:defRPr>
            </a:pPr>
            <a:r>
              <a:rPr sz="1200" b="0">
                <a:solidFill>
                  <a:srgbClr val="91A7BA"/>
                </a:solidFill>
              </a:rPr>
              <a:t>Technical sharing | Architecture review | Project portfolio</a:t>
            </a:r>
          </a:p>
        </p:txBody>
      </p:sp>
      <p:sp>
        <p:nvSpPr>
          <p:cNvPr id="17" name="">
            <a:extLst xmlns:a="http://schemas.openxmlformats.org/drawingml/2006/main">
              <a:ext uri="{FF2B5EF4-FFF2-40B4-BE49-F238E27FC236}">
                <a16:creationId xmlns:a16="http://schemas.microsoft.com/office/drawing/2014/main" id="{F6B1BFD1-AD50-4D8A-B732-FA23999F2E9A}"/>
              </a:ext>
            </a:extLst>
          </p:cNvPr>
          <p:cNvSpPr>
            <a:spLocks xmlns:a="http://schemas.openxmlformats.org/drawingml/2006/main" noGrp="1"/>
          </p:cNvSpPr>
          <p:nvPr/>
        </p:nvSpPr>
        <p:spPr>
          <a:xfrm xmlns:a="http://schemas.openxmlformats.org/drawingml/2006/main">
            <a:off x="685800" y="617220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91A7BA"/>
                </a:solidFill>
              </a:defRPr>
            </a:pPr>
            <a:r>
              <a:rPr sz="975" b="0">
                <a:solidFill>
                  <a:srgbClr val="91A7BA"/>
                </a:solidFill>
              </a:rPr>
              <a:t>Source-grounded review of supplied project files</a:t>
            </a:r>
          </a:p>
        </p:txBody>
      </p:sp>
    </p:spTree>
    <p:extLst>
      <p:ext uri="{BB962C8B-B14F-4D97-AF65-F5344CB8AC3E}">
        <p14:creationId xmlns:p14="http://schemas.microsoft.com/office/powerpoint/2010/main" val="1300222966"/>
      </p:ext>
    </p:extLst>
  </p:cSld>
</p:sld>
</file>

<file path=ppt/slides/slide2.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792A03F-78D4-4621-A9D3-6C147B1651D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CB9F3F82-B87B-4DA4-A2A6-BB12C934C497}"/>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EXECUTIVE SUMMARY</a:t>
            </a:r>
          </a:p>
        </p:txBody>
      </p:sp>
      <p:sp>
        <p:nvSpPr>
          <p:cNvPr id="3" name="slide-title">
            <a:extLst xmlns:a="http://schemas.openxmlformats.org/drawingml/2006/main">
              <a:ext uri="{FF2B5EF4-FFF2-40B4-BE49-F238E27FC236}">
                <a16:creationId xmlns:a16="http://schemas.microsoft.com/office/drawing/2014/main" id="{B57355DF-127D-41DD-88FE-8E1B178E9B4F}"/>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DAISY turns DBA questions into governed evidence</a:t>
            </a:r>
          </a:p>
        </p:txBody>
      </p:sp>
      <p:sp>
        <p:nvSpPr>
          <p:cNvPr id="4" name="">
            <a:extLst xmlns:a="http://schemas.openxmlformats.org/drawingml/2006/main">
              <a:ext uri="{FF2B5EF4-FFF2-40B4-BE49-F238E27FC236}">
                <a16:creationId xmlns:a16="http://schemas.microsoft.com/office/drawing/2014/main" id="{A6979322-8F55-44F0-ACF3-F2DAFC81E95E}"/>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3F48BC57-6D5E-4F69-9B46-BA69D83C5028}"/>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3477032F-DDA8-4520-9198-121E1EB58019}"/>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02</a:t>
            </a:r>
          </a:p>
        </p:txBody>
      </p:sp>
      <p:sp>
        <p:nvSpPr>
          <p:cNvPr id="7" name="">
            <a:extLst xmlns:a="http://schemas.openxmlformats.org/drawingml/2006/main">
              <a:ext uri="{FF2B5EF4-FFF2-40B4-BE49-F238E27FC236}">
                <a16:creationId xmlns:a16="http://schemas.microsoft.com/office/drawing/2014/main" id="{EA0F3024-8CD8-4D97-BAB7-7E0E0C404AAB}"/>
              </a:ext>
            </a:extLst>
          </p:cNvPr>
          <p:cNvSpPr>
            <a:spLocks xmlns:a="http://schemas.openxmlformats.org/drawingml/2006/main" noGrp="1"/>
          </p:cNvSpPr>
          <p:nvPr/>
        </p:nvSpPr>
        <p:spPr>
          <a:xfrm xmlns:a="http://schemas.openxmlformats.org/drawingml/2006/main">
            <a:off x="685800" y="1466850"/>
            <a:ext cx="10820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0">
                <a:solidFill>
                  <a:srgbClr val="D9E7F4"/>
                </a:solidFill>
              </a:defRPr>
            </a:pPr>
            <a:r>
              <a:rPr sz="1650" b="0">
                <a:solidFill>
                  <a:srgbClr val="D9E7F4"/>
                </a:solidFill>
              </a:rPr>
              <a:t>The solution combines an LLM front-end with a deterministic Python execution gate, approved Db2 catalog/RTS tools, multi-step investigations, and auditable outputs.</a:t>
            </a:r>
          </a:p>
        </p:txBody>
      </p:sp>
      <p:sp>
        <p:nvSpPr>
          <p:cNvPr id="8" name="">
            <a:extLst xmlns:a="http://schemas.openxmlformats.org/drawingml/2006/main">
              <a:ext uri="{FF2B5EF4-FFF2-40B4-BE49-F238E27FC236}">
                <a16:creationId xmlns:a16="http://schemas.microsoft.com/office/drawing/2014/main" id="{E3DD1F17-3800-4165-9C0C-2197AA6142A0}"/>
              </a:ext>
            </a:extLst>
          </p:cNvPr>
          <p:cNvSpPr>
            <a:spLocks xmlns:a="http://schemas.openxmlformats.org/drawingml/2006/main" noGrp="1"/>
          </p:cNvSpPr>
          <p:nvPr/>
        </p:nvSpPr>
        <p:spPr>
          <a:xfrm xmlns:a="http://schemas.openxmlformats.org/drawingml/2006/main">
            <a:off x="895350" y="24574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40D9FF"/>
                </a:solidFill>
              </a:defRPr>
            </a:pPr>
            <a:r>
              <a:rPr sz="2550" b="1">
                <a:solidFill>
                  <a:srgbClr val="40D9FF"/>
                </a:solidFill>
              </a:rPr>
              <a:t>67</a:t>
            </a:r>
          </a:p>
        </p:txBody>
      </p:sp>
      <p:sp>
        <p:nvSpPr>
          <p:cNvPr id="9" name="">
            <a:extLst xmlns:a="http://schemas.openxmlformats.org/drawingml/2006/main">
              <a:ext uri="{FF2B5EF4-FFF2-40B4-BE49-F238E27FC236}">
                <a16:creationId xmlns:a16="http://schemas.microsoft.com/office/drawing/2014/main" id="{1276BC94-5A03-4294-B725-0B20EDD1DB9D}"/>
              </a:ext>
            </a:extLst>
          </p:cNvPr>
          <p:cNvSpPr>
            <a:spLocks xmlns:a="http://schemas.openxmlformats.org/drawingml/2006/main" noGrp="1"/>
          </p:cNvSpPr>
          <p:nvPr/>
        </p:nvSpPr>
        <p:spPr>
          <a:xfrm xmlns:a="http://schemas.openxmlformats.org/drawingml/2006/main">
            <a:off x="895350" y="28956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approved callable tools</a:t>
            </a:r>
          </a:p>
          <a:p xmlns:a="http://schemas.openxmlformats.org/drawingml/2006/main">
            <a:pPr algn="ctr">
              <a:defRPr sz="1125" b="0">
                <a:solidFill>
                  <a:srgbClr val="91A7BA"/>
                </a:solidFill>
              </a:defRPr>
            </a:pPr>
            <a:r>
              <a:rPr sz="1125" b="0">
                <a:solidFill>
                  <a:srgbClr val="91A7BA"/>
                </a:solidFill>
              </a:rPr>
              <a:t>verified in supplied source</a:t>
            </a:r>
          </a:p>
        </p:txBody>
      </p:sp>
      <p:sp>
        <p:nvSpPr>
          <p:cNvPr id="10" name="">
            <a:extLst xmlns:a="http://schemas.openxmlformats.org/drawingml/2006/main">
              <a:ext uri="{FF2B5EF4-FFF2-40B4-BE49-F238E27FC236}">
                <a16:creationId xmlns:a16="http://schemas.microsoft.com/office/drawing/2014/main" id="{8EEDCAD6-9D9D-47A8-9778-4199A111BEA4}"/>
              </a:ext>
            </a:extLst>
          </p:cNvPr>
          <p:cNvSpPr>
            <a:spLocks xmlns:a="http://schemas.openxmlformats.org/drawingml/2006/main" noGrp="1"/>
          </p:cNvSpPr>
          <p:nvPr/>
        </p:nvSpPr>
        <p:spPr>
          <a:xfrm xmlns:a="http://schemas.openxmlformats.org/drawingml/2006/main">
            <a:off x="3314700" y="24574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3B82F6"/>
                </a:solidFill>
              </a:defRPr>
            </a:pPr>
            <a:r>
              <a:rPr sz="2550" b="1">
                <a:solidFill>
                  <a:srgbClr val="3B82F6"/>
                </a:solidFill>
              </a:rPr>
              <a:t>16</a:t>
            </a:r>
          </a:p>
        </p:txBody>
      </p:sp>
      <p:sp>
        <p:nvSpPr>
          <p:cNvPr id="11" name="">
            <a:extLst xmlns:a="http://schemas.openxmlformats.org/drawingml/2006/main">
              <a:ext uri="{FF2B5EF4-FFF2-40B4-BE49-F238E27FC236}">
                <a16:creationId xmlns:a16="http://schemas.microsoft.com/office/drawing/2014/main" id="{E47A6607-2C5C-47A7-AAE5-A6842298B535}"/>
              </a:ext>
            </a:extLst>
          </p:cNvPr>
          <p:cNvSpPr>
            <a:spLocks xmlns:a="http://schemas.openxmlformats.org/drawingml/2006/main" noGrp="1"/>
          </p:cNvSpPr>
          <p:nvPr/>
        </p:nvSpPr>
        <p:spPr>
          <a:xfrm xmlns:a="http://schemas.openxmlformats.org/drawingml/2006/main">
            <a:off x="3314700" y="28956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multi-step workflow methods</a:t>
            </a:r>
          </a:p>
          <a:p xmlns:a="http://schemas.openxmlformats.org/drawingml/2006/main">
            <a:pPr algn="ctr">
              <a:defRPr sz="1125" b="0">
                <a:solidFill>
                  <a:srgbClr val="91A7BA"/>
                </a:solidFill>
              </a:defRPr>
            </a:pPr>
            <a:r>
              <a:rPr sz="1125" b="0">
                <a:solidFill>
                  <a:srgbClr val="91A7BA"/>
                </a:solidFill>
              </a:rPr>
              <a:t>verified in supplied source</a:t>
            </a:r>
          </a:p>
        </p:txBody>
      </p:sp>
      <p:sp>
        <p:nvSpPr>
          <p:cNvPr id="12" name="">
            <a:extLst xmlns:a="http://schemas.openxmlformats.org/drawingml/2006/main">
              <a:ext uri="{FF2B5EF4-FFF2-40B4-BE49-F238E27FC236}">
                <a16:creationId xmlns:a16="http://schemas.microsoft.com/office/drawing/2014/main" id="{3312B45E-697B-4AA7-9838-D157B7DB6739}"/>
              </a:ext>
            </a:extLst>
          </p:cNvPr>
          <p:cNvSpPr>
            <a:spLocks xmlns:a="http://schemas.openxmlformats.org/drawingml/2006/main" noGrp="1"/>
          </p:cNvSpPr>
          <p:nvPr/>
        </p:nvSpPr>
        <p:spPr>
          <a:xfrm xmlns:a="http://schemas.openxmlformats.org/drawingml/2006/main">
            <a:off x="5734050" y="24574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35D07F"/>
                </a:solidFill>
              </a:defRPr>
            </a:pPr>
            <a:r>
              <a:rPr sz="2550" b="1">
                <a:solidFill>
                  <a:srgbClr val="35D07F"/>
                </a:solidFill>
              </a:rPr>
              <a:t>15</a:t>
            </a:r>
          </a:p>
        </p:txBody>
      </p:sp>
      <p:sp>
        <p:nvSpPr>
          <p:cNvPr id="13" name="">
            <a:extLst xmlns:a="http://schemas.openxmlformats.org/drawingml/2006/main">
              <a:ext uri="{FF2B5EF4-FFF2-40B4-BE49-F238E27FC236}">
                <a16:creationId xmlns:a16="http://schemas.microsoft.com/office/drawing/2014/main" id="{648342D0-1127-4BC8-8977-B9ABA8FC9D06}"/>
              </a:ext>
            </a:extLst>
          </p:cNvPr>
          <p:cNvSpPr>
            <a:spLocks xmlns:a="http://schemas.openxmlformats.org/drawingml/2006/main" noGrp="1"/>
          </p:cNvSpPr>
          <p:nvPr/>
        </p:nvSpPr>
        <p:spPr>
          <a:xfrm xmlns:a="http://schemas.openxmlformats.org/drawingml/2006/main">
            <a:off x="5734050" y="28956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modules in documented</a:t>
            </a:r>
          </a:p>
          <a:p xmlns:a="http://schemas.openxmlformats.org/drawingml/2006/main">
            <a:pPr algn="ctr">
              <a:defRPr sz="1125" b="0">
                <a:solidFill>
                  <a:srgbClr val="91A7BA"/>
                </a:solidFill>
              </a:defRPr>
            </a:pPr>
            <a:r>
              <a:rPr sz="1125" b="0">
                <a:solidFill>
                  <a:srgbClr val="91A7BA"/>
                </a:solidFill>
              </a:rPr>
              <a:t>current architecture</a:t>
            </a:r>
          </a:p>
        </p:txBody>
      </p:sp>
      <p:sp>
        <p:nvSpPr>
          <p:cNvPr id="14" name="">
            <a:extLst xmlns:a="http://schemas.openxmlformats.org/drawingml/2006/main">
              <a:ext uri="{FF2B5EF4-FFF2-40B4-BE49-F238E27FC236}">
                <a16:creationId xmlns:a16="http://schemas.microsoft.com/office/drawing/2014/main" id="{601C42D2-0199-4B25-ADBF-14005CE539CA}"/>
              </a:ext>
            </a:extLst>
          </p:cNvPr>
          <p:cNvSpPr>
            <a:spLocks xmlns:a="http://schemas.openxmlformats.org/drawingml/2006/main" noGrp="1"/>
          </p:cNvSpPr>
          <p:nvPr/>
        </p:nvSpPr>
        <p:spPr>
          <a:xfrm xmlns:a="http://schemas.openxmlformats.org/drawingml/2006/main">
            <a:off x="8153400" y="24574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F4B942"/>
                </a:solidFill>
              </a:defRPr>
            </a:pPr>
            <a:r>
              <a:rPr sz="2550" b="1">
                <a:solidFill>
                  <a:srgbClr val="F4B942"/>
                </a:solidFill>
              </a:rPr>
              <a:t>0</a:t>
            </a:r>
          </a:p>
        </p:txBody>
      </p:sp>
      <p:sp>
        <p:nvSpPr>
          <p:cNvPr id="15" name="">
            <a:extLst xmlns:a="http://schemas.openxmlformats.org/drawingml/2006/main">
              <a:ext uri="{FF2B5EF4-FFF2-40B4-BE49-F238E27FC236}">
                <a16:creationId xmlns:a16="http://schemas.microsoft.com/office/drawing/2014/main" id="{066E3D31-CBBE-48A0-B362-49A2DDFAAF9C}"/>
              </a:ext>
            </a:extLst>
          </p:cNvPr>
          <p:cNvSpPr>
            <a:spLocks xmlns:a="http://schemas.openxmlformats.org/drawingml/2006/main" noGrp="1"/>
          </p:cNvSpPr>
          <p:nvPr/>
        </p:nvSpPr>
        <p:spPr>
          <a:xfrm xmlns:a="http://schemas.openxmlformats.org/drawingml/2006/main">
            <a:off x="8153400" y="28956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syntax failures in documented</a:t>
            </a:r>
          </a:p>
          <a:p xmlns:a="http://schemas.openxmlformats.org/drawingml/2006/main">
            <a:pPr algn="ctr">
              <a:defRPr sz="1125" b="0">
                <a:solidFill>
                  <a:srgbClr val="91A7BA"/>
                </a:solidFill>
              </a:defRPr>
            </a:pPr>
            <a:r>
              <a:rPr sz="1125" b="0">
                <a:solidFill>
                  <a:srgbClr val="91A7BA"/>
                </a:solidFill>
              </a:rPr>
              <a:t>15-file validation</a:t>
            </a:r>
          </a:p>
        </p:txBody>
      </p:sp>
      <p:sp>
        <p:nvSpPr>
          <p:cNvPr id="16" name="">
            <a:extLst xmlns:a="http://schemas.openxmlformats.org/drawingml/2006/main">
              <a:ext uri="{FF2B5EF4-FFF2-40B4-BE49-F238E27FC236}">
                <a16:creationId xmlns:a16="http://schemas.microsoft.com/office/drawing/2014/main" id="{65491C36-7DE0-4298-A12C-48C1A67C9E3C}"/>
              </a:ext>
            </a:extLst>
          </p:cNvPr>
          <p:cNvSpPr>
            <a:spLocks xmlns:a="http://schemas.openxmlformats.org/drawingml/2006/main" noGrp="1"/>
          </p:cNvSpPr>
          <p:nvPr/>
        </p:nvSpPr>
        <p:spPr>
          <a:xfrm xmlns:a="http://schemas.openxmlformats.org/drawingml/2006/main">
            <a:off x="685800" y="371475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17" name="">
            <a:extLst xmlns:a="http://schemas.openxmlformats.org/drawingml/2006/main">
              <a:ext uri="{FF2B5EF4-FFF2-40B4-BE49-F238E27FC236}">
                <a16:creationId xmlns:a16="http://schemas.microsoft.com/office/drawing/2014/main" id="{A1F30F56-B838-45CF-9204-C20A3CCA6F3B}"/>
              </a:ext>
            </a:extLst>
          </p:cNvPr>
          <p:cNvSpPr>
            <a:spLocks xmlns:a="http://schemas.openxmlformats.org/drawingml/2006/main" noGrp="1"/>
          </p:cNvSpPr>
          <p:nvPr/>
        </p:nvSpPr>
        <p:spPr>
          <a:xfrm xmlns:a="http://schemas.openxmlformats.org/drawingml/2006/main">
            <a:off x="876300" y="41624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EF7E07D7-E68A-4997-B0A8-8FCBA885C62E}"/>
              </a:ext>
            </a:extLst>
          </p:cNvPr>
          <p:cNvSpPr>
            <a:spLocks xmlns:a="http://schemas.openxmlformats.org/drawingml/2006/main" noGrp="1"/>
          </p:cNvSpPr>
          <p:nvPr/>
        </p:nvSpPr>
        <p:spPr>
          <a:xfrm xmlns:a="http://schemas.openxmlformats.org/drawingml/2006/main">
            <a:off x="1066800" y="407670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D9E7F4"/>
                </a:solidFill>
              </a:defRPr>
            </a:pPr>
            <a:r>
              <a:rPr sz="1425" b="0">
                <a:solidFill>
                  <a:srgbClr val="D9E7F4"/>
                </a:solidFill>
              </a:rPr>
              <a:t>Reduces repeated manual SYSIBM catalog SQL and interpretation effort.</a:t>
            </a:r>
          </a:p>
        </p:txBody>
      </p:sp>
      <p:sp>
        <p:nvSpPr>
          <p:cNvPr id="19" name="">
            <a:extLst xmlns:a="http://schemas.openxmlformats.org/drawingml/2006/main">
              <a:ext uri="{FF2B5EF4-FFF2-40B4-BE49-F238E27FC236}">
                <a16:creationId xmlns:a16="http://schemas.microsoft.com/office/drawing/2014/main" id="{C369036C-6417-4B21-92CD-AC1A8510A033}"/>
              </a:ext>
            </a:extLst>
          </p:cNvPr>
          <p:cNvSpPr>
            <a:spLocks xmlns:a="http://schemas.openxmlformats.org/drawingml/2006/main" noGrp="1"/>
          </p:cNvSpPr>
          <p:nvPr/>
        </p:nvSpPr>
        <p:spPr>
          <a:xfrm xmlns:a="http://schemas.openxmlformats.org/drawingml/2006/main">
            <a:off x="876300" y="47148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4648E027-63C6-492B-AC26-97C1C0EF0272}"/>
              </a:ext>
            </a:extLst>
          </p:cNvPr>
          <p:cNvSpPr>
            <a:spLocks xmlns:a="http://schemas.openxmlformats.org/drawingml/2006/main" noGrp="1"/>
          </p:cNvSpPr>
          <p:nvPr/>
        </p:nvSpPr>
        <p:spPr>
          <a:xfrm xmlns:a="http://schemas.openxmlformats.org/drawingml/2006/main">
            <a:off x="1066800" y="462915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D9E7F4"/>
                </a:solidFill>
              </a:defRPr>
            </a:pPr>
            <a:r>
              <a:rPr sz="1425" b="0">
                <a:solidFill>
                  <a:srgbClr val="D9E7F4"/>
                </a:solidFill>
              </a:rPr>
              <a:t>Standardizes impact, storage, health, readiness, status and dependency investigations.</a:t>
            </a:r>
          </a:p>
        </p:txBody>
      </p:sp>
      <p:sp>
        <p:nvSpPr>
          <p:cNvPr id="21" name="">
            <a:extLst xmlns:a="http://schemas.openxmlformats.org/drawingml/2006/main">
              <a:ext uri="{FF2B5EF4-FFF2-40B4-BE49-F238E27FC236}">
                <a16:creationId xmlns:a16="http://schemas.microsoft.com/office/drawing/2014/main" id="{83AEA6BD-CA7C-48C1-AB71-4AFC25828955}"/>
              </a:ext>
            </a:extLst>
          </p:cNvPr>
          <p:cNvSpPr>
            <a:spLocks xmlns:a="http://schemas.openxmlformats.org/drawingml/2006/main" noGrp="1"/>
          </p:cNvSpPr>
          <p:nvPr/>
        </p:nvSpPr>
        <p:spPr>
          <a:xfrm xmlns:a="http://schemas.openxmlformats.org/drawingml/2006/main">
            <a:off x="876300" y="52673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9D5A1904-37C0-4B69-B2E1-E7FDCF8015BB}"/>
              </a:ext>
            </a:extLst>
          </p:cNvPr>
          <p:cNvSpPr>
            <a:spLocks xmlns:a="http://schemas.openxmlformats.org/drawingml/2006/main" noGrp="1"/>
          </p:cNvSpPr>
          <p:nvPr/>
        </p:nvSpPr>
        <p:spPr>
          <a:xfrm xmlns:a="http://schemas.openxmlformats.org/drawingml/2006/main">
            <a:off x="1066800" y="5181600"/>
            <a:ext cx="10096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D9E7F4"/>
                </a:solidFill>
              </a:defRPr>
            </a:pPr>
            <a:r>
              <a:rPr sz="1425" b="0">
                <a:solidFill>
                  <a:srgbClr val="D9E7F4"/>
                </a:solidFill>
              </a:rPr>
              <a:t>Produces terminal evidence, traceable findings and Excel evidence packs for review and handover.</a:t>
            </a:r>
          </a:p>
        </p:txBody>
      </p:sp>
    </p:spTree>
    <p:extLst>
      <p:ext uri="{BB962C8B-B14F-4D97-AF65-F5344CB8AC3E}">
        <p14:creationId xmlns:p14="http://schemas.microsoft.com/office/powerpoint/2010/main" val="1501917236"/>
      </p:ext>
    </p:extLst>
  </p:cSld>
</p:sld>
</file>

<file path=ppt/slides/slide3.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99583B-9F08-422E-A519-7A32BB79F95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04F572C9-7911-436A-A519-A38CD5C229E5}"/>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PROBLEM</a:t>
            </a:r>
          </a:p>
        </p:txBody>
      </p:sp>
      <p:sp>
        <p:nvSpPr>
          <p:cNvPr id="3" name="slide-title">
            <a:extLst xmlns:a="http://schemas.openxmlformats.org/drawingml/2006/main">
              <a:ext uri="{FF2B5EF4-FFF2-40B4-BE49-F238E27FC236}">
                <a16:creationId xmlns:a16="http://schemas.microsoft.com/office/drawing/2014/main" id="{8D22D69F-74FF-4353-9B20-F8FFC90B0BC1}"/>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The manual process repeats the same catalog reasoning</a:t>
            </a:r>
          </a:p>
        </p:txBody>
      </p:sp>
      <p:sp>
        <p:nvSpPr>
          <p:cNvPr id="4" name="">
            <a:extLst xmlns:a="http://schemas.openxmlformats.org/drawingml/2006/main">
              <a:ext uri="{FF2B5EF4-FFF2-40B4-BE49-F238E27FC236}">
                <a16:creationId xmlns:a16="http://schemas.microsoft.com/office/drawing/2014/main" id="{EF223E50-AA45-407E-AAF9-73C3AAB246A0}"/>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E868D699-C5DF-479A-8794-36F60B25D2EA}"/>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0E546312-0474-4666-B910-8BE7C8FAB64B}"/>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03</a:t>
            </a:r>
          </a:p>
        </p:txBody>
      </p:sp>
      <p:sp>
        <p:nvSpPr>
          <p:cNvPr id="7" name="">
            <a:extLst xmlns:a="http://schemas.openxmlformats.org/drawingml/2006/main">
              <a:ext uri="{FF2B5EF4-FFF2-40B4-BE49-F238E27FC236}">
                <a16:creationId xmlns:a16="http://schemas.microsoft.com/office/drawing/2014/main" id="{1FEE0F37-9F58-43DA-8C51-7D83106DBDA3}"/>
              </a:ext>
            </a:extLst>
          </p:cNvPr>
          <p:cNvSpPr>
            <a:spLocks xmlns:a="http://schemas.openxmlformats.org/drawingml/2006/main" noGrp="1"/>
          </p:cNvSpPr>
          <p:nvPr/>
        </p:nvSpPr>
        <p:spPr>
          <a:xfrm xmlns:a="http://schemas.openxmlformats.org/drawingml/2006/main">
            <a:off x="685800" y="1809750"/>
            <a:ext cx="1885950" cy="1962150"/>
          </a:xfrm>
          <a:prstGeom xmlns:a="http://schemas.openxmlformats.org/drawingml/2006/main" prst="roundRect">
            <a:avLst>
              <a:gd name="adj" fmla="val 6061"/>
            </a:avLst>
          </a:prstGeom>
          <a:solidFill xmlns:a="http://schemas.openxmlformats.org/drawingml/2006/main">
            <a:srgbClr val="143A55"/>
          </a:solidFill>
          <a:ln xmlns:a="http://schemas.openxmlformats.org/drawingml/2006/main" w="9525">
            <a:solidFill>
              <a:srgbClr val="1D405A"/>
            </a:solidFill>
            <a:prstDash val="solid"/>
          </a:ln>
        </p:spPr>
      </p:sp>
      <p:sp>
        <p:nvSpPr>
          <p:cNvPr id="8" name="">
            <a:extLst xmlns:a="http://schemas.openxmlformats.org/drawingml/2006/main">
              <a:ext uri="{FF2B5EF4-FFF2-40B4-BE49-F238E27FC236}">
                <a16:creationId xmlns:a16="http://schemas.microsoft.com/office/drawing/2014/main" id="{09129323-30B8-41C5-8D87-F5895582B603}"/>
              </a:ext>
            </a:extLst>
          </p:cNvPr>
          <p:cNvSpPr>
            <a:spLocks xmlns:a="http://schemas.openxmlformats.org/drawingml/2006/main" noGrp="1"/>
          </p:cNvSpPr>
          <p:nvPr/>
        </p:nvSpPr>
        <p:spPr>
          <a:xfrm xmlns:a="http://schemas.openxmlformats.org/drawingml/2006/main">
            <a:off x="838200" y="1981200"/>
            <a:ext cx="361950" cy="3619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1</a:t>
            </a:r>
          </a:p>
        </p:txBody>
      </p:sp>
      <p:sp>
        <p:nvSpPr>
          <p:cNvPr id="9" name="">
            <a:extLst xmlns:a="http://schemas.openxmlformats.org/drawingml/2006/main">
              <a:ext uri="{FF2B5EF4-FFF2-40B4-BE49-F238E27FC236}">
                <a16:creationId xmlns:a16="http://schemas.microsoft.com/office/drawing/2014/main" id="{01E93EA6-71AA-4EB9-84F1-8B5E1E247D5B}"/>
              </a:ext>
            </a:extLst>
          </p:cNvPr>
          <p:cNvSpPr>
            <a:spLocks xmlns:a="http://schemas.openxmlformats.org/drawingml/2006/main" noGrp="1"/>
          </p:cNvSpPr>
          <p:nvPr/>
        </p:nvSpPr>
        <p:spPr>
          <a:xfrm xmlns:a="http://schemas.openxmlformats.org/drawingml/2006/main">
            <a:off x="857250" y="24574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5FAFF"/>
                </a:solidFill>
              </a:defRPr>
            </a:pPr>
            <a:r>
              <a:rPr sz="1425" b="1">
                <a:solidFill>
                  <a:srgbClr val="F5FAFF"/>
                </a:solidFill>
              </a:rPr>
              <a:t>Interpret the question</a:t>
            </a:r>
          </a:p>
        </p:txBody>
      </p:sp>
      <p:sp>
        <p:nvSpPr>
          <p:cNvPr id="10" name="">
            <a:extLst xmlns:a="http://schemas.openxmlformats.org/drawingml/2006/main">
              <a:ext uri="{FF2B5EF4-FFF2-40B4-BE49-F238E27FC236}">
                <a16:creationId xmlns:a16="http://schemas.microsoft.com/office/drawing/2014/main" id="{FDBE93DB-7A43-427A-845F-D0F4A68BA1F1}"/>
              </a:ext>
            </a:extLst>
          </p:cNvPr>
          <p:cNvSpPr>
            <a:spLocks xmlns:a="http://schemas.openxmlformats.org/drawingml/2006/main" noGrp="1"/>
          </p:cNvSpPr>
          <p:nvPr/>
        </p:nvSpPr>
        <p:spPr>
          <a:xfrm xmlns:a="http://schemas.openxmlformats.org/drawingml/2006/main">
            <a:off x="857250" y="3009900"/>
            <a:ext cx="1543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Translate operational language into catalog concepts.</a:t>
            </a:r>
          </a:p>
        </p:txBody>
      </p:sp>
      <p:sp>
        <p:nvSpPr>
          <p:cNvPr id="11" name="">
            <a:extLst xmlns:a="http://schemas.openxmlformats.org/drawingml/2006/main">
              <a:ext uri="{FF2B5EF4-FFF2-40B4-BE49-F238E27FC236}">
                <a16:creationId xmlns:a16="http://schemas.microsoft.com/office/drawing/2014/main" id="{D4DEF02C-CE9C-47E8-8094-E56A5001F455}"/>
              </a:ext>
            </a:extLst>
          </p:cNvPr>
          <p:cNvSpPr>
            <a:spLocks xmlns:a="http://schemas.openxmlformats.org/drawingml/2006/main" noGrp="1"/>
          </p:cNvSpPr>
          <p:nvPr/>
        </p:nvSpPr>
        <p:spPr>
          <a:xfrm xmlns:a="http://schemas.openxmlformats.org/drawingml/2006/main">
            <a:off x="2838450" y="1809750"/>
            <a:ext cx="1885950" cy="1962150"/>
          </a:xfrm>
          <a:prstGeom xmlns:a="http://schemas.openxmlformats.org/drawingml/2006/main" prst="roundRect">
            <a:avLst>
              <a:gd name="adj" fmla="val 6061"/>
            </a:avLst>
          </a:prstGeom>
          <a:solidFill xmlns:a="http://schemas.openxmlformats.org/drawingml/2006/main">
            <a:srgbClr val="102A43"/>
          </a:solidFill>
          <a:ln xmlns:a="http://schemas.openxmlformats.org/drawingml/2006/main" w="9525">
            <a:solidFill>
              <a:srgbClr val="1D405A"/>
            </a:solidFill>
            <a:prstDash val="solid"/>
          </a:ln>
        </p:spPr>
      </p:sp>
      <p:sp>
        <p:nvSpPr>
          <p:cNvPr id="12" name="">
            <a:extLst xmlns:a="http://schemas.openxmlformats.org/drawingml/2006/main">
              <a:ext uri="{FF2B5EF4-FFF2-40B4-BE49-F238E27FC236}">
                <a16:creationId xmlns:a16="http://schemas.microsoft.com/office/drawing/2014/main" id="{05FC16F5-8D22-474D-8CC6-5CA477AF752B}"/>
              </a:ext>
            </a:extLst>
          </p:cNvPr>
          <p:cNvSpPr>
            <a:spLocks xmlns:a="http://schemas.openxmlformats.org/drawingml/2006/main" noGrp="1"/>
          </p:cNvSpPr>
          <p:nvPr/>
        </p:nvSpPr>
        <p:spPr>
          <a:xfrm xmlns:a="http://schemas.openxmlformats.org/drawingml/2006/main">
            <a:off x="2990850" y="1981200"/>
            <a:ext cx="361950" cy="3619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2</a:t>
            </a:r>
          </a:p>
        </p:txBody>
      </p:sp>
      <p:sp>
        <p:nvSpPr>
          <p:cNvPr id="13" name="">
            <a:extLst xmlns:a="http://schemas.openxmlformats.org/drawingml/2006/main">
              <a:ext uri="{FF2B5EF4-FFF2-40B4-BE49-F238E27FC236}">
                <a16:creationId xmlns:a16="http://schemas.microsoft.com/office/drawing/2014/main" id="{CAE5C073-FD16-4635-83C5-29FB3E03F374}"/>
              </a:ext>
            </a:extLst>
          </p:cNvPr>
          <p:cNvSpPr>
            <a:spLocks xmlns:a="http://schemas.openxmlformats.org/drawingml/2006/main" noGrp="1"/>
          </p:cNvSpPr>
          <p:nvPr/>
        </p:nvSpPr>
        <p:spPr>
          <a:xfrm xmlns:a="http://schemas.openxmlformats.org/drawingml/2006/main">
            <a:off x="3009900" y="24574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5FAFF"/>
                </a:solidFill>
              </a:defRPr>
            </a:pPr>
            <a:r>
              <a:rPr sz="1425" b="1">
                <a:solidFill>
                  <a:srgbClr val="F5FAFF"/>
                </a:solidFill>
              </a:rPr>
              <a:t>Recall catalog sources</a:t>
            </a:r>
          </a:p>
        </p:txBody>
      </p:sp>
      <p:sp>
        <p:nvSpPr>
          <p:cNvPr id="14" name="">
            <a:extLst xmlns:a="http://schemas.openxmlformats.org/drawingml/2006/main">
              <a:ext uri="{FF2B5EF4-FFF2-40B4-BE49-F238E27FC236}">
                <a16:creationId xmlns:a16="http://schemas.microsoft.com/office/drawing/2014/main" id="{B93D854D-74E4-436F-B513-28C110F35F4C}"/>
              </a:ext>
            </a:extLst>
          </p:cNvPr>
          <p:cNvSpPr>
            <a:spLocks xmlns:a="http://schemas.openxmlformats.org/drawingml/2006/main" noGrp="1"/>
          </p:cNvSpPr>
          <p:nvPr/>
        </p:nvSpPr>
        <p:spPr>
          <a:xfrm xmlns:a="http://schemas.openxmlformats.org/drawingml/2006/main">
            <a:off x="3009900" y="3009900"/>
            <a:ext cx="1543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Choose SYSIBM tables, columns, joins and status meanings.</a:t>
            </a:r>
          </a:p>
        </p:txBody>
      </p:sp>
      <p:sp>
        <p:nvSpPr>
          <p:cNvPr id="15" name="">
            <a:extLst xmlns:a="http://schemas.openxmlformats.org/drawingml/2006/main">
              <a:ext uri="{FF2B5EF4-FFF2-40B4-BE49-F238E27FC236}">
                <a16:creationId xmlns:a16="http://schemas.microsoft.com/office/drawing/2014/main" id="{0403755A-75E6-4CC4-B4A4-6905CFD3408B}"/>
              </a:ext>
            </a:extLst>
          </p:cNvPr>
          <p:cNvSpPr>
            <a:spLocks xmlns:a="http://schemas.openxmlformats.org/drawingml/2006/main" noGrp="1"/>
          </p:cNvSpPr>
          <p:nvPr/>
        </p:nvSpPr>
        <p:spPr>
          <a:xfrm xmlns:a="http://schemas.openxmlformats.org/drawingml/2006/main">
            <a:off x="4991100" y="1809750"/>
            <a:ext cx="1885950" cy="1962150"/>
          </a:xfrm>
          <a:prstGeom xmlns:a="http://schemas.openxmlformats.org/drawingml/2006/main" prst="roundRect">
            <a:avLst>
              <a:gd name="adj" fmla="val 6061"/>
            </a:avLst>
          </a:prstGeom>
          <a:solidFill xmlns:a="http://schemas.openxmlformats.org/drawingml/2006/main">
            <a:srgbClr val="102A43"/>
          </a:solidFill>
          <a:ln xmlns:a="http://schemas.openxmlformats.org/drawingml/2006/main" w="9525">
            <a:solidFill>
              <a:srgbClr val="1D405A"/>
            </a:solidFill>
            <a:prstDash val="solid"/>
          </a:ln>
        </p:spPr>
      </p:sp>
      <p:sp>
        <p:nvSpPr>
          <p:cNvPr id="16" name="">
            <a:extLst xmlns:a="http://schemas.openxmlformats.org/drawingml/2006/main">
              <a:ext uri="{FF2B5EF4-FFF2-40B4-BE49-F238E27FC236}">
                <a16:creationId xmlns:a16="http://schemas.microsoft.com/office/drawing/2014/main" id="{3A569991-7994-43CA-8388-0E3018A91ED9}"/>
              </a:ext>
            </a:extLst>
          </p:cNvPr>
          <p:cNvSpPr>
            <a:spLocks xmlns:a="http://schemas.openxmlformats.org/drawingml/2006/main" noGrp="1"/>
          </p:cNvSpPr>
          <p:nvPr/>
        </p:nvSpPr>
        <p:spPr>
          <a:xfrm xmlns:a="http://schemas.openxmlformats.org/drawingml/2006/main">
            <a:off x="5143500" y="1981200"/>
            <a:ext cx="361950" cy="3619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3</a:t>
            </a:r>
          </a:p>
        </p:txBody>
      </p:sp>
      <p:sp>
        <p:nvSpPr>
          <p:cNvPr id="17" name="">
            <a:extLst xmlns:a="http://schemas.openxmlformats.org/drawingml/2006/main">
              <a:ext uri="{FF2B5EF4-FFF2-40B4-BE49-F238E27FC236}">
                <a16:creationId xmlns:a16="http://schemas.microsoft.com/office/drawing/2014/main" id="{41EF2FB7-EC76-4993-8E6C-8C4D28040577}"/>
              </a:ext>
            </a:extLst>
          </p:cNvPr>
          <p:cNvSpPr>
            <a:spLocks xmlns:a="http://schemas.openxmlformats.org/drawingml/2006/main" noGrp="1"/>
          </p:cNvSpPr>
          <p:nvPr/>
        </p:nvSpPr>
        <p:spPr>
          <a:xfrm xmlns:a="http://schemas.openxmlformats.org/drawingml/2006/main">
            <a:off x="5162550" y="24574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5FAFF"/>
                </a:solidFill>
              </a:defRPr>
            </a:pPr>
            <a:r>
              <a:rPr sz="1425" b="1">
                <a:solidFill>
                  <a:srgbClr val="F5FAFF"/>
                </a:solidFill>
              </a:rPr>
              <a:t>Issue several queries</a:t>
            </a:r>
          </a:p>
        </p:txBody>
      </p:sp>
      <p:sp>
        <p:nvSpPr>
          <p:cNvPr id="18" name="">
            <a:extLst xmlns:a="http://schemas.openxmlformats.org/drawingml/2006/main">
              <a:ext uri="{FF2B5EF4-FFF2-40B4-BE49-F238E27FC236}">
                <a16:creationId xmlns:a16="http://schemas.microsoft.com/office/drawing/2014/main" id="{F90AE503-A786-4272-878B-2953CFD0E165}"/>
              </a:ext>
            </a:extLst>
          </p:cNvPr>
          <p:cNvSpPr>
            <a:spLocks xmlns:a="http://schemas.openxmlformats.org/drawingml/2006/main" noGrp="1"/>
          </p:cNvSpPr>
          <p:nvPr/>
        </p:nvSpPr>
        <p:spPr>
          <a:xfrm xmlns:a="http://schemas.openxmlformats.org/drawingml/2006/main">
            <a:off x="5162550" y="3009900"/>
            <a:ext cx="1543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Run discovery, dependency, storage, RTS or recovery checks.</a:t>
            </a:r>
          </a:p>
        </p:txBody>
      </p:sp>
      <p:sp>
        <p:nvSpPr>
          <p:cNvPr id="19" name="">
            <a:extLst xmlns:a="http://schemas.openxmlformats.org/drawingml/2006/main">
              <a:ext uri="{FF2B5EF4-FFF2-40B4-BE49-F238E27FC236}">
                <a16:creationId xmlns:a16="http://schemas.microsoft.com/office/drawing/2014/main" id="{74DA9F1F-31CC-4297-B5CE-3550160AA2E6}"/>
              </a:ext>
            </a:extLst>
          </p:cNvPr>
          <p:cNvSpPr>
            <a:spLocks xmlns:a="http://schemas.openxmlformats.org/drawingml/2006/main" noGrp="1"/>
          </p:cNvSpPr>
          <p:nvPr/>
        </p:nvSpPr>
        <p:spPr>
          <a:xfrm xmlns:a="http://schemas.openxmlformats.org/drawingml/2006/main">
            <a:off x="7143750" y="1809750"/>
            <a:ext cx="1885950" cy="1962150"/>
          </a:xfrm>
          <a:prstGeom xmlns:a="http://schemas.openxmlformats.org/drawingml/2006/main" prst="roundRect">
            <a:avLst>
              <a:gd name="adj" fmla="val 6061"/>
            </a:avLst>
          </a:prstGeom>
          <a:solidFill xmlns:a="http://schemas.openxmlformats.org/drawingml/2006/main">
            <a:srgbClr val="102A43"/>
          </a:solidFill>
          <a:ln xmlns:a="http://schemas.openxmlformats.org/drawingml/2006/main" w="9525">
            <a:solidFill>
              <a:srgbClr val="1D405A"/>
            </a:solidFill>
            <a:prstDash val="solid"/>
          </a:ln>
        </p:spPr>
      </p:sp>
      <p:sp>
        <p:nvSpPr>
          <p:cNvPr id="20" name="">
            <a:extLst xmlns:a="http://schemas.openxmlformats.org/drawingml/2006/main">
              <a:ext uri="{FF2B5EF4-FFF2-40B4-BE49-F238E27FC236}">
                <a16:creationId xmlns:a16="http://schemas.microsoft.com/office/drawing/2014/main" id="{25FE29C1-178A-41CC-AC54-1F201495155C}"/>
              </a:ext>
            </a:extLst>
          </p:cNvPr>
          <p:cNvSpPr>
            <a:spLocks xmlns:a="http://schemas.openxmlformats.org/drawingml/2006/main" noGrp="1"/>
          </p:cNvSpPr>
          <p:nvPr/>
        </p:nvSpPr>
        <p:spPr>
          <a:xfrm xmlns:a="http://schemas.openxmlformats.org/drawingml/2006/main">
            <a:off x="7296150" y="1981200"/>
            <a:ext cx="361950" cy="3619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4</a:t>
            </a:r>
          </a:p>
        </p:txBody>
      </p:sp>
      <p:sp>
        <p:nvSpPr>
          <p:cNvPr id="21" name="">
            <a:extLst xmlns:a="http://schemas.openxmlformats.org/drawingml/2006/main">
              <a:ext uri="{FF2B5EF4-FFF2-40B4-BE49-F238E27FC236}">
                <a16:creationId xmlns:a16="http://schemas.microsoft.com/office/drawing/2014/main" id="{9A8EBC75-DFA4-404C-85AC-AAAA61AA096E}"/>
              </a:ext>
            </a:extLst>
          </p:cNvPr>
          <p:cNvSpPr>
            <a:spLocks xmlns:a="http://schemas.openxmlformats.org/drawingml/2006/main" noGrp="1"/>
          </p:cNvSpPr>
          <p:nvPr/>
        </p:nvSpPr>
        <p:spPr>
          <a:xfrm xmlns:a="http://schemas.openxmlformats.org/drawingml/2006/main">
            <a:off x="7315200" y="24574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5FAFF"/>
                </a:solidFill>
              </a:defRPr>
            </a:pPr>
            <a:r>
              <a:rPr sz="1425" b="1">
                <a:solidFill>
                  <a:srgbClr val="F5FAFF"/>
                </a:solidFill>
              </a:rPr>
              <a:t>Reconcile evidence</a:t>
            </a:r>
          </a:p>
        </p:txBody>
      </p:sp>
      <p:sp>
        <p:nvSpPr>
          <p:cNvPr id="22" name="">
            <a:extLst xmlns:a="http://schemas.openxmlformats.org/drawingml/2006/main">
              <a:ext uri="{FF2B5EF4-FFF2-40B4-BE49-F238E27FC236}">
                <a16:creationId xmlns:a16="http://schemas.microsoft.com/office/drawing/2014/main" id="{8E7250E8-5321-4986-88F1-0932A6E02BBB}"/>
              </a:ext>
            </a:extLst>
          </p:cNvPr>
          <p:cNvSpPr>
            <a:spLocks xmlns:a="http://schemas.openxmlformats.org/drawingml/2006/main" noGrp="1"/>
          </p:cNvSpPr>
          <p:nvPr/>
        </p:nvSpPr>
        <p:spPr>
          <a:xfrm xmlns:a="http://schemas.openxmlformats.org/drawingml/2006/main">
            <a:off x="7315200" y="3009900"/>
            <a:ext cx="1543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Interpret raw values and connect related objects.</a:t>
            </a:r>
          </a:p>
        </p:txBody>
      </p:sp>
      <p:sp>
        <p:nvSpPr>
          <p:cNvPr id="23" name="">
            <a:extLst xmlns:a="http://schemas.openxmlformats.org/drawingml/2006/main">
              <a:ext uri="{FF2B5EF4-FFF2-40B4-BE49-F238E27FC236}">
                <a16:creationId xmlns:a16="http://schemas.microsoft.com/office/drawing/2014/main" id="{AF9C3288-66D4-4E25-A367-59A1BF6F4B26}"/>
              </a:ext>
            </a:extLst>
          </p:cNvPr>
          <p:cNvSpPr>
            <a:spLocks xmlns:a="http://schemas.openxmlformats.org/drawingml/2006/main" noGrp="1"/>
          </p:cNvSpPr>
          <p:nvPr/>
        </p:nvSpPr>
        <p:spPr>
          <a:xfrm xmlns:a="http://schemas.openxmlformats.org/drawingml/2006/main">
            <a:off x="9296400" y="1809750"/>
            <a:ext cx="1885950" cy="1962150"/>
          </a:xfrm>
          <a:prstGeom xmlns:a="http://schemas.openxmlformats.org/drawingml/2006/main" prst="roundRect">
            <a:avLst>
              <a:gd name="adj" fmla="val 6061"/>
            </a:avLst>
          </a:prstGeom>
          <a:solidFill xmlns:a="http://schemas.openxmlformats.org/drawingml/2006/main">
            <a:srgbClr val="102A43"/>
          </a:solidFill>
          <a:ln xmlns:a="http://schemas.openxmlformats.org/drawingml/2006/main" w="9525">
            <a:solidFill>
              <a:srgbClr val="1D405A"/>
            </a:solidFill>
            <a:prstDash val="solid"/>
          </a:ln>
        </p:spPr>
      </p:sp>
      <p:sp>
        <p:nvSpPr>
          <p:cNvPr id="24" name="">
            <a:extLst xmlns:a="http://schemas.openxmlformats.org/drawingml/2006/main">
              <a:ext uri="{FF2B5EF4-FFF2-40B4-BE49-F238E27FC236}">
                <a16:creationId xmlns:a16="http://schemas.microsoft.com/office/drawing/2014/main" id="{3E54706D-9513-42C4-B7B7-B0436BC2DE22}"/>
              </a:ext>
            </a:extLst>
          </p:cNvPr>
          <p:cNvSpPr>
            <a:spLocks xmlns:a="http://schemas.openxmlformats.org/drawingml/2006/main" noGrp="1"/>
          </p:cNvSpPr>
          <p:nvPr/>
        </p:nvSpPr>
        <p:spPr>
          <a:xfrm xmlns:a="http://schemas.openxmlformats.org/drawingml/2006/main">
            <a:off x="9448800" y="1981200"/>
            <a:ext cx="361950" cy="36195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5</a:t>
            </a:r>
          </a:p>
        </p:txBody>
      </p:sp>
      <p:sp>
        <p:nvSpPr>
          <p:cNvPr id="25" name="">
            <a:extLst xmlns:a="http://schemas.openxmlformats.org/drawingml/2006/main">
              <a:ext uri="{FF2B5EF4-FFF2-40B4-BE49-F238E27FC236}">
                <a16:creationId xmlns:a16="http://schemas.microsoft.com/office/drawing/2014/main" id="{9CE1F8D2-DB88-4AEA-8389-7222B9C131F7}"/>
              </a:ext>
            </a:extLst>
          </p:cNvPr>
          <p:cNvSpPr>
            <a:spLocks xmlns:a="http://schemas.openxmlformats.org/drawingml/2006/main" noGrp="1"/>
          </p:cNvSpPr>
          <p:nvPr/>
        </p:nvSpPr>
        <p:spPr>
          <a:xfrm xmlns:a="http://schemas.openxmlformats.org/drawingml/2006/main">
            <a:off x="9467850" y="2457450"/>
            <a:ext cx="15430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F5FAFF"/>
                </a:solidFill>
              </a:defRPr>
            </a:pPr>
            <a:r>
              <a:rPr sz="1425" b="1">
                <a:solidFill>
                  <a:srgbClr val="F5FAFF"/>
                </a:solidFill>
              </a:rPr>
              <a:t>Package the result</a:t>
            </a:r>
          </a:p>
        </p:txBody>
      </p:sp>
      <p:sp>
        <p:nvSpPr>
          <p:cNvPr id="26" name="">
            <a:extLst xmlns:a="http://schemas.openxmlformats.org/drawingml/2006/main">
              <a:ext uri="{FF2B5EF4-FFF2-40B4-BE49-F238E27FC236}">
                <a16:creationId xmlns:a16="http://schemas.microsoft.com/office/drawing/2014/main" id="{691BE33E-3C63-4006-9EC5-7858798F374E}"/>
              </a:ext>
            </a:extLst>
          </p:cNvPr>
          <p:cNvSpPr>
            <a:spLocks xmlns:a="http://schemas.openxmlformats.org/drawingml/2006/main" noGrp="1"/>
          </p:cNvSpPr>
          <p:nvPr/>
        </p:nvSpPr>
        <p:spPr>
          <a:xfrm xmlns:a="http://schemas.openxmlformats.org/drawingml/2006/main">
            <a:off x="9467850" y="3009900"/>
            <a:ext cx="1543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Prepare a reviewable handover or evidence workbook.</a:t>
            </a:r>
          </a:p>
        </p:txBody>
      </p:sp>
      <p:cxnSp>
        <p:nvCxnSpPr>
          <p:cNvPr id="64" name=""/>
          <p:cNvCxnSpPr>
            <a:stCxn xmlns:a="http://schemas.openxmlformats.org/drawingml/2006/main" id="7" idx="3"/>
            <a:endCxn xmlns:a="http://schemas.openxmlformats.org/drawingml/2006/main" id="11" idx="1"/>
          </p:cNvCxnSpPr>
          <p:nvPr/>
        </p:nvCxnSpPr>
        <p:spPr>
          <a:xfrm xmlns:a="http://schemas.openxmlformats.org/drawingml/2006/main">
            <a:off x="2571750" y="2790825"/>
            <a:ext cx="26670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65" name=""/>
          <p:cNvCxnSpPr>
            <a:stCxn xmlns:a="http://schemas.openxmlformats.org/drawingml/2006/main" id="11" idx="3"/>
            <a:endCxn xmlns:a="http://schemas.openxmlformats.org/drawingml/2006/main" id="15" idx="1"/>
          </p:cNvCxnSpPr>
          <p:nvPr/>
        </p:nvCxnSpPr>
        <p:spPr>
          <a:xfrm xmlns:a="http://schemas.openxmlformats.org/drawingml/2006/main">
            <a:off x="4724400" y="2790825"/>
            <a:ext cx="26670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66" name=""/>
          <p:cNvCxnSpPr>
            <a:stCxn xmlns:a="http://schemas.openxmlformats.org/drawingml/2006/main" id="15" idx="3"/>
            <a:endCxn xmlns:a="http://schemas.openxmlformats.org/drawingml/2006/main" id="19" idx="1"/>
          </p:cNvCxnSpPr>
          <p:nvPr/>
        </p:nvCxnSpPr>
        <p:spPr>
          <a:xfrm xmlns:a="http://schemas.openxmlformats.org/drawingml/2006/main">
            <a:off x="6877050" y="2790825"/>
            <a:ext cx="26670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67" name=""/>
          <p:cNvCxnSpPr>
            <a:stCxn xmlns:a="http://schemas.openxmlformats.org/drawingml/2006/main" id="19" idx="3"/>
            <a:endCxn xmlns:a="http://schemas.openxmlformats.org/drawingml/2006/main" id="23" idx="1"/>
          </p:cNvCxnSpPr>
          <p:nvPr/>
        </p:nvCxnSpPr>
        <p:spPr>
          <a:xfrm xmlns:a="http://schemas.openxmlformats.org/drawingml/2006/main">
            <a:off x="9029700" y="2790825"/>
            <a:ext cx="26670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sp>
        <p:nvSpPr>
          <p:cNvPr id="31" name="">
            <a:extLst xmlns:a="http://schemas.openxmlformats.org/drawingml/2006/main">
              <a:ext uri="{FF2B5EF4-FFF2-40B4-BE49-F238E27FC236}">
                <a16:creationId xmlns:a16="http://schemas.microsoft.com/office/drawing/2014/main" id="{1F48D456-5814-4A33-8FC7-B82948824ACC}"/>
              </a:ext>
            </a:extLst>
          </p:cNvPr>
          <p:cNvSpPr>
            <a:spLocks xmlns:a="http://schemas.openxmlformats.org/drawingml/2006/main" noGrp="1"/>
          </p:cNvSpPr>
          <p:nvPr/>
        </p:nvSpPr>
        <p:spPr>
          <a:xfrm xmlns:a="http://schemas.openxmlformats.org/drawingml/2006/main">
            <a:off x="685800" y="42672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5FAFF"/>
                </a:solidFill>
              </a:defRPr>
            </a:pPr>
            <a:r>
              <a:rPr sz="1800" b="1">
                <a:solidFill>
                  <a:srgbClr val="F5FAFF"/>
                </a:solidFill>
              </a:rPr>
              <a:t>Operational consequences</a:t>
            </a:r>
          </a:p>
        </p:txBody>
      </p:sp>
      <p:sp>
        <p:nvSpPr>
          <p:cNvPr id="32" name="">
            <a:extLst xmlns:a="http://schemas.openxmlformats.org/drawingml/2006/main">
              <a:ext uri="{FF2B5EF4-FFF2-40B4-BE49-F238E27FC236}">
                <a16:creationId xmlns:a16="http://schemas.microsoft.com/office/drawing/2014/main" id="{1B74BB9D-2668-4FF8-8F4B-B88D35E8295C}"/>
              </a:ext>
            </a:extLst>
          </p:cNvPr>
          <p:cNvSpPr>
            <a:spLocks xmlns:a="http://schemas.openxmlformats.org/drawingml/2006/main" noGrp="1"/>
          </p:cNvSpPr>
          <p:nvPr/>
        </p:nvSpPr>
        <p:spPr>
          <a:xfrm xmlns:a="http://schemas.openxmlformats.org/drawingml/2006/main">
            <a:off x="876300" y="4772025"/>
            <a:ext cx="76200" cy="762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33" name="">
            <a:extLst xmlns:a="http://schemas.openxmlformats.org/drawingml/2006/main">
              <a:ext uri="{FF2B5EF4-FFF2-40B4-BE49-F238E27FC236}">
                <a16:creationId xmlns:a16="http://schemas.microsoft.com/office/drawing/2014/main" id="{A884FE3B-3380-4C9D-8709-3043E8C02B57}"/>
              </a:ext>
            </a:extLst>
          </p:cNvPr>
          <p:cNvSpPr>
            <a:spLocks xmlns:a="http://schemas.openxmlformats.org/drawingml/2006/main" noGrp="1"/>
          </p:cNvSpPr>
          <p:nvPr/>
        </p:nvSpPr>
        <p:spPr>
          <a:xfrm xmlns:a="http://schemas.openxmlformats.org/drawingml/2006/main">
            <a:off x="1066800" y="468630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Repeated SQL and catalog lookups for common investigation patterns</a:t>
            </a:r>
          </a:p>
        </p:txBody>
      </p:sp>
      <p:sp>
        <p:nvSpPr>
          <p:cNvPr id="34" name="">
            <a:extLst xmlns:a="http://schemas.openxmlformats.org/drawingml/2006/main">
              <a:ext uri="{FF2B5EF4-FFF2-40B4-BE49-F238E27FC236}">
                <a16:creationId xmlns:a16="http://schemas.microsoft.com/office/drawing/2014/main" id="{12516312-0385-4874-9A5E-79F39D96F301}"/>
              </a:ext>
            </a:extLst>
          </p:cNvPr>
          <p:cNvSpPr>
            <a:spLocks xmlns:a="http://schemas.openxmlformats.org/drawingml/2006/main" noGrp="1"/>
          </p:cNvSpPr>
          <p:nvPr/>
        </p:nvSpPr>
        <p:spPr>
          <a:xfrm xmlns:a="http://schemas.openxmlformats.org/drawingml/2006/main">
            <a:off x="876300" y="5229225"/>
            <a:ext cx="76200" cy="762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950D2239-C505-4765-A7B7-5416EAFB61B7}"/>
              </a:ext>
            </a:extLst>
          </p:cNvPr>
          <p:cNvSpPr>
            <a:spLocks xmlns:a="http://schemas.openxmlformats.org/drawingml/2006/main" noGrp="1"/>
          </p:cNvSpPr>
          <p:nvPr/>
        </p:nvSpPr>
        <p:spPr>
          <a:xfrm xmlns:a="http://schemas.openxmlformats.org/drawingml/2006/main">
            <a:off x="1066800" y="514350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Variable approaches and interpretation across investigators</a:t>
            </a:r>
          </a:p>
        </p:txBody>
      </p:sp>
      <p:sp>
        <p:nvSpPr>
          <p:cNvPr id="36" name="">
            <a:extLst xmlns:a="http://schemas.openxmlformats.org/drawingml/2006/main">
              <a:ext uri="{FF2B5EF4-FFF2-40B4-BE49-F238E27FC236}">
                <a16:creationId xmlns:a16="http://schemas.microsoft.com/office/drawing/2014/main" id="{E5C7224F-3C0B-4C91-B629-E8B3D93FACA8}"/>
              </a:ext>
            </a:extLst>
          </p:cNvPr>
          <p:cNvSpPr>
            <a:spLocks xmlns:a="http://schemas.openxmlformats.org/drawingml/2006/main" noGrp="1"/>
          </p:cNvSpPr>
          <p:nvPr/>
        </p:nvSpPr>
        <p:spPr>
          <a:xfrm xmlns:a="http://schemas.openxmlformats.org/drawingml/2006/main">
            <a:off x="876300" y="5686425"/>
            <a:ext cx="76200" cy="762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37" name="">
            <a:extLst xmlns:a="http://schemas.openxmlformats.org/drawingml/2006/main">
              <a:ext uri="{FF2B5EF4-FFF2-40B4-BE49-F238E27FC236}">
                <a16:creationId xmlns:a16="http://schemas.microsoft.com/office/drawing/2014/main" id="{D38EA1CF-656C-472F-A526-1CB6C849DBC0}"/>
              </a:ext>
            </a:extLst>
          </p:cNvPr>
          <p:cNvSpPr>
            <a:spLocks xmlns:a="http://schemas.openxmlformats.org/drawingml/2006/main" noGrp="1"/>
          </p:cNvSpPr>
          <p:nvPr/>
        </p:nvSpPr>
        <p:spPr>
          <a:xfrm xmlns:a="http://schemas.openxmlformats.org/drawingml/2006/main">
            <a:off x="1066800" y="5600700"/>
            <a:ext cx="10096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Manual consolidation slows change review and evidence handover</a:t>
            </a:r>
          </a:p>
        </p:txBody>
      </p:sp>
    </p:spTree>
    <p:extLst>
      <p:ext uri="{BB962C8B-B14F-4D97-AF65-F5344CB8AC3E}">
        <p14:creationId xmlns:p14="http://schemas.microsoft.com/office/powerpoint/2010/main" val="389174279"/>
      </p:ext>
    </p:extLst>
  </p:cSld>
</p:sld>
</file>

<file path=ppt/slides/slide4.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340216F-D16F-4F09-B2AD-C1DC3A6A744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83EE6402-8EDE-4F7E-9346-E9F000691819}"/>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SOLUTION OVERVIEW</a:t>
            </a:r>
          </a:p>
        </p:txBody>
      </p:sp>
      <p:sp>
        <p:nvSpPr>
          <p:cNvPr id="3" name="slide-title">
            <a:extLst xmlns:a="http://schemas.openxmlformats.org/drawingml/2006/main">
              <a:ext uri="{FF2B5EF4-FFF2-40B4-BE49-F238E27FC236}">
                <a16:creationId xmlns:a16="http://schemas.microsoft.com/office/drawing/2014/main" id="{8EDDEC5D-9964-4E4C-98FE-84A4ED2FDB29}"/>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Terminal-first DAISY standardizes governed investigation</a:t>
            </a:r>
          </a:p>
        </p:txBody>
      </p:sp>
      <p:sp>
        <p:nvSpPr>
          <p:cNvPr id="4" name="">
            <a:extLst xmlns:a="http://schemas.openxmlformats.org/drawingml/2006/main">
              <a:ext uri="{FF2B5EF4-FFF2-40B4-BE49-F238E27FC236}">
                <a16:creationId xmlns:a16="http://schemas.microsoft.com/office/drawing/2014/main" id="{A68D706D-6341-4592-8C7D-3B7CC56F751D}"/>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27560021-DC4D-477A-93B9-C6A20424DB03}"/>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151D2E0E-EAEC-4C25-A485-929499ABB2EF}"/>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04</a:t>
            </a:r>
          </a:p>
        </p:txBody>
      </p:sp>
      <p:sp>
        <p:nvSpPr>
          <p:cNvPr id="7" name="">
            <a:extLst xmlns:a="http://schemas.openxmlformats.org/drawingml/2006/main">
              <a:ext uri="{FF2B5EF4-FFF2-40B4-BE49-F238E27FC236}">
                <a16:creationId xmlns:a16="http://schemas.microsoft.com/office/drawing/2014/main" id="{CB78D608-1080-4CEA-878A-A492F2A01458}"/>
              </a:ext>
            </a:extLst>
          </p:cNvPr>
          <p:cNvSpPr>
            <a:spLocks xmlns:a="http://schemas.openxmlformats.org/drawingml/2006/main" noGrp="1"/>
          </p:cNvSpPr>
          <p:nvPr/>
        </p:nvSpPr>
        <p:spPr>
          <a:xfrm xmlns:a="http://schemas.openxmlformats.org/drawingml/2006/main">
            <a:off x="685800" y="15049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40D9FF"/>
                </a:solidFill>
              </a:defRPr>
            </a:pPr>
            <a:r>
              <a:rPr sz="1800" b="1">
                <a:solidFill>
                  <a:srgbClr val="40D9FF"/>
                </a:solidFill>
              </a:rPr>
              <a:t>Purpose</a:t>
            </a:r>
          </a:p>
        </p:txBody>
      </p:sp>
      <p:sp>
        <p:nvSpPr>
          <p:cNvPr id="8" name="">
            <a:extLst xmlns:a="http://schemas.openxmlformats.org/drawingml/2006/main">
              <a:ext uri="{FF2B5EF4-FFF2-40B4-BE49-F238E27FC236}">
                <a16:creationId xmlns:a16="http://schemas.microsoft.com/office/drawing/2014/main" id="{718EE635-4DEB-485A-9961-BDC6F72B394F}"/>
              </a:ext>
            </a:extLst>
          </p:cNvPr>
          <p:cNvSpPr>
            <a:spLocks xmlns:a="http://schemas.openxmlformats.org/drawingml/2006/main" noGrp="1"/>
          </p:cNvSpPr>
          <p:nvPr/>
        </p:nvSpPr>
        <p:spPr>
          <a:xfrm xmlns:a="http://schemas.openxmlformats.org/drawingml/2006/main">
            <a:off x="685800" y="1885950"/>
            <a:ext cx="4667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0">
                <a:solidFill>
                  <a:srgbClr val="D9E7F4"/>
                </a:solidFill>
              </a:defRPr>
            </a:pPr>
            <a:r>
              <a:rPr sz="1500" b="0">
                <a:solidFill>
                  <a:srgbClr val="D9E7F4"/>
                </a:solidFill>
              </a:rPr>
              <a:t>Turn natural-language questions and slash commands into approved, read-only Db2 catalog investigations.</a:t>
            </a:r>
          </a:p>
        </p:txBody>
      </p:sp>
      <p:sp>
        <p:nvSpPr>
          <p:cNvPr id="9" name="">
            <a:extLst xmlns:a="http://schemas.openxmlformats.org/drawingml/2006/main">
              <a:ext uri="{FF2B5EF4-FFF2-40B4-BE49-F238E27FC236}">
                <a16:creationId xmlns:a16="http://schemas.microsoft.com/office/drawing/2014/main" id="{7A7E7835-9985-4EB2-B446-71DBDC53A8BA}"/>
              </a:ext>
            </a:extLst>
          </p:cNvPr>
          <p:cNvSpPr>
            <a:spLocks xmlns:a="http://schemas.openxmlformats.org/drawingml/2006/main" noGrp="1"/>
          </p:cNvSpPr>
          <p:nvPr/>
        </p:nvSpPr>
        <p:spPr>
          <a:xfrm xmlns:a="http://schemas.openxmlformats.org/drawingml/2006/main">
            <a:off x="685800" y="28575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40D9FF"/>
                </a:solidFill>
              </a:defRPr>
            </a:pPr>
            <a:r>
              <a:rPr sz="1800" b="1">
                <a:solidFill>
                  <a:srgbClr val="40D9FF"/>
                </a:solidFill>
              </a:rPr>
              <a:t>Target users</a:t>
            </a:r>
          </a:p>
        </p:txBody>
      </p:sp>
      <p:sp>
        <p:nvSpPr>
          <p:cNvPr id="10" name="">
            <a:extLst xmlns:a="http://schemas.openxmlformats.org/drawingml/2006/main">
              <a:ext uri="{FF2B5EF4-FFF2-40B4-BE49-F238E27FC236}">
                <a16:creationId xmlns:a16="http://schemas.microsoft.com/office/drawing/2014/main" id="{06248A69-A31A-477C-A554-0F67ACAC407A}"/>
              </a:ext>
            </a:extLst>
          </p:cNvPr>
          <p:cNvSpPr>
            <a:spLocks xmlns:a="http://schemas.openxmlformats.org/drawingml/2006/main" noGrp="1"/>
          </p:cNvSpPr>
          <p:nvPr/>
        </p:nvSpPr>
        <p:spPr>
          <a:xfrm xmlns:a="http://schemas.openxmlformats.org/drawingml/2006/main">
            <a:off x="876300" y="33242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8D9B91B9-F974-4145-AFA8-F1B1DE4A20B3}"/>
              </a:ext>
            </a:extLst>
          </p:cNvPr>
          <p:cNvSpPr>
            <a:spLocks xmlns:a="http://schemas.openxmlformats.org/drawingml/2006/main" noGrp="1"/>
          </p:cNvSpPr>
          <p:nvPr/>
        </p:nvSpPr>
        <p:spPr>
          <a:xfrm xmlns:a="http://schemas.openxmlformats.org/drawingml/2006/main">
            <a:off x="1066800" y="32385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Db2 for z/OS DBAs</a:t>
            </a:r>
          </a:p>
        </p:txBody>
      </p:sp>
      <p:sp>
        <p:nvSpPr>
          <p:cNvPr id="12" name="">
            <a:extLst xmlns:a="http://schemas.openxmlformats.org/drawingml/2006/main">
              <a:ext uri="{FF2B5EF4-FFF2-40B4-BE49-F238E27FC236}">
                <a16:creationId xmlns:a16="http://schemas.microsoft.com/office/drawing/2014/main" id="{6AE03BDB-A4FC-4481-8365-0878AEF107DA}"/>
              </a:ext>
            </a:extLst>
          </p:cNvPr>
          <p:cNvSpPr>
            <a:spLocks xmlns:a="http://schemas.openxmlformats.org/drawingml/2006/main" noGrp="1"/>
          </p:cNvSpPr>
          <p:nvPr/>
        </p:nvSpPr>
        <p:spPr>
          <a:xfrm xmlns:a="http://schemas.openxmlformats.org/drawingml/2006/main">
            <a:off x="876300" y="37242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0AB355D0-263D-48FC-81BC-23439D2EE775}"/>
              </a:ext>
            </a:extLst>
          </p:cNvPr>
          <p:cNvSpPr>
            <a:spLocks xmlns:a="http://schemas.openxmlformats.org/drawingml/2006/main" noGrp="1"/>
          </p:cNvSpPr>
          <p:nvPr/>
        </p:nvSpPr>
        <p:spPr>
          <a:xfrm xmlns:a="http://schemas.openxmlformats.org/drawingml/2006/main">
            <a:off x="1066800" y="363855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Technical leads</a:t>
            </a:r>
          </a:p>
        </p:txBody>
      </p:sp>
      <p:sp>
        <p:nvSpPr>
          <p:cNvPr id="14" name="">
            <a:extLst xmlns:a="http://schemas.openxmlformats.org/drawingml/2006/main">
              <a:ext uri="{FF2B5EF4-FFF2-40B4-BE49-F238E27FC236}">
                <a16:creationId xmlns:a16="http://schemas.microsoft.com/office/drawing/2014/main" id="{41F4C541-7560-4BBC-B242-2B6206EECCA3}"/>
              </a:ext>
            </a:extLst>
          </p:cNvPr>
          <p:cNvSpPr>
            <a:spLocks xmlns:a="http://schemas.openxmlformats.org/drawingml/2006/main" noGrp="1"/>
          </p:cNvSpPr>
          <p:nvPr/>
        </p:nvSpPr>
        <p:spPr>
          <a:xfrm xmlns:a="http://schemas.openxmlformats.org/drawingml/2006/main">
            <a:off x="876300" y="41243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5EA1B41F-4933-4EC5-A14F-6E353B9682BC}"/>
              </a:ext>
            </a:extLst>
          </p:cNvPr>
          <p:cNvSpPr>
            <a:spLocks xmlns:a="http://schemas.openxmlformats.org/drawingml/2006/main" noGrp="1"/>
          </p:cNvSpPr>
          <p:nvPr/>
        </p:nvSpPr>
        <p:spPr>
          <a:xfrm xmlns:a="http://schemas.openxmlformats.org/drawingml/2006/main">
            <a:off x="1066800" y="4038600"/>
            <a:ext cx="3905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Application support teams</a:t>
            </a:r>
          </a:p>
        </p:txBody>
      </p:sp>
      <p:sp>
        <p:nvSpPr>
          <p:cNvPr id="16" name="">
            <a:extLst xmlns:a="http://schemas.openxmlformats.org/drawingml/2006/main">
              <a:ext uri="{FF2B5EF4-FFF2-40B4-BE49-F238E27FC236}">
                <a16:creationId xmlns:a16="http://schemas.microsoft.com/office/drawing/2014/main" id="{65234292-9576-4A83-9CC7-2B7ED7C80822}"/>
              </a:ext>
            </a:extLst>
          </p:cNvPr>
          <p:cNvSpPr>
            <a:spLocks xmlns:a="http://schemas.openxmlformats.org/drawingml/2006/main" noGrp="1"/>
          </p:cNvSpPr>
          <p:nvPr/>
        </p:nvSpPr>
        <p:spPr>
          <a:xfrm xmlns:a="http://schemas.openxmlformats.org/drawingml/2006/main">
            <a:off x="5905500" y="1504950"/>
            <a:ext cx="5600700" cy="4057650"/>
          </a:xfrm>
          <a:prstGeom xmlns:a="http://schemas.openxmlformats.org/drawingml/2006/main" prst="roundRect">
            <a:avLst>
              <a:gd name="adj" fmla="val 2817"/>
            </a:avLst>
          </a:prstGeom>
          <a:solidFill xmlns:a="http://schemas.openxmlformats.org/drawingml/2006/main">
            <a:srgbClr val="102A43"/>
          </a:solidFill>
          <a:ln xmlns:a="http://schemas.openxmlformats.org/drawingml/2006/main" w="9525">
            <a:solidFill>
              <a:srgbClr val="1D405A"/>
            </a:solidFill>
            <a:prstDash val="solid"/>
          </a:ln>
        </p:spPr>
      </p:sp>
      <p:sp>
        <p:nvSpPr>
          <p:cNvPr id="17" name="">
            <a:extLst xmlns:a="http://schemas.openxmlformats.org/drawingml/2006/main">
              <a:ext uri="{FF2B5EF4-FFF2-40B4-BE49-F238E27FC236}">
                <a16:creationId xmlns:a16="http://schemas.microsoft.com/office/drawing/2014/main" id="{203A5A0B-EEAA-41FF-89A4-2F011E85B19C}"/>
              </a:ext>
            </a:extLst>
          </p:cNvPr>
          <p:cNvSpPr>
            <a:spLocks xmlns:a="http://schemas.openxmlformats.org/drawingml/2006/main" noGrp="1"/>
          </p:cNvSpPr>
          <p:nvPr/>
        </p:nvSpPr>
        <p:spPr>
          <a:xfrm xmlns:a="http://schemas.openxmlformats.org/drawingml/2006/main">
            <a:off x="6191250" y="1733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5FAFF"/>
                </a:solidFill>
              </a:defRPr>
            </a:pPr>
            <a:r>
              <a:rPr sz="1800" b="1">
                <a:solidFill>
                  <a:srgbClr val="F5FAFF"/>
                </a:solidFill>
              </a:rPr>
              <a:t>Primary investigation families</a:t>
            </a:r>
          </a:p>
        </p:txBody>
      </p:sp>
      <p:sp>
        <p:nvSpPr>
          <p:cNvPr id="18" name="">
            <a:extLst xmlns:a="http://schemas.openxmlformats.org/drawingml/2006/main">
              <a:ext uri="{FF2B5EF4-FFF2-40B4-BE49-F238E27FC236}">
                <a16:creationId xmlns:a16="http://schemas.microsoft.com/office/drawing/2014/main" id="{FDCD6448-5610-4AF9-8F92-B788C470D5CC}"/>
              </a:ext>
            </a:extLst>
          </p:cNvPr>
          <p:cNvSpPr>
            <a:spLocks xmlns:a="http://schemas.openxmlformats.org/drawingml/2006/main" noGrp="1"/>
          </p:cNvSpPr>
          <p:nvPr/>
        </p:nvSpPr>
        <p:spPr>
          <a:xfrm xmlns:a="http://schemas.openxmlformats.org/drawingml/2006/main">
            <a:off x="6191250" y="22479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40D9FF"/>
                </a:solidFill>
              </a:defRPr>
            </a:pPr>
            <a:r>
              <a:rPr sz="1275" b="1">
                <a:solidFill>
                  <a:srgbClr val="40D9FF"/>
                </a:solidFill>
              </a:rPr>
              <a:t>Metadata &amp; location</a:t>
            </a:r>
          </a:p>
        </p:txBody>
      </p:sp>
      <p:sp>
        <p:nvSpPr>
          <p:cNvPr id="19" name="">
            <a:extLst xmlns:a="http://schemas.openxmlformats.org/drawingml/2006/main">
              <a:ext uri="{FF2B5EF4-FFF2-40B4-BE49-F238E27FC236}">
                <a16:creationId xmlns:a16="http://schemas.microsoft.com/office/drawing/2014/main" id="{25A21558-2399-490D-BAEF-9BEF3EFE7F2A}"/>
              </a:ext>
            </a:extLst>
          </p:cNvPr>
          <p:cNvSpPr>
            <a:spLocks xmlns:a="http://schemas.openxmlformats.org/drawingml/2006/main" noGrp="1"/>
          </p:cNvSpPr>
          <p:nvPr/>
        </p:nvSpPr>
        <p:spPr>
          <a:xfrm xmlns:a="http://schemas.openxmlformats.org/drawingml/2006/main">
            <a:off x="8039100" y="22479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Object identity, columns, table-space design, glossary meaning</a:t>
            </a:r>
          </a:p>
        </p:txBody>
      </p:sp>
      <p:sp>
        <p:nvSpPr>
          <p:cNvPr id="20" name="">
            <a:extLst xmlns:a="http://schemas.openxmlformats.org/drawingml/2006/main">
              <a:ext uri="{FF2B5EF4-FFF2-40B4-BE49-F238E27FC236}">
                <a16:creationId xmlns:a16="http://schemas.microsoft.com/office/drawing/2014/main" id="{93181ECE-32DD-47D1-933B-F52295AC3A59}"/>
              </a:ext>
            </a:extLst>
          </p:cNvPr>
          <p:cNvSpPr>
            <a:spLocks xmlns:a="http://schemas.openxmlformats.org/drawingml/2006/main" noGrp="1"/>
          </p:cNvSpPr>
          <p:nvPr/>
        </p:nvSpPr>
        <p:spPr>
          <a:xfrm xmlns:a="http://schemas.openxmlformats.org/drawingml/2006/main">
            <a:off x="6191250" y="28575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40D9FF"/>
                </a:solidFill>
              </a:defRPr>
            </a:pPr>
            <a:r>
              <a:rPr sz="1275" b="1">
                <a:solidFill>
                  <a:srgbClr val="40D9FF"/>
                </a:solidFill>
              </a:rPr>
              <a:t>Dependencies &amp; change</a:t>
            </a:r>
          </a:p>
        </p:txBody>
      </p:sp>
      <p:sp>
        <p:nvSpPr>
          <p:cNvPr id="21" name="">
            <a:extLst xmlns:a="http://schemas.openxmlformats.org/drawingml/2006/main">
              <a:ext uri="{FF2B5EF4-FFF2-40B4-BE49-F238E27FC236}">
                <a16:creationId xmlns:a16="http://schemas.microsoft.com/office/drawing/2014/main" id="{C43601CA-F6F9-4A96-A4F3-B04B97BD2256}"/>
              </a:ext>
            </a:extLst>
          </p:cNvPr>
          <p:cNvSpPr>
            <a:spLocks xmlns:a="http://schemas.openxmlformats.org/drawingml/2006/main" noGrp="1"/>
          </p:cNvSpPr>
          <p:nvPr/>
        </p:nvSpPr>
        <p:spPr>
          <a:xfrm xmlns:a="http://schemas.openxmlformats.org/drawingml/2006/main">
            <a:off x="8039100" y="28575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Indexes, packages, plans, views, triggers, RI, constraints, privileges</a:t>
            </a:r>
          </a:p>
        </p:txBody>
      </p:sp>
      <p:sp>
        <p:nvSpPr>
          <p:cNvPr id="22" name="">
            <a:extLst xmlns:a="http://schemas.openxmlformats.org/drawingml/2006/main">
              <a:ext uri="{FF2B5EF4-FFF2-40B4-BE49-F238E27FC236}">
                <a16:creationId xmlns:a16="http://schemas.microsoft.com/office/drawing/2014/main" id="{C5FFBE90-D559-4F75-821C-183B36D0A995}"/>
              </a:ext>
            </a:extLst>
          </p:cNvPr>
          <p:cNvSpPr>
            <a:spLocks xmlns:a="http://schemas.openxmlformats.org/drawingml/2006/main" noGrp="1"/>
          </p:cNvSpPr>
          <p:nvPr/>
        </p:nvSpPr>
        <p:spPr>
          <a:xfrm xmlns:a="http://schemas.openxmlformats.org/drawingml/2006/main">
            <a:off x="6191250" y="34671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40D9FF"/>
                </a:solidFill>
              </a:defRPr>
            </a:pPr>
            <a:r>
              <a:rPr sz="1275" b="1">
                <a:solidFill>
                  <a:srgbClr val="40D9FF"/>
                </a:solidFill>
              </a:rPr>
              <a:t>Storage &amp; health</a:t>
            </a:r>
          </a:p>
        </p:txBody>
      </p:sp>
      <p:sp>
        <p:nvSpPr>
          <p:cNvPr id="23" name="">
            <a:extLst xmlns:a="http://schemas.openxmlformats.org/drawingml/2006/main">
              <a:ext uri="{FF2B5EF4-FFF2-40B4-BE49-F238E27FC236}">
                <a16:creationId xmlns:a16="http://schemas.microsoft.com/office/drawing/2014/main" id="{1C4F5B81-63C0-4DB1-BD1C-9B2DC8A58A5B}"/>
              </a:ext>
            </a:extLst>
          </p:cNvPr>
          <p:cNvSpPr>
            <a:spLocks xmlns:a="http://schemas.openxmlformats.org/drawingml/2006/main" noGrp="1"/>
          </p:cNvSpPr>
          <p:nvPr/>
        </p:nvSpPr>
        <p:spPr>
          <a:xfrm xmlns:a="http://schemas.openxmlformats.org/drawingml/2006/main">
            <a:off x="8039100" y="34671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RTS footprint, partitions, object families, health and readiness</a:t>
            </a:r>
          </a:p>
        </p:txBody>
      </p:sp>
      <p:sp>
        <p:nvSpPr>
          <p:cNvPr id="24" name="">
            <a:extLst xmlns:a="http://schemas.openxmlformats.org/drawingml/2006/main">
              <a:ext uri="{FF2B5EF4-FFF2-40B4-BE49-F238E27FC236}">
                <a16:creationId xmlns:a16="http://schemas.microsoft.com/office/drawing/2014/main" id="{CAA0E5E7-35C0-4EB6-8492-532EAABBBB44}"/>
              </a:ext>
            </a:extLst>
          </p:cNvPr>
          <p:cNvSpPr>
            <a:spLocks xmlns:a="http://schemas.openxmlformats.org/drawingml/2006/main" noGrp="1"/>
          </p:cNvSpPr>
          <p:nvPr/>
        </p:nvSpPr>
        <p:spPr>
          <a:xfrm xmlns:a="http://schemas.openxmlformats.org/drawingml/2006/main">
            <a:off x="6191250" y="40767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4B942"/>
                </a:solidFill>
              </a:defRPr>
            </a:pPr>
            <a:r>
              <a:rPr sz="1275" b="1">
                <a:solidFill>
                  <a:srgbClr val="F4B942"/>
                </a:solidFill>
              </a:rPr>
              <a:t>Status &amp; recovery</a:t>
            </a:r>
          </a:p>
        </p:txBody>
      </p:sp>
      <p:sp>
        <p:nvSpPr>
          <p:cNvPr id="25" name="">
            <a:extLst xmlns:a="http://schemas.openxmlformats.org/drawingml/2006/main">
              <a:ext uri="{FF2B5EF4-FFF2-40B4-BE49-F238E27FC236}">
                <a16:creationId xmlns:a16="http://schemas.microsoft.com/office/drawing/2014/main" id="{5985B339-8727-4574-83FC-9EEEA32756A9}"/>
              </a:ext>
            </a:extLst>
          </p:cNvPr>
          <p:cNvSpPr>
            <a:spLocks xmlns:a="http://schemas.openxmlformats.org/drawingml/2006/main" noGrp="1"/>
          </p:cNvSpPr>
          <p:nvPr/>
        </p:nvSpPr>
        <p:spPr>
          <a:xfrm xmlns:a="http://schemas.openxmlformats.org/drawingml/2006/main">
            <a:off x="8039100" y="40767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Catalog abnormal status, pending DDL, copy and index readiness</a:t>
            </a:r>
          </a:p>
        </p:txBody>
      </p:sp>
      <p:sp>
        <p:nvSpPr>
          <p:cNvPr id="26" name="">
            <a:extLst xmlns:a="http://schemas.openxmlformats.org/drawingml/2006/main">
              <a:ext uri="{FF2B5EF4-FFF2-40B4-BE49-F238E27FC236}">
                <a16:creationId xmlns:a16="http://schemas.microsoft.com/office/drawing/2014/main" id="{66A0FA75-9631-4D2A-892F-48A7BC353CAB}"/>
              </a:ext>
            </a:extLst>
          </p:cNvPr>
          <p:cNvSpPr>
            <a:spLocks xmlns:a="http://schemas.openxmlformats.org/drawingml/2006/main" noGrp="1"/>
          </p:cNvSpPr>
          <p:nvPr/>
        </p:nvSpPr>
        <p:spPr>
          <a:xfrm xmlns:a="http://schemas.openxmlformats.org/drawingml/2006/main">
            <a:off x="6191250" y="46863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40D9FF"/>
                </a:solidFill>
              </a:defRPr>
            </a:pPr>
            <a:r>
              <a:rPr sz="1275" b="1">
                <a:solidFill>
                  <a:srgbClr val="40D9FF"/>
                </a:solidFill>
              </a:rPr>
              <a:t>Compare &amp; evidence</a:t>
            </a:r>
          </a:p>
        </p:txBody>
      </p:sp>
      <p:sp>
        <p:nvSpPr>
          <p:cNvPr id="27" name="">
            <a:extLst xmlns:a="http://schemas.openxmlformats.org/drawingml/2006/main">
              <a:ext uri="{FF2B5EF4-FFF2-40B4-BE49-F238E27FC236}">
                <a16:creationId xmlns:a16="http://schemas.microsoft.com/office/drawing/2014/main" id="{186789F6-0B0C-43E5-9EEA-3DE26AE0C24E}"/>
              </a:ext>
            </a:extLst>
          </p:cNvPr>
          <p:cNvSpPr>
            <a:spLocks xmlns:a="http://schemas.openxmlformats.org/drawingml/2006/main" noGrp="1"/>
          </p:cNvSpPr>
          <p:nvPr/>
        </p:nvSpPr>
        <p:spPr>
          <a:xfrm xmlns:a="http://schemas.openxmlformats.org/drawingml/2006/main">
            <a:off x="8039100" y="4686300"/>
            <a:ext cx="3086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Columns, indexes and DDL comparison; terminal and Excel outputs</a:t>
            </a:r>
          </a:p>
        </p:txBody>
      </p:sp>
    </p:spTree>
    <p:extLst>
      <p:ext uri="{BB962C8B-B14F-4D97-AF65-F5344CB8AC3E}">
        <p14:creationId xmlns:p14="http://schemas.microsoft.com/office/powerpoint/2010/main" val="467978666"/>
      </p:ext>
    </p:extLst>
  </p:cSld>
</p:sld>
</file>

<file path=ppt/slides/slide5.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3E5ADA-A8AE-4983-BCCB-EEB21C14C3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4D430C42-9484-4168-AB1B-4F42687A67EA}"/>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ARCHITECTURE</a:t>
            </a:r>
          </a:p>
        </p:txBody>
      </p:sp>
      <p:sp>
        <p:nvSpPr>
          <p:cNvPr id="3" name="slide-title">
            <a:extLst xmlns:a="http://schemas.openxmlformats.org/drawingml/2006/main">
              <a:ext uri="{FF2B5EF4-FFF2-40B4-BE49-F238E27FC236}">
                <a16:creationId xmlns:a16="http://schemas.microsoft.com/office/drawing/2014/main" id="{999DCCB2-147F-4137-8AA2-7B73AC657511}"/>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Architecture separates interaction from controlled execution</a:t>
            </a:r>
          </a:p>
        </p:txBody>
      </p:sp>
      <p:sp>
        <p:nvSpPr>
          <p:cNvPr id="4" name="">
            <a:extLst xmlns:a="http://schemas.openxmlformats.org/drawingml/2006/main">
              <a:ext uri="{FF2B5EF4-FFF2-40B4-BE49-F238E27FC236}">
                <a16:creationId xmlns:a16="http://schemas.microsoft.com/office/drawing/2014/main" id="{9CD36C60-F69E-41E5-923C-7B0D380B3DC6}"/>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AA4C7330-4918-4077-BBFE-A82919F7658F}"/>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13167F35-7C67-4E86-81F6-40A4BF6018DD}"/>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05</a:t>
            </a:r>
          </a:p>
        </p:txBody>
      </p:sp>
      <p:sp>
        <p:nvSpPr>
          <p:cNvPr id="7" name="">
            <a:extLst xmlns:a="http://schemas.openxmlformats.org/drawingml/2006/main">
              <a:ext uri="{FF2B5EF4-FFF2-40B4-BE49-F238E27FC236}">
                <a16:creationId xmlns:a16="http://schemas.microsoft.com/office/drawing/2014/main" id="{143E14DA-2281-48DB-871D-8A212FE08BE4}"/>
              </a:ext>
            </a:extLst>
          </p:cNvPr>
          <p:cNvSpPr>
            <a:spLocks xmlns:a="http://schemas.openxmlformats.org/drawingml/2006/main" noGrp="1"/>
          </p:cNvSpPr>
          <p:nvPr/>
        </p:nvSpPr>
        <p:spPr>
          <a:xfrm xmlns:a="http://schemas.openxmlformats.org/drawingml/2006/main">
            <a:off x="685800" y="1790700"/>
            <a:ext cx="1676400" cy="800100"/>
          </a:xfrm>
          <a:prstGeom xmlns:a="http://schemas.openxmlformats.org/drawingml/2006/main" prst="roundRect">
            <a:avLst>
              <a:gd name="adj" fmla="val 14286"/>
            </a:avLst>
          </a:prstGeom>
          <a:solidFill xmlns:a="http://schemas.openxmlformats.org/drawingml/2006/main">
            <a:srgbClr val="143A55"/>
          </a:solidFill>
          <a:ln xmlns:a="http://schemas.openxmlformats.org/drawingml/2006/main" w="9525">
            <a:solidFill>
              <a:srgbClr val="40D9FF"/>
            </a:solidFill>
            <a:prstDash val="solid"/>
          </a:ln>
        </p:spPr>
      </p:sp>
      <p:sp>
        <p:nvSpPr>
          <p:cNvPr id="8" name="">
            <a:extLst xmlns:a="http://schemas.openxmlformats.org/drawingml/2006/main">
              <a:ext uri="{FF2B5EF4-FFF2-40B4-BE49-F238E27FC236}">
                <a16:creationId xmlns:a16="http://schemas.microsoft.com/office/drawing/2014/main" id="{082D12C3-1D1F-4802-A862-791309C307D3}"/>
              </a:ext>
            </a:extLst>
          </p:cNvPr>
          <p:cNvSpPr>
            <a:spLocks xmlns:a="http://schemas.openxmlformats.org/drawingml/2006/main" noGrp="1"/>
          </p:cNvSpPr>
          <p:nvPr/>
        </p:nvSpPr>
        <p:spPr>
          <a:xfrm xmlns:a="http://schemas.openxmlformats.org/drawingml/2006/main">
            <a:off x="876300" y="1924050"/>
            <a:ext cx="1295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40D9FF"/>
                </a:solidFill>
              </a:defRPr>
            </a:pPr>
            <a:r>
              <a:rPr sz="1125" b="1">
                <a:solidFill>
                  <a:srgbClr val="40D9FF"/>
                </a:solidFill>
              </a:rPr>
              <a:t>USER</a:t>
            </a:r>
          </a:p>
        </p:txBody>
      </p:sp>
      <p:sp>
        <p:nvSpPr>
          <p:cNvPr id="9" name="">
            <a:extLst xmlns:a="http://schemas.openxmlformats.org/drawingml/2006/main">
              <a:ext uri="{FF2B5EF4-FFF2-40B4-BE49-F238E27FC236}">
                <a16:creationId xmlns:a16="http://schemas.microsoft.com/office/drawing/2014/main" id="{1384FB2A-391C-4A86-8623-A6CD0E0F6EAE}"/>
              </a:ext>
            </a:extLst>
          </p:cNvPr>
          <p:cNvSpPr>
            <a:spLocks xmlns:a="http://schemas.openxmlformats.org/drawingml/2006/main" noGrp="1"/>
          </p:cNvSpPr>
          <p:nvPr/>
        </p:nvSpPr>
        <p:spPr>
          <a:xfrm xmlns:a="http://schemas.openxmlformats.org/drawingml/2006/main">
            <a:off x="857250" y="21907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DBA question or</a:t>
            </a:r>
          </a:p>
          <a:p xmlns:a="http://schemas.openxmlformats.org/drawingml/2006/main">
            <a:pPr algn="ctr">
              <a:defRPr sz="1275" b="0">
                <a:solidFill>
                  <a:srgbClr val="F5FAFF"/>
                </a:solidFill>
              </a:defRPr>
            </a:pPr>
            <a:r>
              <a:rPr sz="1275" b="0">
                <a:solidFill>
                  <a:srgbClr val="F5FAFF"/>
                </a:solidFill>
              </a:rPr>
              <a:t>slash command</a:t>
            </a:r>
          </a:p>
        </p:txBody>
      </p:sp>
      <p:sp>
        <p:nvSpPr>
          <p:cNvPr id="10" name="">
            <a:extLst xmlns:a="http://schemas.openxmlformats.org/drawingml/2006/main">
              <a:ext uri="{FF2B5EF4-FFF2-40B4-BE49-F238E27FC236}">
                <a16:creationId xmlns:a16="http://schemas.microsoft.com/office/drawing/2014/main" id="{37C1C83D-A6E4-428D-AD3F-4E4052D55A85}"/>
              </a:ext>
            </a:extLst>
          </p:cNvPr>
          <p:cNvSpPr>
            <a:spLocks xmlns:a="http://schemas.openxmlformats.org/drawingml/2006/main" noGrp="1"/>
          </p:cNvSpPr>
          <p:nvPr/>
        </p:nvSpPr>
        <p:spPr>
          <a:xfrm xmlns:a="http://schemas.openxmlformats.org/drawingml/2006/main">
            <a:off x="2876550" y="1562100"/>
            <a:ext cx="2095500" cy="1257300"/>
          </a:xfrm>
          <a:prstGeom xmlns:a="http://schemas.openxmlformats.org/drawingml/2006/main" prst="roundRect">
            <a:avLst>
              <a:gd name="adj" fmla="val 9091"/>
            </a:avLst>
          </a:prstGeom>
          <a:solidFill xmlns:a="http://schemas.openxmlformats.org/drawingml/2006/main">
            <a:srgbClr val="102A43"/>
          </a:solidFill>
          <a:ln xmlns:a="http://schemas.openxmlformats.org/drawingml/2006/main" w="9525">
            <a:solidFill>
              <a:srgbClr val="3B82F6"/>
            </a:solidFill>
            <a:prstDash val="solid"/>
          </a:ln>
        </p:spPr>
      </p:sp>
      <p:sp>
        <p:nvSpPr>
          <p:cNvPr id="11" name="">
            <a:extLst xmlns:a="http://schemas.openxmlformats.org/drawingml/2006/main">
              <a:ext uri="{FF2B5EF4-FFF2-40B4-BE49-F238E27FC236}">
                <a16:creationId xmlns:a16="http://schemas.microsoft.com/office/drawing/2014/main" id="{0C53ADD6-0D9D-436A-A3E4-09EF01CC426D}"/>
              </a:ext>
            </a:extLst>
          </p:cNvPr>
          <p:cNvSpPr>
            <a:spLocks xmlns:a="http://schemas.openxmlformats.org/drawingml/2006/main" noGrp="1"/>
          </p:cNvSpPr>
          <p:nvPr/>
        </p:nvSpPr>
        <p:spPr>
          <a:xfrm xmlns:a="http://schemas.openxmlformats.org/drawingml/2006/main">
            <a:off x="3067050" y="17335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B82F6"/>
                </a:solidFill>
              </a:defRPr>
            </a:pPr>
            <a:r>
              <a:rPr sz="1050" b="1">
                <a:solidFill>
                  <a:srgbClr val="3B82F6"/>
                </a:solidFill>
              </a:rPr>
              <a:t>INTERACTION</a:t>
            </a:r>
          </a:p>
        </p:txBody>
      </p:sp>
      <p:sp>
        <p:nvSpPr>
          <p:cNvPr id="12" name="">
            <a:extLst xmlns:a="http://schemas.openxmlformats.org/drawingml/2006/main">
              <a:ext uri="{FF2B5EF4-FFF2-40B4-BE49-F238E27FC236}">
                <a16:creationId xmlns:a16="http://schemas.microsoft.com/office/drawing/2014/main" id="{1EA480B1-6A9A-4B7F-8095-13D2F1A7DA87}"/>
              </a:ext>
            </a:extLst>
          </p:cNvPr>
          <p:cNvSpPr>
            <a:spLocks xmlns:a="http://schemas.openxmlformats.org/drawingml/2006/main" noGrp="1"/>
          </p:cNvSpPr>
          <p:nvPr/>
        </p:nvSpPr>
        <p:spPr>
          <a:xfrm xmlns:a="http://schemas.openxmlformats.org/drawingml/2006/main">
            <a:off x="3067050" y="2019300"/>
            <a:ext cx="1714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5FAFF"/>
                </a:solidFill>
              </a:defRPr>
            </a:pPr>
            <a:r>
              <a:rPr sz="1350" b="0">
                <a:solidFill>
                  <a:srgbClr val="F5FAFF"/>
                </a:solidFill>
              </a:rPr>
              <a:t>DAISY CLI</a:t>
            </a:r>
          </a:p>
          <a:p xmlns:a="http://schemas.openxmlformats.org/drawingml/2006/main">
            <a:pPr algn="ctr">
              <a:defRPr sz="1350" b="0">
                <a:solidFill>
                  <a:srgbClr val="F5FAFF"/>
                </a:solidFill>
              </a:defRPr>
            </a:pPr>
            <a:r>
              <a:rPr sz="1350" b="0">
                <a:solidFill>
                  <a:srgbClr val="F5FAFF"/>
                </a:solidFill>
              </a:rPr>
              <a:t>Rich renderer</a:t>
            </a:r>
          </a:p>
          <a:p xmlns:a="http://schemas.openxmlformats.org/drawingml/2006/main">
            <a:pPr algn="ctr">
              <a:defRPr sz="1350" b="0">
                <a:solidFill>
                  <a:srgbClr val="F5FAFF"/>
                </a:solidFill>
              </a:defRPr>
            </a:pPr>
            <a:r>
              <a:rPr sz="1350" b="0">
                <a:solidFill>
                  <a:srgbClr val="F5FAFF"/>
                </a:solidFill>
              </a:rPr>
              <a:t>Prompt input</a:t>
            </a:r>
          </a:p>
        </p:txBody>
      </p:sp>
      <p:sp>
        <p:nvSpPr>
          <p:cNvPr id="13" name="">
            <a:extLst xmlns:a="http://schemas.openxmlformats.org/drawingml/2006/main">
              <a:ext uri="{FF2B5EF4-FFF2-40B4-BE49-F238E27FC236}">
                <a16:creationId xmlns:a16="http://schemas.microsoft.com/office/drawing/2014/main" id="{3EDA07E3-C499-4F31-A7BA-1BF9E07551B9}"/>
              </a:ext>
            </a:extLst>
          </p:cNvPr>
          <p:cNvSpPr>
            <a:spLocks xmlns:a="http://schemas.openxmlformats.org/drawingml/2006/main" noGrp="1"/>
          </p:cNvSpPr>
          <p:nvPr/>
        </p:nvSpPr>
        <p:spPr>
          <a:xfrm xmlns:a="http://schemas.openxmlformats.org/drawingml/2006/main">
            <a:off x="5524500" y="1371600"/>
            <a:ext cx="2724150" cy="1638300"/>
          </a:xfrm>
          <a:prstGeom xmlns:a="http://schemas.openxmlformats.org/drawingml/2006/main" prst="roundRect">
            <a:avLst>
              <a:gd name="adj" fmla="val 6977"/>
            </a:avLst>
          </a:prstGeom>
          <a:solidFill xmlns:a="http://schemas.openxmlformats.org/drawingml/2006/main">
            <a:srgbClr val="143A55"/>
          </a:solidFill>
          <a:ln xmlns:a="http://schemas.openxmlformats.org/drawingml/2006/main" w="9525">
            <a:solidFill>
              <a:srgbClr val="F4B942"/>
            </a:solidFill>
            <a:prstDash val="solid"/>
          </a:ln>
        </p:spPr>
      </p:sp>
      <p:sp>
        <p:nvSpPr>
          <p:cNvPr id="14" name="">
            <a:extLst xmlns:a="http://schemas.openxmlformats.org/drawingml/2006/main">
              <a:ext uri="{FF2B5EF4-FFF2-40B4-BE49-F238E27FC236}">
                <a16:creationId xmlns:a16="http://schemas.microsoft.com/office/drawing/2014/main" id="{3E69FD16-34B2-4783-972C-28398CB8CEE6}"/>
              </a:ext>
            </a:extLst>
          </p:cNvPr>
          <p:cNvSpPr>
            <a:spLocks xmlns:a="http://schemas.openxmlformats.org/drawingml/2006/main" noGrp="1"/>
          </p:cNvSpPr>
          <p:nvPr/>
        </p:nvSpPr>
        <p:spPr>
          <a:xfrm xmlns:a="http://schemas.openxmlformats.org/drawingml/2006/main">
            <a:off x="5772150" y="154305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4B942"/>
                </a:solidFill>
              </a:defRPr>
            </a:pPr>
            <a:r>
              <a:rPr sz="1050" b="1">
                <a:solidFill>
                  <a:srgbClr val="F4B942"/>
                </a:solidFill>
              </a:rPr>
              <a:t>CONTROL PLANE</a:t>
            </a:r>
          </a:p>
        </p:txBody>
      </p:sp>
      <p:sp>
        <p:nvSpPr>
          <p:cNvPr id="15" name="">
            <a:extLst xmlns:a="http://schemas.openxmlformats.org/drawingml/2006/main">
              <a:ext uri="{FF2B5EF4-FFF2-40B4-BE49-F238E27FC236}">
                <a16:creationId xmlns:a16="http://schemas.microsoft.com/office/drawing/2014/main" id="{DC5AC0AF-7D0D-48D5-B372-4E1081149ED2}"/>
              </a:ext>
            </a:extLst>
          </p:cNvPr>
          <p:cNvSpPr>
            <a:spLocks xmlns:a="http://schemas.openxmlformats.org/drawingml/2006/main" noGrp="1"/>
          </p:cNvSpPr>
          <p:nvPr/>
        </p:nvSpPr>
        <p:spPr>
          <a:xfrm xmlns:a="http://schemas.openxmlformats.org/drawingml/2006/main">
            <a:off x="5772150" y="1866900"/>
            <a:ext cx="22288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Deterministic pre-routes</a:t>
            </a:r>
          </a:p>
          <a:p xmlns:a="http://schemas.openxmlformats.org/drawingml/2006/main">
            <a:pPr algn="ctr">
              <a:defRPr sz="1275" b="0">
                <a:solidFill>
                  <a:srgbClr val="F5FAFF"/>
                </a:solidFill>
              </a:defRPr>
            </a:pPr>
            <a:r>
              <a:rPr sz="1275" b="0">
                <a:solidFill>
                  <a:srgbClr val="F5FAFF"/>
                </a:solidFill>
              </a:rPr>
              <a:t>Guardrails &amp; validation</a:t>
            </a:r>
          </a:p>
          <a:p xmlns:a="http://schemas.openxmlformats.org/drawingml/2006/main">
            <a:pPr algn="ctr">
              <a:defRPr sz="1275" b="0">
                <a:solidFill>
                  <a:srgbClr val="F5FAFF"/>
                </a:solidFill>
              </a:defRPr>
            </a:pPr>
            <a:r>
              <a:rPr sz="1275" b="0">
                <a:solidFill>
                  <a:srgbClr val="F5FAFF"/>
                </a:solidFill>
              </a:rPr>
              <a:t>LLM strict JSON intent route</a:t>
            </a:r>
          </a:p>
          <a:p xmlns:a="http://schemas.openxmlformats.org/drawingml/2006/main">
            <a:pPr algn="ctr">
              <a:defRPr sz="1275" b="0">
                <a:solidFill>
                  <a:srgbClr val="F5FAFF"/>
                </a:solidFill>
              </a:defRPr>
            </a:pPr>
            <a:r>
              <a:rPr sz="1275" b="0">
                <a:solidFill>
                  <a:srgbClr val="F5FAFF"/>
                </a:solidFill>
              </a:rPr>
              <a:t>Approved registry dispatch</a:t>
            </a:r>
          </a:p>
        </p:txBody>
      </p:sp>
      <p:sp>
        <p:nvSpPr>
          <p:cNvPr id="16" name="">
            <a:extLst xmlns:a="http://schemas.openxmlformats.org/drawingml/2006/main">
              <a:ext uri="{FF2B5EF4-FFF2-40B4-BE49-F238E27FC236}">
                <a16:creationId xmlns:a16="http://schemas.microsoft.com/office/drawing/2014/main" id="{19A00526-4707-49BD-A8D6-8920749A0788}"/>
              </a:ext>
            </a:extLst>
          </p:cNvPr>
          <p:cNvSpPr>
            <a:spLocks xmlns:a="http://schemas.openxmlformats.org/drawingml/2006/main" noGrp="1"/>
          </p:cNvSpPr>
          <p:nvPr/>
        </p:nvSpPr>
        <p:spPr>
          <a:xfrm xmlns:a="http://schemas.openxmlformats.org/drawingml/2006/main">
            <a:off x="8858250" y="1562100"/>
            <a:ext cx="2647950" cy="1257300"/>
          </a:xfrm>
          <a:prstGeom xmlns:a="http://schemas.openxmlformats.org/drawingml/2006/main" prst="roundRect">
            <a:avLst>
              <a:gd name="adj" fmla="val 9091"/>
            </a:avLst>
          </a:prstGeom>
          <a:solidFill xmlns:a="http://schemas.openxmlformats.org/drawingml/2006/main">
            <a:srgbClr val="102A43"/>
          </a:solidFill>
          <a:ln xmlns:a="http://schemas.openxmlformats.org/drawingml/2006/main" w="9525">
            <a:solidFill>
              <a:srgbClr val="35D07F"/>
            </a:solidFill>
            <a:prstDash val="solid"/>
          </a:ln>
        </p:spPr>
      </p:sp>
      <p:sp>
        <p:nvSpPr>
          <p:cNvPr id="17" name="">
            <a:extLst xmlns:a="http://schemas.openxmlformats.org/drawingml/2006/main">
              <a:ext uri="{FF2B5EF4-FFF2-40B4-BE49-F238E27FC236}">
                <a16:creationId xmlns:a16="http://schemas.microsoft.com/office/drawing/2014/main" id="{B25D7687-EC71-429C-BC61-D011242817DB}"/>
              </a:ext>
            </a:extLst>
          </p:cNvPr>
          <p:cNvSpPr>
            <a:spLocks xmlns:a="http://schemas.openxmlformats.org/drawingml/2006/main" noGrp="1"/>
          </p:cNvSpPr>
          <p:nvPr/>
        </p:nvSpPr>
        <p:spPr>
          <a:xfrm xmlns:a="http://schemas.openxmlformats.org/drawingml/2006/main">
            <a:off x="9086850" y="1733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5D07F"/>
                </a:solidFill>
              </a:defRPr>
            </a:pPr>
            <a:r>
              <a:rPr sz="1050" b="1">
                <a:solidFill>
                  <a:srgbClr val="35D07F"/>
                </a:solidFill>
              </a:rPr>
              <a:t>EXECUTION</a:t>
            </a:r>
          </a:p>
        </p:txBody>
      </p:sp>
      <p:sp>
        <p:nvSpPr>
          <p:cNvPr id="18" name="">
            <a:extLst xmlns:a="http://schemas.openxmlformats.org/drawingml/2006/main">
              <a:ext uri="{FF2B5EF4-FFF2-40B4-BE49-F238E27FC236}">
                <a16:creationId xmlns:a16="http://schemas.microsoft.com/office/drawing/2014/main" id="{52EBD381-5AE6-4AD9-B039-6BE1F4EC1D17}"/>
              </a:ext>
            </a:extLst>
          </p:cNvPr>
          <p:cNvSpPr>
            <a:spLocks xmlns:a="http://schemas.openxmlformats.org/drawingml/2006/main" noGrp="1"/>
          </p:cNvSpPr>
          <p:nvPr/>
        </p:nvSpPr>
        <p:spPr>
          <a:xfrm xmlns:a="http://schemas.openxmlformats.org/drawingml/2006/main">
            <a:off x="9086850" y="203835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5FAFF"/>
                </a:solidFill>
              </a:defRPr>
            </a:pPr>
            <a:r>
              <a:rPr sz="1350" b="0">
                <a:solidFill>
                  <a:srgbClr val="F5FAFF"/>
                </a:solidFill>
              </a:rPr>
              <a:t>67 approved tools</a:t>
            </a:r>
          </a:p>
          <a:p xmlns:a="http://schemas.openxmlformats.org/drawingml/2006/main">
            <a:pPr algn="ctr">
              <a:defRPr sz="1350" b="0">
                <a:solidFill>
                  <a:srgbClr val="F5FAFF"/>
                </a:solidFill>
              </a:defRPr>
            </a:pPr>
            <a:r>
              <a:rPr sz="1350" b="0">
                <a:solidFill>
                  <a:srgbClr val="F5FAFF"/>
                </a:solidFill>
              </a:rPr>
              <a:t>16 workflow methods</a:t>
            </a:r>
          </a:p>
          <a:p xmlns:a="http://schemas.openxmlformats.org/drawingml/2006/main">
            <a:pPr algn="ctr">
              <a:defRPr sz="1350" b="0">
                <a:solidFill>
                  <a:srgbClr val="F5FAFF"/>
                </a:solidFill>
              </a:defRPr>
            </a:pPr>
            <a:r>
              <a:rPr sz="1350" b="0">
                <a:solidFill>
                  <a:srgbClr val="F5FAFF"/>
                </a:solidFill>
              </a:rPr>
              <a:t>Read-only catalog access</a:t>
            </a:r>
          </a:p>
        </p:txBody>
      </p:sp>
      <p:cxnSp>
        <p:nvCxnSpPr>
          <p:cNvPr id="53" name=""/>
          <p:cNvCxnSpPr>
            <a:stCxn xmlns:a="http://schemas.openxmlformats.org/drawingml/2006/main" id="7" idx="3"/>
            <a:endCxn xmlns:a="http://schemas.openxmlformats.org/drawingml/2006/main" id="10" idx="1"/>
          </p:cNvCxnSpPr>
          <p:nvPr/>
        </p:nvCxnSpPr>
        <p:spPr>
          <a:xfrm xmlns:a="http://schemas.openxmlformats.org/drawingml/2006/main">
            <a:off x="2362200" y="2190750"/>
            <a:ext cx="51435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54" name=""/>
          <p:cNvCxnSpPr>
            <a:stCxn xmlns:a="http://schemas.openxmlformats.org/drawingml/2006/main" id="10" idx="3"/>
            <a:endCxn xmlns:a="http://schemas.openxmlformats.org/drawingml/2006/main" id="13" idx="1"/>
          </p:cNvCxnSpPr>
          <p:nvPr/>
        </p:nvCxnSpPr>
        <p:spPr>
          <a:xfrm xmlns:a="http://schemas.openxmlformats.org/drawingml/2006/main">
            <a:off x="4972050" y="2190750"/>
            <a:ext cx="55245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55" name=""/>
          <p:cNvCxnSpPr>
            <a:stCxn xmlns:a="http://schemas.openxmlformats.org/drawingml/2006/main" id="13" idx="3"/>
            <a:endCxn xmlns:a="http://schemas.openxmlformats.org/drawingml/2006/main" id="16" idx="1"/>
          </p:cNvCxnSpPr>
          <p:nvPr/>
        </p:nvCxnSpPr>
        <p:spPr>
          <a:xfrm xmlns:a="http://schemas.openxmlformats.org/drawingml/2006/main">
            <a:off x="8248650" y="2190750"/>
            <a:ext cx="609600" cy="0"/>
          </a:xfrm>
          <a:prstGeom xmlns:a="http://schemas.openxmlformats.org/drawingml/2006/main" prst="straightConnector1">
            <a:avLst/>
          </a:prstGeom>
          <a:ln xmlns:a="http://schemas.openxmlformats.org/drawingml/2006/main" w="19050">
            <a:solidFill>
              <a:srgbClr val="35D07F"/>
            </a:solidFill>
            <a:prstDash val="solid"/>
            <a:tailEnd type="arrow" w="med" len="med"/>
          </a:ln>
        </p:spPr>
      </p:cxnSp>
      <p:sp>
        <p:nvSpPr>
          <p:cNvPr id="22" name="">
            <a:extLst xmlns:a="http://schemas.openxmlformats.org/drawingml/2006/main">
              <a:ext uri="{FF2B5EF4-FFF2-40B4-BE49-F238E27FC236}">
                <a16:creationId xmlns:a16="http://schemas.microsoft.com/office/drawing/2014/main" id="{D1A2B542-9F17-40B1-BF98-A3BCAF11B9B8}"/>
              </a:ext>
            </a:extLst>
          </p:cNvPr>
          <p:cNvSpPr>
            <a:spLocks xmlns:a="http://schemas.openxmlformats.org/drawingml/2006/main" noGrp="1"/>
          </p:cNvSpPr>
          <p:nvPr/>
        </p:nvSpPr>
        <p:spPr>
          <a:xfrm xmlns:a="http://schemas.openxmlformats.org/drawingml/2006/main">
            <a:off x="8858250" y="3790950"/>
            <a:ext cx="2647950" cy="1066800"/>
          </a:xfrm>
          <a:prstGeom xmlns:a="http://schemas.openxmlformats.org/drawingml/2006/main" prst="roundRect">
            <a:avLst>
              <a:gd name="adj" fmla="val 10714"/>
            </a:avLst>
          </a:prstGeom>
          <a:solidFill xmlns:a="http://schemas.openxmlformats.org/drawingml/2006/main">
            <a:srgbClr val="143A55"/>
          </a:solidFill>
          <a:ln xmlns:a="http://schemas.openxmlformats.org/drawingml/2006/main" w="9525">
            <a:solidFill>
              <a:srgbClr val="40D9FF"/>
            </a:solidFill>
            <a:prstDash val="solid"/>
          </a:ln>
        </p:spPr>
      </p:sp>
      <p:sp>
        <p:nvSpPr>
          <p:cNvPr id="23" name="">
            <a:extLst xmlns:a="http://schemas.openxmlformats.org/drawingml/2006/main">
              <a:ext uri="{FF2B5EF4-FFF2-40B4-BE49-F238E27FC236}">
                <a16:creationId xmlns:a16="http://schemas.microsoft.com/office/drawing/2014/main" id="{0B9BBCD3-381C-44D8-B8C3-F4DAE1FB7237}"/>
              </a:ext>
            </a:extLst>
          </p:cNvPr>
          <p:cNvSpPr>
            <a:spLocks xmlns:a="http://schemas.openxmlformats.org/drawingml/2006/main" noGrp="1"/>
          </p:cNvSpPr>
          <p:nvPr/>
        </p:nvSpPr>
        <p:spPr>
          <a:xfrm xmlns:a="http://schemas.openxmlformats.org/drawingml/2006/main">
            <a:off x="9086850" y="39624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40D9FF"/>
                </a:solidFill>
              </a:defRPr>
            </a:pPr>
            <a:r>
              <a:rPr sz="1050" b="1">
                <a:solidFill>
                  <a:srgbClr val="40D9FF"/>
                </a:solidFill>
              </a:rPr>
              <a:t>DB2 FOR z/OS</a:t>
            </a:r>
          </a:p>
        </p:txBody>
      </p:sp>
      <p:sp>
        <p:nvSpPr>
          <p:cNvPr id="24" name="">
            <a:extLst xmlns:a="http://schemas.openxmlformats.org/drawingml/2006/main">
              <a:ext uri="{FF2B5EF4-FFF2-40B4-BE49-F238E27FC236}">
                <a16:creationId xmlns:a16="http://schemas.microsoft.com/office/drawing/2014/main" id="{7C13CD1C-5D81-4CD9-A29D-7CB5F615C5C4}"/>
              </a:ext>
            </a:extLst>
          </p:cNvPr>
          <p:cNvSpPr>
            <a:spLocks xmlns:a="http://schemas.openxmlformats.org/drawingml/2006/main" noGrp="1"/>
          </p:cNvSpPr>
          <p:nvPr/>
        </p:nvSpPr>
        <p:spPr>
          <a:xfrm xmlns:a="http://schemas.openxmlformats.org/drawingml/2006/main">
            <a:off x="9086850" y="4286250"/>
            <a:ext cx="2190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5FAFF"/>
                </a:solidFill>
              </a:defRPr>
            </a:pPr>
            <a:r>
              <a:rPr sz="1350" b="0">
                <a:solidFill>
                  <a:srgbClr val="F5FAFF"/>
                </a:solidFill>
              </a:rPr>
              <a:t>SYSIBM catalog + RTS</a:t>
            </a:r>
          </a:p>
          <a:p xmlns:a="http://schemas.openxmlformats.org/drawingml/2006/main">
            <a:pPr algn="ctr">
              <a:defRPr sz="1350" b="0">
                <a:solidFill>
                  <a:srgbClr val="F5FAFF"/>
                </a:solidFill>
              </a:defRPr>
            </a:pPr>
            <a:r>
              <a:rPr sz="1350" b="0">
                <a:solidFill>
                  <a:srgbClr val="F5FAFF"/>
                </a:solidFill>
              </a:rPr>
              <a:t>through &lt;DB2_DSN&gt;</a:t>
            </a:r>
          </a:p>
        </p:txBody>
      </p:sp>
      <p:sp>
        <p:nvSpPr>
          <p:cNvPr id="25" name="">
            <a:extLst xmlns:a="http://schemas.openxmlformats.org/drawingml/2006/main">
              <a:ext uri="{FF2B5EF4-FFF2-40B4-BE49-F238E27FC236}">
                <a16:creationId xmlns:a16="http://schemas.microsoft.com/office/drawing/2014/main" id="{DB7235E2-09D0-4193-95B5-CB298950C4B4}"/>
              </a:ext>
            </a:extLst>
          </p:cNvPr>
          <p:cNvSpPr>
            <a:spLocks xmlns:a="http://schemas.openxmlformats.org/drawingml/2006/main" noGrp="1"/>
          </p:cNvSpPr>
          <p:nvPr/>
        </p:nvSpPr>
        <p:spPr>
          <a:xfrm xmlns:a="http://schemas.openxmlformats.org/drawingml/2006/main">
            <a:off x="5524500" y="3619500"/>
            <a:ext cx="2724150" cy="1409700"/>
          </a:xfrm>
          <a:prstGeom xmlns:a="http://schemas.openxmlformats.org/drawingml/2006/main" prst="roundRect">
            <a:avLst>
              <a:gd name="adj" fmla="val 8108"/>
            </a:avLst>
          </a:prstGeom>
          <a:solidFill xmlns:a="http://schemas.openxmlformats.org/drawingml/2006/main">
            <a:srgbClr val="102A43"/>
          </a:solidFill>
          <a:ln xmlns:a="http://schemas.openxmlformats.org/drawingml/2006/main" w="9525">
            <a:solidFill>
              <a:srgbClr val="35D07F"/>
            </a:solidFill>
            <a:prstDash val="solid"/>
          </a:ln>
        </p:spPr>
      </p:sp>
      <p:sp>
        <p:nvSpPr>
          <p:cNvPr id="26" name="">
            <a:extLst xmlns:a="http://schemas.openxmlformats.org/drawingml/2006/main">
              <a:ext uri="{FF2B5EF4-FFF2-40B4-BE49-F238E27FC236}">
                <a16:creationId xmlns:a16="http://schemas.microsoft.com/office/drawing/2014/main" id="{F673C7E7-44F4-408D-9B79-63E0EF559E41}"/>
              </a:ext>
            </a:extLst>
          </p:cNvPr>
          <p:cNvSpPr>
            <a:spLocks xmlns:a="http://schemas.openxmlformats.org/drawingml/2006/main" noGrp="1"/>
          </p:cNvSpPr>
          <p:nvPr/>
        </p:nvSpPr>
        <p:spPr>
          <a:xfrm xmlns:a="http://schemas.openxmlformats.org/drawingml/2006/main">
            <a:off x="5772150" y="3790950"/>
            <a:ext cx="2228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5D07F"/>
                </a:solidFill>
              </a:defRPr>
            </a:pPr>
            <a:r>
              <a:rPr sz="1050" b="1">
                <a:solidFill>
                  <a:srgbClr val="35D07F"/>
                </a:solidFill>
              </a:rPr>
              <a:t>EVIDENCE PLANE</a:t>
            </a:r>
          </a:p>
        </p:txBody>
      </p:sp>
      <p:sp>
        <p:nvSpPr>
          <p:cNvPr id="27" name="">
            <a:extLst xmlns:a="http://schemas.openxmlformats.org/drawingml/2006/main">
              <a:ext uri="{FF2B5EF4-FFF2-40B4-BE49-F238E27FC236}">
                <a16:creationId xmlns:a16="http://schemas.microsoft.com/office/drawing/2014/main" id="{EA749EBB-73AD-4537-866F-2131EFFB27BF}"/>
              </a:ext>
            </a:extLst>
          </p:cNvPr>
          <p:cNvSpPr>
            <a:spLocks xmlns:a="http://schemas.openxmlformats.org/drawingml/2006/main" noGrp="1"/>
          </p:cNvSpPr>
          <p:nvPr/>
        </p:nvSpPr>
        <p:spPr>
          <a:xfrm xmlns:a="http://schemas.openxmlformats.org/drawingml/2006/main">
            <a:off x="5772150" y="4114800"/>
            <a:ext cx="2228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QueryResult / WorkflowResult</a:t>
            </a:r>
          </a:p>
          <a:p xmlns:a="http://schemas.openxmlformats.org/drawingml/2006/main">
            <a:pPr algn="ctr">
              <a:defRPr sz="1275" b="0">
                <a:solidFill>
                  <a:srgbClr val="F5FAFF"/>
                </a:solidFill>
              </a:defRPr>
            </a:pPr>
            <a:r>
              <a:rPr sz="1275" b="0">
                <a:solidFill>
                  <a:srgbClr val="F5FAFF"/>
                </a:solidFill>
              </a:rPr>
              <a:t>findings, trace, warnings</a:t>
            </a:r>
          </a:p>
          <a:p xmlns:a="http://schemas.openxmlformats.org/drawingml/2006/main">
            <a:pPr algn="ctr">
              <a:defRPr sz="1275" b="0">
                <a:solidFill>
                  <a:srgbClr val="F5FAFF"/>
                </a:solidFill>
              </a:defRPr>
            </a:pPr>
            <a:r>
              <a:rPr sz="1275" b="0">
                <a:solidFill>
                  <a:srgbClr val="F5FAFF"/>
                </a:solidFill>
              </a:rPr>
              <a:t>terminal view + Excel pack</a:t>
            </a:r>
          </a:p>
        </p:txBody>
      </p:sp>
      <p:sp>
        <p:nvSpPr>
          <p:cNvPr id="28" name="">
            <a:extLst xmlns:a="http://schemas.openxmlformats.org/drawingml/2006/main">
              <a:ext uri="{FF2B5EF4-FFF2-40B4-BE49-F238E27FC236}">
                <a16:creationId xmlns:a16="http://schemas.microsoft.com/office/drawing/2014/main" id="{3358B752-B452-4709-82E6-BB9842CCE34B}"/>
              </a:ext>
            </a:extLst>
          </p:cNvPr>
          <p:cNvSpPr>
            <a:spLocks xmlns:a="http://schemas.openxmlformats.org/drawingml/2006/main" noGrp="1"/>
          </p:cNvSpPr>
          <p:nvPr/>
        </p:nvSpPr>
        <p:spPr>
          <a:xfrm xmlns:a="http://schemas.openxmlformats.org/drawingml/2006/main">
            <a:off x="2876550" y="3790950"/>
            <a:ext cx="2095500" cy="1066800"/>
          </a:xfrm>
          <a:prstGeom xmlns:a="http://schemas.openxmlformats.org/drawingml/2006/main" prst="roundRect">
            <a:avLst>
              <a:gd name="adj" fmla="val 10714"/>
            </a:avLst>
          </a:prstGeom>
          <a:solidFill xmlns:a="http://schemas.openxmlformats.org/drawingml/2006/main">
            <a:srgbClr val="102A43"/>
          </a:solidFill>
          <a:ln xmlns:a="http://schemas.openxmlformats.org/drawingml/2006/main" w="9525">
            <a:solidFill>
              <a:srgbClr val="1D405A"/>
            </a:solidFill>
            <a:prstDash val="solid"/>
          </a:ln>
        </p:spPr>
      </p:sp>
      <p:sp>
        <p:nvSpPr>
          <p:cNvPr id="29" name="">
            <a:extLst xmlns:a="http://schemas.openxmlformats.org/drawingml/2006/main">
              <a:ext uri="{FF2B5EF4-FFF2-40B4-BE49-F238E27FC236}">
                <a16:creationId xmlns:a16="http://schemas.microsoft.com/office/drawing/2014/main" id="{B52BADD6-F1D4-4E2A-B2AC-AF9B03C09E53}"/>
              </a:ext>
            </a:extLst>
          </p:cNvPr>
          <p:cNvSpPr>
            <a:spLocks xmlns:a="http://schemas.openxmlformats.org/drawingml/2006/main" noGrp="1"/>
          </p:cNvSpPr>
          <p:nvPr/>
        </p:nvSpPr>
        <p:spPr>
          <a:xfrm xmlns:a="http://schemas.openxmlformats.org/drawingml/2006/main">
            <a:off x="3067050" y="39624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91A7BA"/>
                </a:solidFill>
              </a:defRPr>
            </a:pPr>
            <a:r>
              <a:rPr sz="1050" b="1">
                <a:solidFill>
                  <a:srgbClr val="91A7BA"/>
                </a:solidFill>
              </a:rPr>
              <a:t>STATE &amp; AUDIT</a:t>
            </a:r>
          </a:p>
        </p:txBody>
      </p:sp>
      <p:sp>
        <p:nvSpPr>
          <p:cNvPr id="30" name="">
            <a:extLst xmlns:a="http://schemas.openxmlformats.org/drawingml/2006/main">
              <a:ext uri="{FF2B5EF4-FFF2-40B4-BE49-F238E27FC236}">
                <a16:creationId xmlns:a16="http://schemas.microsoft.com/office/drawing/2014/main" id="{C049434D-CC9B-4E99-9D31-7A6C02C41BC9}"/>
              </a:ext>
            </a:extLst>
          </p:cNvPr>
          <p:cNvSpPr>
            <a:spLocks xmlns:a="http://schemas.openxmlformats.org/drawingml/2006/main" noGrp="1"/>
          </p:cNvSpPr>
          <p:nvPr/>
        </p:nvSpPr>
        <p:spPr>
          <a:xfrm xmlns:a="http://schemas.openxmlformats.org/drawingml/2006/main">
            <a:off x="3067050" y="4286250"/>
            <a:ext cx="1714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5FAFF"/>
                </a:solidFill>
              </a:defRPr>
            </a:pPr>
            <a:r>
              <a:rPr sz="1350" b="0">
                <a:solidFill>
                  <a:srgbClr val="F5FAFF"/>
                </a:solidFill>
              </a:rPr>
              <a:t>Safe session memory</a:t>
            </a:r>
          </a:p>
          <a:p xmlns:a="http://schemas.openxmlformats.org/drawingml/2006/main">
            <a:pPr algn="ctr">
              <a:defRPr sz="1350" b="0">
                <a:solidFill>
                  <a:srgbClr val="F5FAFF"/>
                </a:solidFill>
              </a:defRPr>
            </a:pPr>
            <a:r>
              <a:rPr sz="1350" b="0">
                <a:solidFill>
                  <a:srgbClr val="F5FAFF"/>
                </a:solidFill>
              </a:rPr>
              <a:t>JSONL usage log</a:t>
            </a:r>
          </a:p>
        </p:txBody>
      </p:sp>
      <p:cxnSp>
        <p:nvCxnSpPr>
          <p:cNvPr id="65" name=""/>
          <p:cNvCxnSpPr>
            <a:stCxn xmlns:a="http://schemas.openxmlformats.org/drawingml/2006/main" id="16" idx="2"/>
            <a:endCxn xmlns:a="http://schemas.openxmlformats.org/drawingml/2006/main" id="22" idx="0"/>
          </p:cNvCxnSpPr>
          <p:nvPr/>
        </p:nvCxnSpPr>
        <p:spPr>
          <a:xfrm xmlns:a="http://schemas.openxmlformats.org/drawingml/2006/main">
            <a:off x="10182225" y="2819400"/>
            <a:ext cx="0" cy="97155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66" name=""/>
          <p:cNvCxnSpPr>
            <a:stCxn xmlns:a="http://schemas.openxmlformats.org/drawingml/2006/main" id="22" idx="1"/>
            <a:endCxn xmlns:a="http://schemas.openxmlformats.org/drawingml/2006/main" id="25" idx="3"/>
          </p:cNvCxnSpPr>
          <p:nvPr/>
        </p:nvCxnSpPr>
        <p:spPr>
          <a:xfrm xmlns:a="http://schemas.openxmlformats.org/drawingml/2006/main" flipH="1">
            <a:off x="8248650" y="4324350"/>
            <a:ext cx="609600" cy="0"/>
          </a:xfrm>
          <a:prstGeom xmlns:a="http://schemas.openxmlformats.org/drawingml/2006/main" prst="straightConnector1">
            <a:avLst/>
          </a:prstGeom>
          <a:ln xmlns:a="http://schemas.openxmlformats.org/drawingml/2006/main" w="19050">
            <a:solidFill>
              <a:srgbClr val="35D07F"/>
            </a:solidFill>
            <a:prstDash val="solid"/>
            <a:tailEnd type="arrow" w="med" len="med"/>
          </a:ln>
        </p:spPr>
      </p:cxnSp>
      <p:cxnSp>
        <p:nvCxnSpPr>
          <p:cNvPr id="67" name=""/>
          <p:cNvCxnSpPr>
            <a:stCxn xmlns:a="http://schemas.openxmlformats.org/drawingml/2006/main" id="25" idx="1"/>
            <a:endCxn xmlns:a="http://schemas.openxmlformats.org/drawingml/2006/main" id="28" idx="3"/>
          </p:cNvCxnSpPr>
          <p:nvPr/>
        </p:nvCxnSpPr>
        <p:spPr>
          <a:xfrm xmlns:a="http://schemas.openxmlformats.org/drawingml/2006/main" flipH="1">
            <a:off x="4972050" y="4324350"/>
            <a:ext cx="55245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68" name=""/>
          <p:cNvCxnSpPr>
            <a:stCxn xmlns:a="http://schemas.openxmlformats.org/drawingml/2006/main" id="25" idx="0"/>
            <a:endCxn xmlns:a="http://schemas.openxmlformats.org/drawingml/2006/main" id="10" idx="2"/>
          </p:cNvCxnSpPr>
          <p:nvPr/>
        </p:nvCxnSpPr>
        <p:spPr>
          <a:xfrm xmlns:a="http://schemas.openxmlformats.org/drawingml/2006/main" flipH="1" flipV="1">
            <a:off x="3924300" y="2819400"/>
            <a:ext cx="2962275" cy="800100"/>
          </a:xfrm>
          <a:prstGeom xmlns:a="http://schemas.openxmlformats.org/drawingml/2006/main" prst="bentConnector4">
            <a:avLst>
              <a:gd name="adj1" fmla="val 0"/>
              <a:gd name="adj2" fmla="val 50000"/>
            </a:avLst>
          </a:prstGeom>
          <a:ln xmlns:a="http://schemas.openxmlformats.org/drawingml/2006/main" w="19050">
            <a:solidFill>
              <a:srgbClr val="35D07F"/>
            </a:solidFill>
            <a:prstDash val="solid"/>
            <a:tailEnd type="arrow" w="med" len="med"/>
          </a:ln>
        </p:spPr>
      </p:cxnSp>
    </p:spTree>
    <p:extLst>
      <p:ext uri="{BB962C8B-B14F-4D97-AF65-F5344CB8AC3E}">
        <p14:creationId xmlns:p14="http://schemas.microsoft.com/office/powerpoint/2010/main" val="1379567037"/>
      </p:ext>
    </p:extLst>
  </p:cSld>
</p:sld>
</file>

<file path=ppt/slides/slide6.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B582A77-5243-4304-BD9D-939F70EF577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C6338A58-5DFB-4789-BDD2-8F1FA14E4339}"/>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RUNTIME SEQUENCE</a:t>
            </a:r>
          </a:p>
        </p:txBody>
      </p:sp>
      <p:sp>
        <p:nvSpPr>
          <p:cNvPr id="3" name="slide-title">
            <a:extLst xmlns:a="http://schemas.openxmlformats.org/drawingml/2006/main">
              <a:ext uri="{FF2B5EF4-FFF2-40B4-BE49-F238E27FC236}">
                <a16:creationId xmlns:a16="http://schemas.microsoft.com/office/drawing/2014/main" id="{35D3FE4D-6C4F-4A53-B79E-AB377859C5AF}"/>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Startup establishes context, controls and approved tools</a:t>
            </a:r>
          </a:p>
        </p:txBody>
      </p:sp>
      <p:sp>
        <p:nvSpPr>
          <p:cNvPr id="4" name="">
            <a:extLst xmlns:a="http://schemas.openxmlformats.org/drawingml/2006/main">
              <a:ext uri="{FF2B5EF4-FFF2-40B4-BE49-F238E27FC236}">
                <a16:creationId xmlns:a16="http://schemas.microsoft.com/office/drawing/2014/main" id="{6C06FAC4-20F3-4256-BB60-5A15F82C8E8B}"/>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67EF4CC1-9565-4179-B476-862F08FD33E3}"/>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E5E19277-D3FA-4CE8-8191-16738F1FA52D}"/>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06</a:t>
            </a:r>
          </a:p>
        </p:txBody>
      </p:sp>
      <p:sp>
        <p:nvSpPr>
          <p:cNvPr id="7" name="">
            <a:extLst xmlns:a="http://schemas.openxmlformats.org/drawingml/2006/main">
              <a:ext uri="{FF2B5EF4-FFF2-40B4-BE49-F238E27FC236}">
                <a16:creationId xmlns:a16="http://schemas.microsoft.com/office/drawing/2014/main" id="{D95FC623-93D2-4690-B153-4FB85EBF311D}"/>
              </a:ext>
            </a:extLst>
          </p:cNvPr>
          <p:cNvSpPr>
            <a:spLocks xmlns:a="http://schemas.openxmlformats.org/drawingml/2006/main" noGrp="1"/>
          </p:cNvSpPr>
          <p:nvPr/>
        </p:nvSpPr>
        <p:spPr>
          <a:xfrm xmlns:a="http://schemas.openxmlformats.org/drawingml/2006/main">
            <a:off x="1066800" y="152400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1D405A"/>
            </a:solidFill>
            <a:prstDash val="solid"/>
          </a:ln>
        </p:spPr>
      </p:sp>
      <p:sp>
        <p:nvSpPr>
          <p:cNvPr id="8" name="">
            <a:extLst xmlns:a="http://schemas.openxmlformats.org/drawingml/2006/main">
              <a:ext uri="{FF2B5EF4-FFF2-40B4-BE49-F238E27FC236}">
                <a16:creationId xmlns:a16="http://schemas.microsoft.com/office/drawing/2014/main" id="{E8297A27-B36E-467E-BAC6-EE81240CE897}"/>
              </a:ext>
            </a:extLst>
          </p:cNvPr>
          <p:cNvSpPr>
            <a:spLocks xmlns:a="http://schemas.openxmlformats.org/drawingml/2006/main" noGrp="1"/>
          </p:cNvSpPr>
          <p:nvPr/>
        </p:nvSpPr>
        <p:spPr>
          <a:xfrm xmlns:a="http://schemas.openxmlformats.org/drawingml/2006/main">
            <a:off x="1219200" y="1666875"/>
            <a:ext cx="342900" cy="3429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1</a:t>
            </a:r>
          </a:p>
        </p:txBody>
      </p:sp>
      <p:sp>
        <p:nvSpPr>
          <p:cNvPr id="9" name="">
            <a:extLst xmlns:a="http://schemas.openxmlformats.org/drawingml/2006/main">
              <a:ext uri="{FF2B5EF4-FFF2-40B4-BE49-F238E27FC236}">
                <a16:creationId xmlns:a16="http://schemas.microsoft.com/office/drawing/2014/main" id="{F5DC30DA-2730-419F-A4D6-C9F410EDBAD3}"/>
              </a:ext>
            </a:extLst>
          </p:cNvPr>
          <p:cNvSpPr>
            <a:spLocks xmlns:a="http://schemas.openxmlformats.org/drawingml/2006/main" noGrp="1"/>
          </p:cNvSpPr>
          <p:nvPr/>
        </p:nvSpPr>
        <p:spPr>
          <a:xfrm xmlns:a="http://schemas.openxmlformats.org/drawingml/2006/main">
            <a:off x="1695450" y="1600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Start application</a:t>
            </a:r>
          </a:p>
        </p:txBody>
      </p:sp>
      <p:sp>
        <p:nvSpPr>
          <p:cNvPr id="10" name="">
            <a:extLst xmlns:a="http://schemas.openxmlformats.org/drawingml/2006/main">
              <a:ext uri="{FF2B5EF4-FFF2-40B4-BE49-F238E27FC236}">
                <a16:creationId xmlns:a16="http://schemas.microsoft.com/office/drawing/2014/main" id="{B5B11088-12CD-4856-805E-162E886E83F6}"/>
              </a:ext>
            </a:extLst>
          </p:cNvPr>
          <p:cNvSpPr>
            <a:spLocks xmlns:a="http://schemas.openxmlformats.org/drawingml/2006/main" noGrp="1"/>
          </p:cNvSpPr>
          <p:nvPr/>
        </p:nvSpPr>
        <p:spPr>
          <a:xfrm xmlns:a="http://schemas.openxmlformats.org/drawingml/2006/main">
            <a:off x="1695450" y="18573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Python entry point</a:t>
            </a:r>
          </a:p>
        </p:txBody>
      </p:sp>
      <p:sp>
        <p:nvSpPr>
          <p:cNvPr id="11" name="">
            <a:extLst xmlns:a="http://schemas.openxmlformats.org/drawingml/2006/main">
              <a:ext uri="{FF2B5EF4-FFF2-40B4-BE49-F238E27FC236}">
                <a16:creationId xmlns:a16="http://schemas.microsoft.com/office/drawing/2014/main" id="{71BED923-5252-4A5F-A54D-9F00EB7BDC27}"/>
              </a:ext>
            </a:extLst>
          </p:cNvPr>
          <p:cNvSpPr>
            <a:spLocks xmlns:a="http://schemas.openxmlformats.org/drawingml/2006/main" noGrp="1"/>
          </p:cNvSpPr>
          <p:nvPr/>
        </p:nvSpPr>
        <p:spPr>
          <a:xfrm xmlns:a="http://schemas.openxmlformats.org/drawingml/2006/main">
            <a:off x="1066800" y="240030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1D405A"/>
            </a:solidFill>
            <a:prstDash val="solid"/>
          </a:ln>
        </p:spPr>
      </p:sp>
      <p:sp>
        <p:nvSpPr>
          <p:cNvPr id="12" name="">
            <a:extLst xmlns:a="http://schemas.openxmlformats.org/drawingml/2006/main">
              <a:ext uri="{FF2B5EF4-FFF2-40B4-BE49-F238E27FC236}">
                <a16:creationId xmlns:a16="http://schemas.microsoft.com/office/drawing/2014/main" id="{29DAEB3A-1630-4F39-B759-F539417E633B}"/>
              </a:ext>
            </a:extLst>
          </p:cNvPr>
          <p:cNvSpPr>
            <a:spLocks xmlns:a="http://schemas.openxmlformats.org/drawingml/2006/main" noGrp="1"/>
          </p:cNvSpPr>
          <p:nvPr/>
        </p:nvSpPr>
        <p:spPr>
          <a:xfrm xmlns:a="http://schemas.openxmlformats.org/drawingml/2006/main">
            <a:off x="1219200" y="2543175"/>
            <a:ext cx="342900" cy="3429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2</a:t>
            </a:r>
          </a:p>
        </p:txBody>
      </p:sp>
      <p:sp>
        <p:nvSpPr>
          <p:cNvPr id="13" name="">
            <a:extLst xmlns:a="http://schemas.openxmlformats.org/drawingml/2006/main">
              <a:ext uri="{FF2B5EF4-FFF2-40B4-BE49-F238E27FC236}">
                <a16:creationId xmlns:a16="http://schemas.microsoft.com/office/drawing/2014/main" id="{AC0BE7C4-337A-4FCE-B691-4408F91CCDFD}"/>
              </a:ext>
            </a:extLst>
          </p:cNvPr>
          <p:cNvSpPr>
            <a:spLocks xmlns:a="http://schemas.openxmlformats.org/drawingml/2006/main" noGrp="1"/>
          </p:cNvSpPr>
          <p:nvPr/>
        </p:nvSpPr>
        <p:spPr>
          <a:xfrm xmlns:a="http://schemas.openxmlformats.org/drawingml/2006/main">
            <a:off x="1695450" y="2476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Select DSN</a:t>
            </a:r>
          </a:p>
        </p:txBody>
      </p:sp>
      <p:sp>
        <p:nvSpPr>
          <p:cNvPr id="14" name="">
            <a:extLst xmlns:a="http://schemas.openxmlformats.org/drawingml/2006/main">
              <a:ext uri="{FF2B5EF4-FFF2-40B4-BE49-F238E27FC236}">
                <a16:creationId xmlns:a16="http://schemas.microsoft.com/office/drawing/2014/main" id="{CBFEEACA-0047-4949-BE07-51333CD58C75}"/>
              </a:ext>
            </a:extLst>
          </p:cNvPr>
          <p:cNvSpPr>
            <a:spLocks xmlns:a="http://schemas.openxmlformats.org/drawingml/2006/main" noGrp="1"/>
          </p:cNvSpPr>
          <p:nvPr/>
        </p:nvSpPr>
        <p:spPr>
          <a:xfrm xmlns:a="http://schemas.openxmlformats.org/drawingml/2006/main">
            <a:off x="1695450" y="27336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Apply &lt;DB2_DSN&gt; environment mapping</a:t>
            </a:r>
          </a:p>
        </p:txBody>
      </p:sp>
      <p:sp>
        <p:nvSpPr>
          <p:cNvPr id="15" name="">
            <a:extLst xmlns:a="http://schemas.openxmlformats.org/drawingml/2006/main">
              <a:ext uri="{FF2B5EF4-FFF2-40B4-BE49-F238E27FC236}">
                <a16:creationId xmlns:a16="http://schemas.microsoft.com/office/drawing/2014/main" id="{E7834664-B1F4-4282-8797-6931FC4DA9A7}"/>
              </a:ext>
            </a:extLst>
          </p:cNvPr>
          <p:cNvSpPr>
            <a:spLocks xmlns:a="http://schemas.openxmlformats.org/drawingml/2006/main" noGrp="1"/>
          </p:cNvSpPr>
          <p:nvPr/>
        </p:nvSpPr>
        <p:spPr>
          <a:xfrm xmlns:a="http://schemas.openxmlformats.org/drawingml/2006/main">
            <a:off x="1066800" y="327660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1D405A"/>
            </a:solidFill>
            <a:prstDash val="solid"/>
          </a:ln>
        </p:spPr>
      </p:sp>
      <p:sp>
        <p:nvSpPr>
          <p:cNvPr id="16" name="">
            <a:extLst xmlns:a="http://schemas.openxmlformats.org/drawingml/2006/main">
              <a:ext uri="{FF2B5EF4-FFF2-40B4-BE49-F238E27FC236}">
                <a16:creationId xmlns:a16="http://schemas.microsoft.com/office/drawing/2014/main" id="{01A2A3C6-1D62-436E-AEBC-6269D1E56531}"/>
              </a:ext>
            </a:extLst>
          </p:cNvPr>
          <p:cNvSpPr>
            <a:spLocks xmlns:a="http://schemas.openxmlformats.org/drawingml/2006/main" noGrp="1"/>
          </p:cNvSpPr>
          <p:nvPr/>
        </p:nvSpPr>
        <p:spPr>
          <a:xfrm xmlns:a="http://schemas.openxmlformats.org/drawingml/2006/main">
            <a:off x="1219200" y="3419475"/>
            <a:ext cx="342900" cy="3429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3</a:t>
            </a:r>
          </a:p>
        </p:txBody>
      </p:sp>
      <p:sp>
        <p:nvSpPr>
          <p:cNvPr id="17" name="">
            <a:extLst xmlns:a="http://schemas.openxmlformats.org/drawingml/2006/main">
              <a:ext uri="{FF2B5EF4-FFF2-40B4-BE49-F238E27FC236}">
                <a16:creationId xmlns:a16="http://schemas.microsoft.com/office/drawing/2014/main" id="{CE827871-ADEB-452A-83A9-D5C903178031}"/>
              </a:ext>
            </a:extLst>
          </p:cNvPr>
          <p:cNvSpPr>
            <a:spLocks xmlns:a="http://schemas.openxmlformats.org/drawingml/2006/main" noGrp="1"/>
          </p:cNvSpPr>
          <p:nvPr/>
        </p:nvSpPr>
        <p:spPr>
          <a:xfrm xmlns:a="http://schemas.openxmlformats.org/drawingml/2006/main">
            <a:off x="1695450" y="3352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Create context</a:t>
            </a:r>
          </a:p>
        </p:txBody>
      </p:sp>
      <p:sp>
        <p:nvSpPr>
          <p:cNvPr id="18" name="">
            <a:extLst xmlns:a="http://schemas.openxmlformats.org/drawingml/2006/main">
              <a:ext uri="{FF2B5EF4-FFF2-40B4-BE49-F238E27FC236}">
                <a16:creationId xmlns:a16="http://schemas.microsoft.com/office/drawing/2014/main" id="{56585D91-350B-4BC8-AB6B-1C91DA31E7ED}"/>
              </a:ext>
            </a:extLst>
          </p:cNvPr>
          <p:cNvSpPr>
            <a:spLocks xmlns:a="http://schemas.openxmlformats.org/drawingml/2006/main" noGrp="1"/>
          </p:cNvSpPr>
          <p:nvPr/>
        </p:nvSpPr>
        <p:spPr>
          <a:xfrm xmlns:a="http://schemas.openxmlformats.org/drawingml/2006/main">
            <a:off x="1695450" y="36099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Collect &lt;USER_ID&gt;; request password securely</a:t>
            </a:r>
          </a:p>
        </p:txBody>
      </p:sp>
      <p:sp>
        <p:nvSpPr>
          <p:cNvPr id="19" name="">
            <a:extLst xmlns:a="http://schemas.openxmlformats.org/drawingml/2006/main">
              <a:ext uri="{FF2B5EF4-FFF2-40B4-BE49-F238E27FC236}">
                <a16:creationId xmlns:a16="http://schemas.microsoft.com/office/drawing/2014/main" id="{0FEF205E-B980-47E5-9971-5FB8A164D654}"/>
              </a:ext>
            </a:extLst>
          </p:cNvPr>
          <p:cNvSpPr>
            <a:spLocks xmlns:a="http://schemas.openxmlformats.org/drawingml/2006/main" noGrp="1"/>
          </p:cNvSpPr>
          <p:nvPr/>
        </p:nvSpPr>
        <p:spPr>
          <a:xfrm xmlns:a="http://schemas.openxmlformats.org/drawingml/2006/main">
            <a:off x="1066800" y="415290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35D07F"/>
            </a:solidFill>
            <a:prstDash val="solid"/>
          </a:ln>
        </p:spPr>
      </p:sp>
      <p:sp>
        <p:nvSpPr>
          <p:cNvPr id="20" name="">
            <a:extLst xmlns:a="http://schemas.openxmlformats.org/drawingml/2006/main">
              <a:ext uri="{FF2B5EF4-FFF2-40B4-BE49-F238E27FC236}">
                <a16:creationId xmlns:a16="http://schemas.microsoft.com/office/drawing/2014/main" id="{840D67A1-48FC-4E42-8A37-57056B475E65}"/>
              </a:ext>
            </a:extLst>
          </p:cNvPr>
          <p:cNvSpPr>
            <a:spLocks xmlns:a="http://schemas.openxmlformats.org/drawingml/2006/main" noGrp="1"/>
          </p:cNvSpPr>
          <p:nvPr/>
        </p:nvSpPr>
        <p:spPr>
          <a:xfrm xmlns:a="http://schemas.openxmlformats.org/drawingml/2006/main">
            <a:off x="1219200" y="4295775"/>
            <a:ext cx="342900" cy="3429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4</a:t>
            </a:r>
          </a:p>
        </p:txBody>
      </p:sp>
      <p:sp>
        <p:nvSpPr>
          <p:cNvPr id="21" name="">
            <a:extLst xmlns:a="http://schemas.openxmlformats.org/drawingml/2006/main">
              <a:ext uri="{FF2B5EF4-FFF2-40B4-BE49-F238E27FC236}">
                <a16:creationId xmlns:a16="http://schemas.microsoft.com/office/drawing/2014/main" id="{ABBB0FE4-2006-4770-8579-F890300F3461}"/>
              </a:ext>
            </a:extLst>
          </p:cNvPr>
          <p:cNvSpPr>
            <a:spLocks xmlns:a="http://schemas.openxmlformats.org/drawingml/2006/main" noGrp="1"/>
          </p:cNvSpPr>
          <p:nvPr/>
        </p:nvSpPr>
        <p:spPr>
          <a:xfrm xmlns:a="http://schemas.openxmlformats.org/drawingml/2006/main">
            <a:off x="1695450" y="42291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Connect read-only</a:t>
            </a:r>
          </a:p>
        </p:txBody>
      </p:sp>
      <p:sp>
        <p:nvSpPr>
          <p:cNvPr id="22" name="">
            <a:extLst xmlns:a="http://schemas.openxmlformats.org/drawingml/2006/main">
              <a:ext uri="{FF2B5EF4-FFF2-40B4-BE49-F238E27FC236}">
                <a16:creationId xmlns:a16="http://schemas.microsoft.com/office/drawing/2014/main" id="{ACA6034F-9274-472D-BCF9-EC5358F8E7BF}"/>
              </a:ext>
            </a:extLst>
          </p:cNvPr>
          <p:cNvSpPr>
            <a:spLocks xmlns:a="http://schemas.openxmlformats.org/drawingml/2006/main" noGrp="1"/>
          </p:cNvSpPr>
          <p:nvPr/>
        </p:nvSpPr>
        <p:spPr>
          <a:xfrm xmlns:a="http://schemas.openxmlformats.org/drawingml/2006/main">
            <a:off x="1695450" y="44862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ODBC connection; DBA-friendly failures</a:t>
            </a:r>
          </a:p>
        </p:txBody>
      </p:sp>
      <p:sp>
        <p:nvSpPr>
          <p:cNvPr id="23" name="">
            <a:extLst xmlns:a="http://schemas.openxmlformats.org/drawingml/2006/main">
              <a:ext uri="{FF2B5EF4-FFF2-40B4-BE49-F238E27FC236}">
                <a16:creationId xmlns:a16="http://schemas.microsoft.com/office/drawing/2014/main" id="{D0731BFD-79EE-42CA-A855-850EB8D6DF96}"/>
              </a:ext>
            </a:extLst>
          </p:cNvPr>
          <p:cNvSpPr>
            <a:spLocks xmlns:a="http://schemas.openxmlformats.org/drawingml/2006/main" noGrp="1"/>
          </p:cNvSpPr>
          <p:nvPr/>
        </p:nvSpPr>
        <p:spPr>
          <a:xfrm xmlns:a="http://schemas.openxmlformats.org/drawingml/2006/main">
            <a:off x="1066800" y="502920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1D405A"/>
            </a:solidFill>
            <a:prstDash val="solid"/>
          </a:ln>
        </p:spPr>
      </p:sp>
      <p:sp>
        <p:nvSpPr>
          <p:cNvPr id="24" name="">
            <a:extLst xmlns:a="http://schemas.openxmlformats.org/drawingml/2006/main">
              <a:ext uri="{FF2B5EF4-FFF2-40B4-BE49-F238E27FC236}">
                <a16:creationId xmlns:a16="http://schemas.microsoft.com/office/drawing/2014/main" id="{E8C6C66E-8854-4DD1-9D0E-3C9C26A2591C}"/>
              </a:ext>
            </a:extLst>
          </p:cNvPr>
          <p:cNvSpPr>
            <a:spLocks xmlns:a="http://schemas.openxmlformats.org/drawingml/2006/main" noGrp="1"/>
          </p:cNvSpPr>
          <p:nvPr/>
        </p:nvSpPr>
        <p:spPr>
          <a:xfrm xmlns:a="http://schemas.openxmlformats.org/drawingml/2006/main">
            <a:off x="1219200" y="5172075"/>
            <a:ext cx="342900" cy="3429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5</a:t>
            </a:r>
          </a:p>
        </p:txBody>
      </p:sp>
      <p:sp>
        <p:nvSpPr>
          <p:cNvPr id="25" name="">
            <a:extLst xmlns:a="http://schemas.openxmlformats.org/drawingml/2006/main">
              <a:ext uri="{FF2B5EF4-FFF2-40B4-BE49-F238E27FC236}">
                <a16:creationId xmlns:a16="http://schemas.microsoft.com/office/drawing/2014/main" id="{072A6ADF-9EB7-4AE9-8B28-0840DADE87B2}"/>
              </a:ext>
            </a:extLst>
          </p:cNvPr>
          <p:cNvSpPr>
            <a:spLocks xmlns:a="http://schemas.openxmlformats.org/drawingml/2006/main" noGrp="1"/>
          </p:cNvSpPr>
          <p:nvPr/>
        </p:nvSpPr>
        <p:spPr>
          <a:xfrm xmlns:a="http://schemas.openxmlformats.org/drawingml/2006/main">
            <a:off x="1695450" y="51054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Refresh context</a:t>
            </a:r>
          </a:p>
        </p:txBody>
      </p:sp>
      <p:sp>
        <p:nvSpPr>
          <p:cNvPr id="26" name="">
            <a:extLst xmlns:a="http://schemas.openxmlformats.org/drawingml/2006/main">
              <a:ext uri="{FF2B5EF4-FFF2-40B4-BE49-F238E27FC236}">
                <a16:creationId xmlns:a16="http://schemas.microsoft.com/office/drawing/2014/main" id="{C36DDC0B-10F6-4486-BA09-ECFAEEFB8586}"/>
              </a:ext>
            </a:extLst>
          </p:cNvPr>
          <p:cNvSpPr>
            <a:spLocks xmlns:a="http://schemas.openxmlformats.org/drawingml/2006/main" noGrp="1"/>
          </p:cNvSpPr>
          <p:nvPr/>
        </p:nvSpPr>
        <p:spPr>
          <a:xfrm xmlns:a="http://schemas.openxmlformats.org/drawingml/2006/main">
            <a:off x="1695450" y="53625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CURRENT SERVER / SQLID / SCHEMA</a:t>
            </a:r>
          </a:p>
        </p:txBody>
      </p:sp>
      <p:sp>
        <p:nvSpPr>
          <p:cNvPr id="27" name="">
            <a:extLst xmlns:a="http://schemas.openxmlformats.org/drawingml/2006/main">
              <a:ext uri="{FF2B5EF4-FFF2-40B4-BE49-F238E27FC236}">
                <a16:creationId xmlns:a16="http://schemas.microsoft.com/office/drawing/2014/main" id="{CA44AF3C-3027-4421-AB44-4B2CC2E65110}"/>
              </a:ext>
            </a:extLst>
          </p:cNvPr>
          <p:cNvSpPr>
            <a:spLocks xmlns:a="http://schemas.openxmlformats.org/drawingml/2006/main" noGrp="1"/>
          </p:cNvSpPr>
          <p:nvPr/>
        </p:nvSpPr>
        <p:spPr>
          <a:xfrm xmlns:a="http://schemas.openxmlformats.org/drawingml/2006/main">
            <a:off x="7124700" y="196215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1D405A"/>
            </a:solidFill>
            <a:prstDash val="solid"/>
          </a:ln>
        </p:spPr>
      </p:sp>
      <p:sp>
        <p:nvSpPr>
          <p:cNvPr id="28" name="">
            <a:extLst xmlns:a="http://schemas.openxmlformats.org/drawingml/2006/main">
              <a:ext uri="{FF2B5EF4-FFF2-40B4-BE49-F238E27FC236}">
                <a16:creationId xmlns:a16="http://schemas.microsoft.com/office/drawing/2014/main" id="{40834B15-8C6A-40FE-83E8-E8550BF06835}"/>
              </a:ext>
            </a:extLst>
          </p:cNvPr>
          <p:cNvSpPr>
            <a:spLocks xmlns:a="http://schemas.openxmlformats.org/drawingml/2006/main" noGrp="1"/>
          </p:cNvSpPr>
          <p:nvPr/>
        </p:nvSpPr>
        <p:spPr>
          <a:xfrm xmlns:a="http://schemas.openxmlformats.org/drawingml/2006/main">
            <a:off x="7277100" y="2105025"/>
            <a:ext cx="342900" cy="3429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6</a:t>
            </a:r>
          </a:p>
        </p:txBody>
      </p:sp>
      <p:sp>
        <p:nvSpPr>
          <p:cNvPr id="29" name="">
            <a:extLst xmlns:a="http://schemas.openxmlformats.org/drawingml/2006/main">
              <a:ext uri="{FF2B5EF4-FFF2-40B4-BE49-F238E27FC236}">
                <a16:creationId xmlns:a16="http://schemas.microsoft.com/office/drawing/2014/main" id="{FD09F002-809D-4373-9AE3-26CF93122768}"/>
              </a:ext>
            </a:extLst>
          </p:cNvPr>
          <p:cNvSpPr>
            <a:spLocks xmlns:a="http://schemas.openxmlformats.org/drawingml/2006/main" noGrp="1"/>
          </p:cNvSpPr>
          <p:nvPr/>
        </p:nvSpPr>
        <p:spPr>
          <a:xfrm xmlns:a="http://schemas.openxmlformats.org/drawingml/2006/main">
            <a:off x="7753350" y="20383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Load safe memory</a:t>
            </a:r>
          </a:p>
        </p:txBody>
      </p:sp>
      <p:sp>
        <p:nvSpPr>
          <p:cNvPr id="30" name="">
            <a:extLst xmlns:a="http://schemas.openxmlformats.org/drawingml/2006/main">
              <a:ext uri="{FF2B5EF4-FFF2-40B4-BE49-F238E27FC236}">
                <a16:creationId xmlns:a16="http://schemas.microsoft.com/office/drawing/2014/main" id="{8FFF370F-70F7-4702-996A-9DF440E91AC5}"/>
              </a:ext>
            </a:extLst>
          </p:cNvPr>
          <p:cNvSpPr>
            <a:spLocks xmlns:a="http://schemas.openxmlformats.org/drawingml/2006/main" noGrp="1"/>
          </p:cNvSpPr>
          <p:nvPr/>
        </p:nvSpPr>
        <p:spPr>
          <a:xfrm xmlns:a="http://schemas.openxmlformats.org/drawingml/2006/main">
            <a:off x="7753350" y="22955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Per-user, per-DSN recent object context</a:t>
            </a:r>
          </a:p>
        </p:txBody>
      </p:sp>
      <p:sp>
        <p:nvSpPr>
          <p:cNvPr id="31" name="">
            <a:extLst xmlns:a="http://schemas.openxmlformats.org/drawingml/2006/main">
              <a:ext uri="{FF2B5EF4-FFF2-40B4-BE49-F238E27FC236}">
                <a16:creationId xmlns:a16="http://schemas.microsoft.com/office/drawing/2014/main" id="{616CF819-2BD2-4DAA-ACAE-67B266597C3A}"/>
              </a:ext>
            </a:extLst>
          </p:cNvPr>
          <p:cNvSpPr>
            <a:spLocks xmlns:a="http://schemas.openxmlformats.org/drawingml/2006/main" noGrp="1"/>
          </p:cNvSpPr>
          <p:nvPr/>
        </p:nvSpPr>
        <p:spPr>
          <a:xfrm xmlns:a="http://schemas.openxmlformats.org/drawingml/2006/main">
            <a:off x="7124700" y="283845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1D405A"/>
            </a:solidFill>
            <a:prstDash val="solid"/>
          </a:ln>
        </p:spPr>
      </p:sp>
      <p:sp>
        <p:nvSpPr>
          <p:cNvPr id="32" name="">
            <a:extLst xmlns:a="http://schemas.openxmlformats.org/drawingml/2006/main">
              <a:ext uri="{FF2B5EF4-FFF2-40B4-BE49-F238E27FC236}">
                <a16:creationId xmlns:a16="http://schemas.microsoft.com/office/drawing/2014/main" id="{059B39CB-6ABD-4FDD-8BDA-F62FA5EE346D}"/>
              </a:ext>
            </a:extLst>
          </p:cNvPr>
          <p:cNvSpPr>
            <a:spLocks xmlns:a="http://schemas.openxmlformats.org/drawingml/2006/main" noGrp="1"/>
          </p:cNvSpPr>
          <p:nvPr/>
        </p:nvSpPr>
        <p:spPr>
          <a:xfrm xmlns:a="http://schemas.openxmlformats.org/drawingml/2006/main">
            <a:off x="7277100" y="2981325"/>
            <a:ext cx="342900" cy="3429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7</a:t>
            </a:r>
          </a:p>
        </p:txBody>
      </p:sp>
      <p:sp>
        <p:nvSpPr>
          <p:cNvPr id="33" name="">
            <a:extLst xmlns:a="http://schemas.openxmlformats.org/drawingml/2006/main">
              <a:ext uri="{FF2B5EF4-FFF2-40B4-BE49-F238E27FC236}">
                <a16:creationId xmlns:a16="http://schemas.microsoft.com/office/drawing/2014/main" id="{983035C7-EA98-4846-9A1C-1C5A65C818F0}"/>
              </a:ext>
            </a:extLst>
          </p:cNvPr>
          <p:cNvSpPr>
            <a:spLocks xmlns:a="http://schemas.openxmlformats.org/drawingml/2006/main" noGrp="1"/>
          </p:cNvSpPr>
          <p:nvPr/>
        </p:nvSpPr>
        <p:spPr>
          <a:xfrm xmlns:a="http://schemas.openxmlformats.org/drawingml/2006/main">
            <a:off x="7753350" y="29146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Build tool surface</a:t>
            </a:r>
          </a:p>
        </p:txBody>
      </p:sp>
      <p:sp>
        <p:nvSpPr>
          <p:cNvPr id="34" name="">
            <a:extLst xmlns:a="http://schemas.openxmlformats.org/drawingml/2006/main">
              <a:ext uri="{FF2B5EF4-FFF2-40B4-BE49-F238E27FC236}">
                <a16:creationId xmlns:a16="http://schemas.microsoft.com/office/drawing/2014/main" id="{D652F3AF-A976-43CF-9CB5-6642B1EA23E5}"/>
              </a:ext>
            </a:extLst>
          </p:cNvPr>
          <p:cNvSpPr>
            <a:spLocks xmlns:a="http://schemas.openxmlformats.org/drawingml/2006/main" noGrp="1"/>
          </p:cNvSpPr>
          <p:nvPr/>
        </p:nvSpPr>
        <p:spPr>
          <a:xfrm xmlns:a="http://schemas.openxmlformats.org/drawingml/2006/main">
            <a:off x="7753350" y="31718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Catalog tools, workflows, guardrails, exporter</a:t>
            </a:r>
          </a:p>
        </p:txBody>
      </p:sp>
      <p:sp>
        <p:nvSpPr>
          <p:cNvPr id="35" name="">
            <a:extLst xmlns:a="http://schemas.openxmlformats.org/drawingml/2006/main">
              <a:ext uri="{FF2B5EF4-FFF2-40B4-BE49-F238E27FC236}">
                <a16:creationId xmlns:a16="http://schemas.microsoft.com/office/drawing/2014/main" id="{B9C0E7E4-3340-4FA6-BD20-6354DF8ED29D}"/>
              </a:ext>
            </a:extLst>
          </p:cNvPr>
          <p:cNvSpPr>
            <a:spLocks xmlns:a="http://schemas.openxmlformats.org/drawingml/2006/main" noGrp="1"/>
          </p:cNvSpPr>
          <p:nvPr/>
        </p:nvSpPr>
        <p:spPr>
          <a:xfrm xmlns:a="http://schemas.openxmlformats.org/drawingml/2006/main">
            <a:off x="7124700" y="371475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F4B942"/>
            </a:solidFill>
            <a:prstDash val="solid"/>
          </a:ln>
        </p:spPr>
      </p:sp>
      <p:sp>
        <p:nvSpPr>
          <p:cNvPr id="36" name="">
            <a:extLst xmlns:a="http://schemas.openxmlformats.org/drawingml/2006/main">
              <a:ext uri="{FF2B5EF4-FFF2-40B4-BE49-F238E27FC236}">
                <a16:creationId xmlns:a16="http://schemas.microsoft.com/office/drawing/2014/main" id="{3410BEC4-013D-4860-8561-9273616D1876}"/>
              </a:ext>
            </a:extLst>
          </p:cNvPr>
          <p:cNvSpPr>
            <a:spLocks xmlns:a="http://schemas.openxmlformats.org/drawingml/2006/main" noGrp="1"/>
          </p:cNvSpPr>
          <p:nvPr/>
        </p:nvSpPr>
        <p:spPr>
          <a:xfrm xmlns:a="http://schemas.openxmlformats.org/drawingml/2006/main">
            <a:off x="7277100" y="3857625"/>
            <a:ext cx="342900" cy="3429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8</a:t>
            </a:r>
          </a:p>
        </p:txBody>
      </p:sp>
      <p:sp>
        <p:nvSpPr>
          <p:cNvPr id="37" name="">
            <a:extLst xmlns:a="http://schemas.openxmlformats.org/drawingml/2006/main">
              <a:ext uri="{FF2B5EF4-FFF2-40B4-BE49-F238E27FC236}">
                <a16:creationId xmlns:a16="http://schemas.microsoft.com/office/drawing/2014/main" id="{C0A03A2D-54E4-4304-A535-5C1A62397FAE}"/>
              </a:ext>
            </a:extLst>
          </p:cNvPr>
          <p:cNvSpPr>
            <a:spLocks xmlns:a="http://schemas.openxmlformats.org/drawingml/2006/main" noGrp="1"/>
          </p:cNvSpPr>
          <p:nvPr/>
        </p:nvSpPr>
        <p:spPr>
          <a:xfrm xmlns:a="http://schemas.openxmlformats.org/drawingml/2006/main">
            <a:off x="7753350" y="3790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Initialize DAISY</a:t>
            </a:r>
          </a:p>
        </p:txBody>
      </p:sp>
      <p:sp>
        <p:nvSpPr>
          <p:cNvPr id="38" name="">
            <a:extLst xmlns:a="http://schemas.openxmlformats.org/drawingml/2006/main">
              <a:ext uri="{FF2B5EF4-FFF2-40B4-BE49-F238E27FC236}">
                <a16:creationId xmlns:a16="http://schemas.microsoft.com/office/drawing/2014/main" id="{B9DAC046-961A-47F9-B544-3EC8DBCCCA82}"/>
              </a:ext>
            </a:extLst>
          </p:cNvPr>
          <p:cNvSpPr>
            <a:spLocks xmlns:a="http://schemas.openxmlformats.org/drawingml/2006/main" noGrp="1"/>
          </p:cNvSpPr>
          <p:nvPr/>
        </p:nvSpPr>
        <p:spPr>
          <a:xfrm xmlns:a="http://schemas.openxmlformats.org/drawingml/2006/main">
            <a:off x="7753350" y="40481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Only when LLM configuration is available</a:t>
            </a:r>
          </a:p>
        </p:txBody>
      </p:sp>
      <p:sp>
        <p:nvSpPr>
          <p:cNvPr id="39" name="">
            <a:extLst xmlns:a="http://schemas.openxmlformats.org/drawingml/2006/main">
              <a:ext uri="{FF2B5EF4-FFF2-40B4-BE49-F238E27FC236}">
                <a16:creationId xmlns:a16="http://schemas.microsoft.com/office/drawing/2014/main" id="{1E4846AB-372E-41D6-8658-B2C5767BC6F0}"/>
              </a:ext>
            </a:extLst>
          </p:cNvPr>
          <p:cNvSpPr>
            <a:spLocks xmlns:a="http://schemas.openxmlformats.org/drawingml/2006/main" noGrp="1"/>
          </p:cNvSpPr>
          <p:nvPr/>
        </p:nvSpPr>
        <p:spPr>
          <a:xfrm xmlns:a="http://schemas.openxmlformats.org/drawingml/2006/main">
            <a:off x="7124700" y="4591050"/>
            <a:ext cx="40005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1D405A"/>
            </a:solidFill>
            <a:prstDash val="solid"/>
          </a:ln>
        </p:spPr>
      </p:sp>
      <p:sp>
        <p:nvSpPr>
          <p:cNvPr id="40" name="">
            <a:extLst xmlns:a="http://schemas.openxmlformats.org/drawingml/2006/main">
              <a:ext uri="{FF2B5EF4-FFF2-40B4-BE49-F238E27FC236}">
                <a16:creationId xmlns:a16="http://schemas.microsoft.com/office/drawing/2014/main" id="{FC192955-1429-4650-9FBC-75F3077AF3C3}"/>
              </a:ext>
            </a:extLst>
          </p:cNvPr>
          <p:cNvSpPr>
            <a:spLocks xmlns:a="http://schemas.openxmlformats.org/drawingml/2006/main" noGrp="1"/>
          </p:cNvSpPr>
          <p:nvPr/>
        </p:nvSpPr>
        <p:spPr>
          <a:xfrm xmlns:a="http://schemas.openxmlformats.org/drawingml/2006/main">
            <a:off x="7277100" y="4733925"/>
            <a:ext cx="342900" cy="3429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9</a:t>
            </a:r>
          </a:p>
        </p:txBody>
      </p:sp>
      <p:sp>
        <p:nvSpPr>
          <p:cNvPr id="41" name="">
            <a:extLst xmlns:a="http://schemas.openxmlformats.org/drawingml/2006/main">
              <a:ext uri="{FF2B5EF4-FFF2-40B4-BE49-F238E27FC236}">
                <a16:creationId xmlns:a16="http://schemas.microsoft.com/office/drawing/2014/main" id="{C629AE46-9059-401B-A05E-0CA4E7A43B51}"/>
              </a:ext>
            </a:extLst>
          </p:cNvPr>
          <p:cNvSpPr>
            <a:spLocks xmlns:a="http://schemas.openxmlformats.org/drawingml/2006/main" noGrp="1"/>
          </p:cNvSpPr>
          <p:nvPr/>
        </p:nvSpPr>
        <p:spPr>
          <a:xfrm xmlns:a="http://schemas.openxmlformats.org/drawingml/2006/main">
            <a:off x="7753350" y="46672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Render home</a:t>
            </a:r>
          </a:p>
        </p:txBody>
      </p:sp>
      <p:sp>
        <p:nvSpPr>
          <p:cNvPr id="42" name="">
            <a:extLst xmlns:a="http://schemas.openxmlformats.org/drawingml/2006/main">
              <a:ext uri="{FF2B5EF4-FFF2-40B4-BE49-F238E27FC236}">
                <a16:creationId xmlns:a16="http://schemas.microsoft.com/office/drawing/2014/main" id="{298A7F19-42A8-4B1C-8DF1-38211031642A}"/>
              </a:ext>
            </a:extLst>
          </p:cNvPr>
          <p:cNvSpPr>
            <a:spLocks xmlns:a="http://schemas.openxmlformats.org/drawingml/2006/main" noGrp="1"/>
          </p:cNvSpPr>
          <p:nvPr/>
        </p:nvSpPr>
        <p:spPr>
          <a:xfrm xmlns:a="http://schemas.openxmlformats.org/drawingml/2006/main">
            <a:off x="7753350" y="49244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0">
                <a:solidFill>
                  <a:srgbClr val="91A7BA"/>
                </a:solidFill>
              </a:defRPr>
            </a:pPr>
            <a:r>
              <a:rPr sz="1050" b="0">
                <a:solidFill>
                  <a:srgbClr val="91A7BA"/>
                </a:solidFill>
              </a:rPr>
              <a:t>Enter interactive daisy&gt; loop</a:t>
            </a:r>
          </a:p>
        </p:txBody>
      </p:sp>
      <p:cxnSp>
        <p:nvCxnSpPr>
          <p:cNvPr id="94" name=""/>
          <p:cNvCxnSpPr>
            <a:stCxn xmlns:a="http://schemas.openxmlformats.org/drawingml/2006/main" id="7" idx="2"/>
            <a:endCxn xmlns:a="http://schemas.openxmlformats.org/drawingml/2006/main" id="11" idx="0"/>
          </p:cNvCxnSpPr>
          <p:nvPr/>
        </p:nvCxnSpPr>
        <p:spPr>
          <a:xfrm xmlns:a="http://schemas.openxmlformats.org/drawingml/2006/main">
            <a:off x="3067050" y="2171700"/>
            <a:ext cx="0" cy="22860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95" name=""/>
          <p:cNvCxnSpPr>
            <a:stCxn xmlns:a="http://schemas.openxmlformats.org/drawingml/2006/main" id="11" idx="2"/>
            <a:endCxn xmlns:a="http://schemas.openxmlformats.org/drawingml/2006/main" id="15" idx="0"/>
          </p:cNvCxnSpPr>
          <p:nvPr/>
        </p:nvCxnSpPr>
        <p:spPr>
          <a:xfrm xmlns:a="http://schemas.openxmlformats.org/drawingml/2006/main">
            <a:off x="3067050" y="3048000"/>
            <a:ext cx="0" cy="22860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96" name=""/>
          <p:cNvCxnSpPr>
            <a:stCxn xmlns:a="http://schemas.openxmlformats.org/drawingml/2006/main" id="15" idx="2"/>
            <a:endCxn xmlns:a="http://schemas.openxmlformats.org/drawingml/2006/main" id="19" idx="0"/>
          </p:cNvCxnSpPr>
          <p:nvPr/>
        </p:nvCxnSpPr>
        <p:spPr>
          <a:xfrm xmlns:a="http://schemas.openxmlformats.org/drawingml/2006/main">
            <a:off x="3067050" y="3924300"/>
            <a:ext cx="0" cy="22860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97" name=""/>
          <p:cNvCxnSpPr>
            <a:stCxn xmlns:a="http://schemas.openxmlformats.org/drawingml/2006/main" id="19" idx="2"/>
            <a:endCxn xmlns:a="http://schemas.openxmlformats.org/drawingml/2006/main" id="23" idx="0"/>
          </p:cNvCxnSpPr>
          <p:nvPr/>
        </p:nvCxnSpPr>
        <p:spPr>
          <a:xfrm xmlns:a="http://schemas.openxmlformats.org/drawingml/2006/main">
            <a:off x="3067050" y="4800600"/>
            <a:ext cx="0" cy="22860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98" name=""/>
          <p:cNvCxnSpPr>
            <a:stCxn xmlns:a="http://schemas.openxmlformats.org/drawingml/2006/main" id="23" idx="3"/>
            <a:endCxn xmlns:a="http://schemas.openxmlformats.org/drawingml/2006/main" id="27" idx="1"/>
          </p:cNvCxnSpPr>
          <p:nvPr/>
        </p:nvCxnSpPr>
        <p:spPr>
          <a:xfrm xmlns:a="http://schemas.openxmlformats.org/drawingml/2006/main" flipV="1">
            <a:off x="5067300" y="2286000"/>
            <a:ext cx="2057400" cy="3067050"/>
          </a:xfrm>
          <a:prstGeom xmlns:a="http://schemas.openxmlformats.org/drawingml/2006/main" prst="bentConnector3">
            <a:avLst>
              <a:gd name="adj1" fmla="val 50000"/>
            </a:avLst>
          </a:prstGeom>
          <a:ln xmlns:a="http://schemas.openxmlformats.org/drawingml/2006/main" w="19050">
            <a:solidFill>
              <a:srgbClr val="40D9FF"/>
            </a:solidFill>
            <a:prstDash val="solid"/>
            <a:tailEnd type="arrow" w="med" len="med"/>
          </a:ln>
        </p:spPr>
      </p:cxnSp>
      <p:cxnSp>
        <p:nvCxnSpPr>
          <p:cNvPr id="99" name=""/>
          <p:cNvCxnSpPr>
            <a:stCxn xmlns:a="http://schemas.openxmlformats.org/drawingml/2006/main" id="27" idx="2"/>
            <a:endCxn xmlns:a="http://schemas.openxmlformats.org/drawingml/2006/main" id="31" idx="0"/>
          </p:cNvCxnSpPr>
          <p:nvPr/>
        </p:nvCxnSpPr>
        <p:spPr>
          <a:xfrm xmlns:a="http://schemas.openxmlformats.org/drawingml/2006/main">
            <a:off x="9124950" y="2609850"/>
            <a:ext cx="0" cy="22860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100" name=""/>
          <p:cNvCxnSpPr>
            <a:stCxn xmlns:a="http://schemas.openxmlformats.org/drawingml/2006/main" id="31" idx="2"/>
            <a:endCxn xmlns:a="http://schemas.openxmlformats.org/drawingml/2006/main" id="35" idx="0"/>
          </p:cNvCxnSpPr>
          <p:nvPr/>
        </p:nvCxnSpPr>
        <p:spPr>
          <a:xfrm xmlns:a="http://schemas.openxmlformats.org/drawingml/2006/main">
            <a:off x="9124950" y="3486150"/>
            <a:ext cx="0" cy="22860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101" name=""/>
          <p:cNvCxnSpPr>
            <a:stCxn xmlns:a="http://schemas.openxmlformats.org/drawingml/2006/main" id="35" idx="2"/>
            <a:endCxn xmlns:a="http://schemas.openxmlformats.org/drawingml/2006/main" id="39" idx="0"/>
          </p:cNvCxnSpPr>
          <p:nvPr/>
        </p:nvCxnSpPr>
        <p:spPr>
          <a:xfrm xmlns:a="http://schemas.openxmlformats.org/drawingml/2006/main">
            <a:off x="9124950" y="4362450"/>
            <a:ext cx="0" cy="22860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sp>
        <p:nvSpPr>
          <p:cNvPr id="51" name="">
            <a:extLst xmlns:a="http://schemas.openxmlformats.org/drawingml/2006/main">
              <a:ext uri="{FF2B5EF4-FFF2-40B4-BE49-F238E27FC236}">
                <a16:creationId xmlns:a16="http://schemas.microsoft.com/office/drawing/2014/main" id="{9091F06F-C467-40E7-873E-C85B3175C70B}"/>
              </a:ext>
            </a:extLst>
          </p:cNvPr>
          <p:cNvSpPr>
            <a:spLocks xmlns:a="http://schemas.openxmlformats.org/drawingml/2006/main" noGrp="1"/>
          </p:cNvSpPr>
          <p:nvPr/>
        </p:nvSpPr>
        <p:spPr>
          <a:xfrm xmlns:a="http://schemas.openxmlformats.org/drawingml/2006/main">
            <a:off x="7124700" y="55626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4B942"/>
                </a:solidFill>
              </a:defRPr>
            </a:pPr>
            <a:r>
              <a:rPr sz="1200" b="1">
                <a:solidFill>
                  <a:srgbClr val="F4B942"/>
                </a:solidFill>
              </a:rPr>
              <a:t>No catalog workflow starts if connection or authentication fails.</a:t>
            </a:r>
          </a:p>
        </p:txBody>
      </p:sp>
    </p:spTree>
    <p:extLst>
      <p:ext uri="{BB962C8B-B14F-4D97-AF65-F5344CB8AC3E}">
        <p14:creationId xmlns:p14="http://schemas.microsoft.com/office/powerpoint/2010/main" val="558741456"/>
      </p:ext>
    </p:extLst>
  </p:cSld>
</p:sld>
</file>

<file path=ppt/slides/slide7.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C3BEA85-9772-4DA5-A26E-94E79297980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2540AE35-B604-47A6-A1A7-6A1391FAED65}"/>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REQUEST PROCESSING</a:t>
            </a:r>
          </a:p>
        </p:txBody>
      </p:sp>
      <p:sp>
        <p:nvSpPr>
          <p:cNvPr id="3" name="slide-title">
            <a:extLst xmlns:a="http://schemas.openxmlformats.org/drawingml/2006/main">
              <a:ext uri="{FF2B5EF4-FFF2-40B4-BE49-F238E27FC236}">
                <a16:creationId xmlns:a16="http://schemas.microsoft.com/office/drawing/2014/main" id="{BD7B412B-7DA1-4C9E-AD1E-45A18445DF26}"/>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Every request passes ordered safety and routing gates</a:t>
            </a:r>
          </a:p>
        </p:txBody>
      </p:sp>
      <p:sp>
        <p:nvSpPr>
          <p:cNvPr id="4" name="">
            <a:extLst xmlns:a="http://schemas.openxmlformats.org/drawingml/2006/main">
              <a:ext uri="{FF2B5EF4-FFF2-40B4-BE49-F238E27FC236}">
                <a16:creationId xmlns:a16="http://schemas.microsoft.com/office/drawing/2014/main" id="{4F1AAAB3-2146-4133-AB0D-1D8EAC11F5D4}"/>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1792B48B-B04B-4756-AF1E-F6D60B4000A3}"/>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1D2568DC-3F46-4D70-B7CE-E34CC97EBD7F}"/>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07</a:t>
            </a:r>
          </a:p>
        </p:txBody>
      </p:sp>
      <p:sp>
        <p:nvSpPr>
          <p:cNvPr id="7" name="">
            <a:extLst xmlns:a="http://schemas.openxmlformats.org/drawingml/2006/main">
              <a:ext uri="{FF2B5EF4-FFF2-40B4-BE49-F238E27FC236}">
                <a16:creationId xmlns:a16="http://schemas.microsoft.com/office/drawing/2014/main" id="{D1E2AB3E-030A-4484-A059-8E5FF5257747}"/>
              </a:ext>
            </a:extLst>
          </p:cNvPr>
          <p:cNvSpPr>
            <a:spLocks xmlns:a="http://schemas.openxmlformats.org/drawingml/2006/main" noGrp="1"/>
          </p:cNvSpPr>
          <p:nvPr/>
        </p:nvSpPr>
        <p:spPr>
          <a:xfrm xmlns:a="http://schemas.openxmlformats.org/drawingml/2006/main">
            <a:off x="781050" y="14668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4B942"/>
                </a:solidFill>
              </a:defRPr>
            </a:pPr>
            <a:r>
              <a:rPr sz="1125" b="1">
                <a:solidFill>
                  <a:srgbClr val="F4B942"/>
                </a:solidFill>
              </a:rPr>
              <a:t>PRE-LLM DETERMINISTIC GATE</a:t>
            </a:r>
          </a:p>
        </p:txBody>
      </p:sp>
      <p:sp>
        <p:nvSpPr>
          <p:cNvPr id="8" name="">
            <a:extLst xmlns:a="http://schemas.openxmlformats.org/drawingml/2006/main">
              <a:ext uri="{FF2B5EF4-FFF2-40B4-BE49-F238E27FC236}">
                <a16:creationId xmlns:a16="http://schemas.microsoft.com/office/drawing/2014/main" id="{96F4B04C-87AA-4AD0-A435-60BE484305AC}"/>
              </a:ext>
            </a:extLst>
          </p:cNvPr>
          <p:cNvSpPr>
            <a:spLocks xmlns:a="http://schemas.openxmlformats.org/drawingml/2006/main" noGrp="1"/>
          </p:cNvSpPr>
          <p:nvPr/>
        </p:nvSpPr>
        <p:spPr>
          <a:xfrm xmlns:a="http://schemas.openxmlformats.org/drawingml/2006/main">
            <a:off x="6381750" y="14668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5D07F"/>
                </a:solidFill>
              </a:defRPr>
            </a:pPr>
            <a:r>
              <a:rPr sz="1125" b="1">
                <a:solidFill>
                  <a:srgbClr val="35D07F"/>
                </a:solidFill>
              </a:rPr>
              <a:t>LLM + PYTHON EXECUTION GATE</a:t>
            </a:r>
          </a:p>
        </p:txBody>
      </p:sp>
      <p:sp>
        <p:nvSpPr>
          <p:cNvPr id="9" name="">
            <a:extLst xmlns:a="http://schemas.openxmlformats.org/drawingml/2006/main">
              <a:ext uri="{FF2B5EF4-FFF2-40B4-BE49-F238E27FC236}">
                <a16:creationId xmlns:a16="http://schemas.microsoft.com/office/drawing/2014/main" id="{DE1CAADF-16B2-4EEE-A277-1C5595D83276}"/>
              </a:ext>
            </a:extLst>
          </p:cNvPr>
          <p:cNvSpPr>
            <a:spLocks xmlns:a="http://schemas.openxmlformats.org/drawingml/2006/main" noGrp="1"/>
          </p:cNvSpPr>
          <p:nvPr/>
        </p:nvSpPr>
        <p:spPr>
          <a:xfrm xmlns:a="http://schemas.openxmlformats.org/drawingml/2006/main">
            <a:off x="800100" y="188595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1</a:t>
            </a:r>
          </a:p>
        </p:txBody>
      </p:sp>
      <p:sp>
        <p:nvSpPr>
          <p:cNvPr id="10" name="">
            <a:extLst xmlns:a="http://schemas.openxmlformats.org/drawingml/2006/main">
              <a:ext uri="{FF2B5EF4-FFF2-40B4-BE49-F238E27FC236}">
                <a16:creationId xmlns:a16="http://schemas.microsoft.com/office/drawing/2014/main" id="{4554FE25-3722-45DA-B5B6-479A5C64FE23}"/>
              </a:ext>
            </a:extLst>
          </p:cNvPr>
          <p:cNvSpPr>
            <a:spLocks xmlns:a="http://schemas.openxmlformats.org/drawingml/2006/main" noGrp="1"/>
          </p:cNvSpPr>
          <p:nvPr/>
        </p:nvSpPr>
        <p:spPr>
          <a:xfrm xmlns:a="http://schemas.openxmlformats.org/drawingml/2006/main">
            <a:off x="1200150" y="183832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Slash / control command?</a:t>
            </a:r>
          </a:p>
        </p:txBody>
      </p:sp>
      <p:sp>
        <p:nvSpPr>
          <p:cNvPr id="11" name="">
            <a:extLst xmlns:a="http://schemas.openxmlformats.org/drawingml/2006/main">
              <a:ext uri="{FF2B5EF4-FFF2-40B4-BE49-F238E27FC236}">
                <a16:creationId xmlns:a16="http://schemas.microsoft.com/office/drawing/2014/main" id="{746853C1-BBB3-4E78-BE6C-8483F22FAB32}"/>
              </a:ext>
            </a:extLst>
          </p:cNvPr>
          <p:cNvSpPr>
            <a:spLocks xmlns:a="http://schemas.openxmlformats.org/drawingml/2006/main" noGrp="1"/>
          </p:cNvSpPr>
          <p:nvPr/>
        </p:nvSpPr>
        <p:spPr>
          <a:xfrm xmlns:a="http://schemas.openxmlformats.org/drawingml/2006/main">
            <a:off x="800100" y="2428875"/>
            <a:ext cx="285750" cy="28575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2</a:t>
            </a:r>
          </a:p>
        </p:txBody>
      </p:sp>
      <p:sp>
        <p:nvSpPr>
          <p:cNvPr id="12" name="">
            <a:extLst xmlns:a="http://schemas.openxmlformats.org/drawingml/2006/main">
              <a:ext uri="{FF2B5EF4-FFF2-40B4-BE49-F238E27FC236}">
                <a16:creationId xmlns:a16="http://schemas.microsoft.com/office/drawing/2014/main" id="{A724F48C-6514-454A-902B-8FBD413DFBDA}"/>
              </a:ext>
            </a:extLst>
          </p:cNvPr>
          <p:cNvSpPr>
            <a:spLocks xmlns:a="http://schemas.openxmlformats.org/drawingml/2006/main" noGrp="1"/>
          </p:cNvSpPr>
          <p:nvPr/>
        </p:nvSpPr>
        <p:spPr>
          <a:xfrm xmlns:a="http://schemas.openxmlformats.org/drawingml/2006/main">
            <a:off x="1200150" y="23812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Block mutation, utility or admin intent</a:t>
            </a:r>
          </a:p>
        </p:txBody>
      </p:sp>
      <p:sp>
        <p:nvSpPr>
          <p:cNvPr id="13" name="">
            <a:extLst xmlns:a="http://schemas.openxmlformats.org/drawingml/2006/main">
              <a:ext uri="{FF2B5EF4-FFF2-40B4-BE49-F238E27FC236}">
                <a16:creationId xmlns:a16="http://schemas.microsoft.com/office/drawing/2014/main" id="{44999D01-2042-4897-A499-5DAD75C44FCD}"/>
              </a:ext>
            </a:extLst>
          </p:cNvPr>
          <p:cNvSpPr>
            <a:spLocks xmlns:a="http://schemas.openxmlformats.org/drawingml/2006/main" noGrp="1"/>
          </p:cNvSpPr>
          <p:nvPr/>
        </p:nvSpPr>
        <p:spPr>
          <a:xfrm xmlns:a="http://schemas.openxmlformats.org/drawingml/2006/main">
            <a:off x="800100" y="297180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3</a:t>
            </a:r>
          </a:p>
        </p:txBody>
      </p:sp>
      <p:sp>
        <p:nvSpPr>
          <p:cNvPr id="14" name="">
            <a:extLst xmlns:a="http://schemas.openxmlformats.org/drawingml/2006/main">
              <a:ext uri="{FF2B5EF4-FFF2-40B4-BE49-F238E27FC236}">
                <a16:creationId xmlns:a16="http://schemas.microsoft.com/office/drawing/2014/main" id="{FDC060C3-9425-468B-8A74-51531873C6E3}"/>
              </a:ext>
            </a:extLst>
          </p:cNvPr>
          <p:cNvSpPr>
            <a:spLocks xmlns:a="http://schemas.openxmlformats.org/drawingml/2006/main" noGrp="1"/>
          </p:cNvSpPr>
          <p:nvPr/>
        </p:nvSpPr>
        <p:spPr>
          <a:xfrm xmlns:a="http://schemas.openxmlformats.org/drawingml/2006/main">
            <a:off x="1200150" y="292417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Resolve export shortcut or pending reply</a:t>
            </a:r>
          </a:p>
        </p:txBody>
      </p:sp>
      <p:sp>
        <p:nvSpPr>
          <p:cNvPr id="15" name="">
            <a:extLst xmlns:a="http://schemas.openxmlformats.org/drawingml/2006/main">
              <a:ext uri="{FF2B5EF4-FFF2-40B4-BE49-F238E27FC236}">
                <a16:creationId xmlns:a16="http://schemas.microsoft.com/office/drawing/2014/main" id="{7C9EEB8F-6B7F-46A3-90C5-23A47D0B1CEB}"/>
              </a:ext>
            </a:extLst>
          </p:cNvPr>
          <p:cNvSpPr>
            <a:spLocks xmlns:a="http://schemas.openxmlformats.org/drawingml/2006/main" noGrp="1"/>
          </p:cNvSpPr>
          <p:nvPr/>
        </p:nvSpPr>
        <p:spPr>
          <a:xfrm xmlns:a="http://schemas.openxmlformats.org/drawingml/2006/main">
            <a:off x="800100" y="3514725"/>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4</a:t>
            </a:r>
          </a:p>
        </p:txBody>
      </p:sp>
      <p:sp>
        <p:nvSpPr>
          <p:cNvPr id="16" name="">
            <a:extLst xmlns:a="http://schemas.openxmlformats.org/drawingml/2006/main">
              <a:ext uri="{FF2B5EF4-FFF2-40B4-BE49-F238E27FC236}">
                <a16:creationId xmlns:a16="http://schemas.microsoft.com/office/drawing/2014/main" id="{EC74A365-08B1-43B4-BB4D-5CDCDA547811}"/>
              </a:ext>
            </a:extLst>
          </p:cNvPr>
          <p:cNvSpPr>
            <a:spLocks xmlns:a="http://schemas.openxmlformats.org/drawingml/2006/main" noGrp="1"/>
          </p:cNvSpPr>
          <p:nvPr/>
        </p:nvSpPr>
        <p:spPr>
          <a:xfrm xmlns:a="http://schemas.openxmlformats.org/drawingml/2006/main">
            <a:off x="1200150" y="346710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Clarify ambiguous restrictive status</a:t>
            </a:r>
          </a:p>
        </p:txBody>
      </p:sp>
      <p:sp>
        <p:nvSpPr>
          <p:cNvPr id="17" name="">
            <a:extLst xmlns:a="http://schemas.openxmlformats.org/drawingml/2006/main">
              <a:ext uri="{FF2B5EF4-FFF2-40B4-BE49-F238E27FC236}">
                <a16:creationId xmlns:a16="http://schemas.microsoft.com/office/drawing/2014/main" id="{81CC41EE-CC7F-48A4-B54E-64FDCF1B69E3}"/>
              </a:ext>
            </a:extLst>
          </p:cNvPr>
          <p:cNvSpPr>
            <a:spLocks xmlns:a="http://schemas.openxmlformats.org/drawingml/2006/main" noGrp="1"/>
          </p:cNvSpPr>
          <p:nvPr/>
        </p:nvSpPr>
        <p:spPr>
          <a:xfrm xmlns:a="http://schemas.openxmlformats.org/drawingml/2006/main">
            <a:off x="800100" y="405765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5</a:t>
            </a:r>
          </a:p>
        </p:txBody>
      </p:sp>
      <p:sp>
        <p:nvSpPr>
          <p:cNvPr id="18" name="">
            <a:extLst xmlns:a="http://schemas.openxmlformats.org/drawingml/2006/main">
              <a:ext uri="{FF2B5EF4-FFF2-40B4-BE49-F238E27FC236}">
                <a16:creationId xmlns:a16="http://schemas.microsoft.com/office/drawing/2014/main" id="{497AA75F-4952-4D32-BD61-2D7E3AABD01A}"/>
              </a:ext>
            </a:extLst>
          </p:cNvPr>
          <p:cNvSpPr>
            <a:spLocks xmlns:a="http://schemas.openxmlformats.org/drawingml/2006/main" noGrp="1"/>
          </p:cNvSpPr>
          <p:nvPr/>
        </p:nvSpPr>
        <p:spPr>
          <a:xfrm xmlns:a="http://schemas.openxmlformats.org/drawingml/2006/main">
            <a:off x="1200150" y="401002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Parse pasted DISPLAY text</a:t>
            </a:r>
          </a:p>
        </p:txBody>
      </p:sp>
      <p:sp>
        <p:nvSpPr>
          <p:cNvPr id="19" name="">
            <a:extLst xmlns:a="http://schemas.openxmlformats.org/drawingml/2006/main">
              <a:ext uri="{FF2B5EF4-FFF2-40B4-BE49-F238E27FC236}">
                <a16:creationId xmlns:a16="http://schemas.microsoft.com/office/drawing/2014/main" id="{354FD242-5C0D-4002-B69E-35D6F67B6045}"/>
              </a:ext>
            </a:extLst>
          </p:cNvPr>
          <p:cNvSpPr>
            <a:spLocks xmlns:a="http://schemas.openxmlformats.org/drawingml/2006/main" noGrp="1"/>
          </p:cNvSpPr>
          <p:nvPr/>
        </p:nvSpPr>
        <p:spPr>
          <a:xfrm xmlns:a="http://schemas.openxmlformats.org/drawingml/2006/main">
            <a:off x="800100" y="4600575"/>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6</a:t>
            </a:r>
          </a:p>
        </p:txBody>
      </p:sp>
      <p:sp>
        <p:nvSpPr>
          <p:cNvPr id="20" name="">
            <a:extLst xmlns:a="http://schemas.openxmlformats.org/drawingml/2006/main">
              <a:ext uri="{FF2B5EF4-FFF2-40B4-BE49-F238E27FC236}">
                <a16:creationId xmlns:a16="http://schemas.microsoft.com/office/drawing/2014/main" id="{36149FD5-0B22-4527-973F-9B193DC69FA2}"/>
              </a:ext>
            </a:extLst>
          </p:cNvPr>
          <p:cNvSpPr>
            <a:spLocks xmlns:a="http://schemas.openxmlformats.org/drawingml/2006/main" noGrp="1"/>
          </p:cNvSpPr>
          <p:nvPr/>
        </p:nvSpPr>
        <p:spPr>
          <a:xfrm xmlns:a="http://schemas.openxmlformats.org/drawingml/2006/main">
            <a:off x="1200150" y="45529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Explain status code / metadata term</a:t>
            </a:r>
          </a:p>
        </p:txBody>
      </p:sp>
      <p:sp>
        <p:nvSpPr>
          <p:cNvPr id="21" name="">
            <a:extLst xmlns:a="http://schemas.openxmlformats.org/drawingml/2006/main">
              <a:ext uri="{FF2B5EF4-FFF2-40B4-BE49-F238E27FC236}">
                <a16:creationId xmlns:a16="http://schemas.microsoft.com/office/drawing/2014/main" id="{F19A76D3-D097-4570-9916-34DC338882A4}"/>
              </a:ext>
            </a:extLst>
          </p:cNvPr>
          <p:cNvSpPr>
            <a:spLocks xmlns:a="http://schemas.openxmlformats.org/drawingml/2006/main" noGrp="1"/>
          </p:cNvSpPr>
          <p:nvPr/>
        </p:nvSpPr>
        <p:spPr>
          <a:xfrm xmlns:a="http://schemas.openxmlformats.org/drawingml/2006/main">
            <a:off x="800100" y="514350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7</a:t>
            </a:r>
          </a:p>
        </p:txBody>
      </p:sp>
      <p:sp>
        <p:nvSpPr>
          <p:cNvPr id="22" name="">
            <a:extLst xmlns:a="http://schemas.openxmlformats.org/drawingml/2006/main">
              <a:ext uri="{FF2B5EF4-FFF2-40B4-BE49-F238E27FC236}">
                <a16:creationId xmlns:a16="http://schemas.microsoft.com/office/drawing/2014/main" id="{84672440-B8E1-4E31-B534-839521D1A5AF}"/>
              </a:ext>
            </a:extLst>
          </p:cNvPr>
          <p:cNvSpPr>
            <a:spLocks xmlns:a="http://schemas.openxmlformats.org/drawingml/2006/main" noGrp="1"/>
          </p:cNvSpPr>
          <p:nvPr/>
        </p:nvSpPr>
        <p:spPr>
          <a:xfrm xmlns:a="http://schemas.openxmlformats.org/drawingml/2006/main">
            <a:off x="1200150" y="509587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Apply scope, injection and secret guardrail</a:t>
            </a:r>
          </a:p>
        </p:txBody>
      </p:sp>
      <p:sp>
        <p:nvSpPr>
          <p:cNvPr id="23" name="">
            <a:extLst xmlns:a="http://schemas.openxmlformats.org/drawingml/2006/main">
              <a:ext uri="{FF2B5EF4-FFF2-40B4-BE49-F238E27FC236}">
                <a16:creationId xmlns:a16="http://schemas.microsoft.com/office/drawing/2014/main" id="{6874B872-2660-4D6B-AEC1-7EE04D7B04D5}"/>
              </a:ext>
            </a:extLst>
          </p:cNvPr>
          <p:cNvSpPr>
            <a:spLocks xmlns:a="http://schemas.openxmlformats.org/drawingml/2006/main" noGrp="1"/>
          </p:cNvSpPr>
          <p:nvPr/>
        </p:nvSpPr>
        <p:spPr>
          <a:xfrm xmlns:a="http://schemas.openxmlformats.org/drawingml/2006/main">
            <a:off x="6400800" y="188595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F5FAFF"/>
                </a:solidFill>
              </a:defRPr>
            </a:pPr>
            <a:r>
              <a:rPr sz="750" b="1">
                <a:solidFill>
                  <a:srgbClr val="F5FAFF"/>
                </a:solidFill>
              </a:rPr>
              <a:t>8</a:t>
            </a:r>
          </a:p>
        </p:txBody>
      </p:sp>
      <p:sp>
        <p:nvSpPr>
          <p:cNvPr id="24" name="">
            <a:extLst xmlns:a="http://schemas.openxmlformats.org/drawingml/2006/main">
              <a:ext uri="{FF2B5EF4-FFF2-40B4-BE49-F238E27FC236}">
                <a16:creationId xmlns:a16="http://schemas.microsoft.com/office/drawing/2014/main" id="{BD6B9888-7BA6-4E53-B018-01D8AB5B701C}"/>
              </a:ext>
            </a:extLst>
          </p:cNvPr>
          <p:cNvSpPr>
            <a:spLocks xmlns:a="http://schemas.openxmlformats.org/drawingml/2006/main" noGrp="1"/>
          </p:cNvSpPr>
          <p:nvPr/>
        </p:nvSpPr>
        <p:spPr>
          <a:xfrm xmlns:a="http://schemas.openxmlformats.org/drawingml/2006/main">
            <a:off x="6800850" y="183832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LLM returns strict JSON route</a:t>
            </a:r>
          </a:p>
        </p:txBody>
      </p:sp>
      <p:sp>
        <p:nvSpPr>
          <p:cNvPr id="25" name="">
            <a:extLst xmlns:a="http://schemas.openxmlformats.org/drawingml/2006/main">
              <a:ext uri="{FF2B5EF4-FFF2-40B4-BE49-F238E27FC236}">
                <a16:creationId xmlns:a16="http://schemas.microsoft.com/office/drawing/2014/main" id="{A4D6A1AA-6502-4883-B2D8-AB6C126329EA}"/>
              </a:ext>
            </a:extLst>
          </p:cNvPr>
          <p:cNvSpPr>
            <a:spLocks xmlns:a="http://schemas.openxmlformats.org/drawingml/2006/main" noGrp="1"/>
          </p:cNvSpPr>
          <p:nvPr/>
        </p:nvSpPr>
        <p:spPr>
          <a:xfrm xmlns:a="http://schemas.openxmlformats.org/drawingml/2006/main">
            <a:off x="6400800" y="2428875"/>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F5FAFF"/>
                </a:solidFill>
              </a:defRPr>
            </a:pPr>
            <a:r>
              <a:rPr sz="750" b="1">
                <a:solidFill>
                  <a:srgbClr val="F5FAFF"/>
                </a:solidFill>
              </a:rPr>
              <a:t>9</a:t>
            </a:r>
          </a:p>
        </p:txBody>
      </p:sp>
      <p:sp>
        <p:nvSpPr>
          <p:cNvPr id="26" name="">
            <a:extLst xmlns:a="http://schemas.openxmlformats.org/drawingml/2006/main">
              <a:ext uri="{FF2B5EF4-FFF2-40B4-BE49-F238E27FC236}">
                <a16:creationId xmlns:a16="http://schemas.microsoft.com/office/drawing/2014/main" id="{57FD93CB-7717-45B9-B892-D726B519EBBC}"/>
              </a:ext>
            </a:extLst>
          </p:cNvPr>
          <p:cNvSpPr>
            <a:spLocks xmlns:a="http://schemas.openxmlformats.org/drawingml/2006/main" noGrp="1"/>
          </p:cNvSpPr>
          <p:nvPr/>
        </p:nvSpPr>
        <p:spPr>
          <a:xfrm xmlns:a="http://schemas.openxmlformats.org/drawingml/2006/main">
            <a:off x="6800850" y="23812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Normalize tool name and arguments</a:t>
            </a:r>
          </a:p>
        </p:txBody>
      </p:sp>
      <p:sp>
        <p:nvSpPr>
          <p:cNvPr id="27" name="">
            <a:extLst xmlns:a="http://schemas.openxmlformats.org/drawingml/2006/main">
              <a:ext uri="{FF2B5EF4-FFF2-40B4-BE49-F238E27FC236}">
                <a16:creationId xmlns:a16="http://schemas.microsoft.com/office/drawing/2014/main" id="{9CA038C8-254E-4AC9-8278-8FEAD8A81562}"/>
              </a:ext>
            </a:extLst>
          </p:cNvPr>
          <p:cNvSpPr>
            <a:spLocks xmlns:a="http://schemas.openxmlformats.org/drawingml/2006/main" noGrp="1"/>
          </p:cNvSpPr>
          <p:nvPr/>
        </p:nvSpPr>
        <p:spPr>
          <a:xfrm xmlns:a="http://schemas.openxmlformats.org/drawingml/2006/main">
            <a:off x="6400800" y="297180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F5FAFF"/>
                </a:solidFill>
              </a:defRPr>
            </a:pPr>
            <a:r>
              <a:rPr sz="750" b="1">
                <a:solidFill>
                  <a:srgbClr val="F5FAFF"/>
                </a:solidFill>
              </a:rPr>
              <a:t>10</a:t>
            </a:r>
          </a:p>
        </p:txBody>
      </p:sp>
      <p:sp>
        <p:nvSpPr>
          <p:cNvPr id="28" name="">
            <a:extLst xmlns:a="http://schemas.openxmlformats.org/drawingml/2006/main">
              <a:ext uri="{FF2B5EF4-FFF2-40B4-BE49-F238E27FC236}">
                <a16:creationId xmlns:a16="http://schemas.microsoft.com/office/drawing/2014/main" id="{81E9EAB3-4C8B-458D-980D-A7F6A2F98827}"/>
              </a:ext>
            </a:extLst>
          </p:cNvPr>
          <p:cNvSpPr>
            <a:spLocks xmlns:a="http://schemas.openxmlformats.org/drawingml/2006/main" noGrp="1"/>
          </p:cNvSpPr>
          <p:nvPr/>
        </p:nvSpPr>
        <p:spPr>
          <a:xfrm xmlns:a="http://schemas.openxmlformats.org/drawingml/2006/main">
            <a:off x="6800850" y="292417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Repair safe near-misses</a:t>
            </a:r>
          </a:p>
        </p:txBody>
      </p:sp>
      <p:sp>
        <p:nvSpPr>
          <p:cNvPr id="29" name="">
            <a:extLst xmlns:a="http://schemas.openxmlformats.org/drawingml/2006/main">
              <a:ext uri="{FF2B5EF4-FFF2-40B4-BE49-F238E27FC236}">
                <a16:creationId xmlns:a16="http://schemas.microsoft.com/office/drawing/2014/main" id="{C2FDD42F-DBA3-46C9-9220-E1B2D4517793}"/>
              </a:ext>
            </a:extLst>
          </p:cNvPr>
          <p:cNvSpPr>
            <a:spLocks xmlns:a="http://schemas.openxmlformats.org/drawingml/2006/main" noGrp="1"/>
          </p:cNvSpPr>
          <p:nvPr/>
        </p:nvSpPr>
        <p:spPr>
          <a:xfrm xmlns:a="http://schemas.openxmlformats.org/drawingml/2006/main">
            <a:off x="6400800" y="3514725"/>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F5FAFF"/>
                </a:solidFill>
              </a:defRPr>
            </a:pPr>
            <a:r>
              <a:rPr sz="750" b="1">
                <a:solidFill>
                  <a:srgbClr val="F5FAFF"/>
                </a:solidFill>
              </a:rPr>
              <a:t>11</a:t>
            </a:r>
          </a:p>
        </p:txBody>
      </p:sp>
      <p:sp>
        <p:nvSpPr>
          <p:cNvPr id="30" name="">
            <a:extLst xmlns:a="http://schemas.openxmlformats.org/drawingml/2006/main">
              <a:ext uri="{FF2B5EF4-FFF2-40B4-BE49-F238E27FC236}">
                <a16:creationId xmlns:a16="http://schemas.microsoft.com/office/drawing/2014/main" id="{2F317E24-E644-459F-B23F-7896A6D93C0B}"/>
              </a:ext>
            </a:extLst>
          </p:cNvPr>
          <p:cNvSpPr>
            <a:spLocks xmlns:a="http://schemas.openxmlformats.org/drawingml/2006/main" noGrp="1"/>
          </p:cNvSpPr>
          <p:nvPr/>
        </p:nvSpPr>
        <p:spPr>
          <a:xfrm xmlns:a="http://schemas.openxmlformats.org/drawingml/2006/main">
            <a:off x="6800850" y="346710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Clarify unresolved ambiguity</a:t>
            </a:r>
          </a:p>
        </p:txBody>
      </p:sp>
      <p:sp>
        <p:nvSpPr>
          <p:cNvPr id="31" name="">
            <a:extLst xmlns:a="http://schemas.openxmlformats.org/drawingml/2006/main">
              <a:ext uri="{FF2B5EF4-FFF2-40B4-BE49-F238E27FC236}">
                <a16:creationId xmlns:a16="http://schemas.microsoft.com/office/drawing/2014/main" id="{72852780-8549-40D3-BEC6-1000A0FFB871}"/>
              </a:ext>
            </a:extLst>
          </p:cNvPr>
          <p:cNvSpPr>
            <a:spLocks xmlns:a="http://schemas.openxmlformats.org/drawingml/2006/main" noGrp="1"/>
          </p:cNvSpPr>
          <p:nvPr/>
        </p:nvSpPr>
        <p:spPr>
          <a:xfrm xmlns:a="http://schemas.openxmlformats.org/drawingml/2006/main">
            <a:off x="6400800" y="405765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F5FAFF"/>
                </a:solidFill>
              </a:defRPr>
            </a:pPr>
            <a:r>
              <a:rPr sz="750" b="1">
                <a:solidFill>
                  <a:srgbClr val="F5FAFF"/>
                </a:solidFill>
              </a:rPr>
              <a:t>12</a:t>
            </a:r>
          </a:p>
        </p:txBody>
      </p:sp>
      <p:sp>
        <p:nvSpPr>
          <p:cNvPr id="32" name="">
            <a:extLst xmlns:a="http://schemas.openxmlformats.org/drawingml/2006/main">
              <a:ext uri="{FF2B5EF4-FFF2-40B4-BE49-F238E27FC236}">
                <a16:creationId xmlns:a16="http://schemas.microsoft.com/office/drawing/2014/main" id="{4F9440DF-CDBF-45F5-A67A-5C0B9ED6A422}"/>
              </a:ext>
            </a:extLst>
          </p:cNvPr>
          <p:cNvSpPr>
            <a:spLocks xmlns:a="http://schemas.openxmlformats.org/drawingml/2006/main" noGrp="1"/>
          </p:cNvSpPr>
          <p:nvPr/>
        </p:nvSpPr>
        <p:spPr>
          <a:xfrm xmlns:a="http://schemas.openxmlformats.org/drawingml/2006/main">
            <a:off x="6800850" y="401002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Block invalid or unapproved route</a:t>
            </a:r>
          </a:p>
        </p:txBody>
      </p:sp>
      <p:sp>
        <p:nvSpPr>
          <p:cNvPr id="33" name="">
            <a:extLst xmlns:a="http://schemas.openxmlformats.org/drawingml/2006/main">
              <a:ext uri="{FF2B5EF4-FFF2-40B4-BE49-F238E27FC236}">
                <a16:creationId xmlns:a16="http://schemas.microsoft.com/office/drawing/2014/main" id="{1D560A00-08AA-4E97-B1FC-7C8131F87BD4}"/>
              </a:ext>
            </a:extLst>
          </p:cNvPr>
          <p:cNvSpPr>
            <a:spLocks xmlns:a="http://schemas.openxmlformats.org/drawingml/2006/main" noGrp="1"/>
          </p:cNvSpPr>
          <p:nvPr/>
        </p:nvSpPr>
        <p:spPr>
          <a:xfrm xmlns:a="http://schemas.openxmlformats.org/drawingml/2006/main">
            <a:off x="6400800" y="4600575"/>
            <a:ext cx="285750" cy="28575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F5FAFF"/>
                </a:solidFill>
              </a:defRPr>
            </a:pPr>
            <a:r>
              <a:rPr sz="750" b="1">
                <a:solidFill>
                  <a:srgbClr val="F5FAFF"/>
                </a:solidFill>
              </a:rPr>
              <a:t>13</a:t>
            </a:r>
          </a:p>
        </p:txBody>
      </p:sp>
      <p:sp>
        <p:nvSpPr>
          <p:cNvPr id="34" name="">
            <a:extLst xmlns:a="http://schemas.openxmlformats.org/drawingml/2006/main">
              <a:ext uri="{FF2B5EF4-FFF2-40B4-BE49-F238E27FC236}">
                <a16:creationId xmlns:a16="http://schemas.microsoft.com/office/drawing/2014/main" id="{3B934623-0771-4C0E-8756-3F6ECBA3B909}"/>
              </a:ext>
            </a:extLst>
          </p:cNvPr>
          <p:cNvSpPr>
            <a:spLocks xmlns:a="http://schemas.openxmlformats.org/drawingml/2006/main" noGrp="1"/>
          </p:cNvSpPr>
          <p:nvPr/>
        </p:nvSpPr>
        <p:spPr>
          <a:xfrm xmlns:a="http://schemas.openxmlformats.org/drawingml/2006/main">
            <a:off x="6800850" y="4552950"/>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Dispatch through approved registry only</a:t>
            </a:r>
          </a:p>
        </p:txBody>
      </p:sp>
      <p:sp>
        <p:nvSpPr>
          <p:cNvPr id="35" name="">
            <a:extLst xmlns:a="http://schemas.openxmlformats.org/drawingml/2006/main">
              <a:ext uri="{FF2B5EF4-FFF2-40B4-BE49-F238E27FC236}">
                <a16:creationId xmlns:a16="http://schemas.microsoft.com/office/drawing/2014/main" id="{D75F7FF9-4DB6-4147-86BE-743178BDE94C}"/>
              </a:ext>
            </a:extLst>
          </p:cNvPr>
          <p:cNvSpPr>
            <a:spLocks xmlns:a="http://schemas.openxmlformats.org/drawingml/2006/main" noGrp="1"/>
          </p:cNvSpPr>
          <p:nvPr/>
        </p:nvSpPr>
        <p:spPr>
          <a:xfrm xmlns:a="http://schemas.openxmlformats.org/drawingml/2006/main">
            <a:off x="6400800" y="5143500"/>
            <a:ext cx="285750" cy="2857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750" b="1">
                <a:solidFill>
                  <a:srgbClr val="F5FAFF"/>
                </a:solidFill>
              </a:defRPr>
            </a:pPr>
            <a:r>
              <a:rPr sz="750" b="1">
                <a:solidFill>
                  <a:srgbClr val="F5FAFF"/>
                </a:solidFill>
              </a:rPr>
              <a:t>14</a:t>
            </a:r>
          </a:p>
        </p:txBody>
      </p:sp>
      <p:sp>
        <p:nvSpPr>
          <p:cNvPr id="36" name="">
            <a:extLst xmlns:a="http://schemas.openxmlformats.org/drawingml/2006/main">
              <a:ext uri="{FF2B5EF4-FFF2-40B4-BE49-F238E27FC236}">
                <a16:creationId xmlns:a16="http://schemas.microsoft.com/office/drawing/2014/main" id="{262A5D6C-009C-4BF6-97B6-4E3673F08457}"/>
              </a:ext>
            </a:extLst>
          </p:cNvPr>
          <p:cNvSpPr>
            <a:spLocks xmlns:a="http://schemas.openxmlformats.org/drawingml/2006/main" noGrp="1"/>
          </p:cNvSpPr>
          <p:nvPr/>
        </p:nvSpPr>
        <p:spPr>
          <a:xfrm xmlns:a="http://schemas.openxmlformats.org/drawingml/2006/main">
            <a:off x="6800850" y="5095875"/>
            <a:ext cx="4305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Render and preserve evidence state</a:t>
            </a:r>
          </a:p>
        </p:txBody>
      </p:sp>
      <p:sp>
        <p:nvSpPr>
          <p:cNvPr id="37" name="">
            <a:extLst xmlns:a="http://schemas.openxmlformats.org/drawingml/2006/main">
              <a:ext uri="{FF2B5EF4-FFF2-40B4-BE49-F238E27FC236}">
                <a16:creationId xmlns:a16="http://schemas.microsoft.com/office/drawing/2014/main" id="{7CAC060A-0625-4E08-8596-FB3B93A037B6}"/>
              </a:ext>
            </a:extLst>
          </p:cNvPr>
          <p:cNvSpPr>
            <a:spLocks xmlns:a="http://schemas.openxmlformats.org/drawingml/2006/main" noGrp="1"/>
          </p:cNvSpPr>
          <p:nvPr/>
        </p:nvSpPr>
        <p:spPr>
          <a:xfrm xmlns:a="http://schemas.openxmlformats.org/drawingml/2006/main">
            <a:off x="5905500" y="1466850"/>
            <a:ext cx="19050" cy="4114800"/>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38" name="">
            <a:extLst xmlns:a="http://schemas.openxmlformats.org/drawingml/2006/main">
              <a:ext uri="{FF2B5EF4-FFF2-40B4-BE49-F238E27FC236}">
                <a16:creationId xmlns:a16="http://schemas.microsoft.com/office/drawing/2014/main" id="{902A3985-5109-4CD3-BCF1-3A7D429E268B}"/>
              </a:ext>
            </a:extLst>
          </p:cNvPr>
          <p:cNvSpPr>
            <a:spLocks xmlns:a="http://schemas.openxmlformats.org/drawingml/2006/main" noGrp="1"/>
          </p:cNvSpPr>
          <p:nvPr/>
        </p:nvSpPr>
        <p:spPr>
          <a:xfrm xmlns:a="http://schemas.openxmlformats.org/drawingml/2006/main">
            <a:off x="685800" y="5791200"/>
            <a:ext cx="10820400" cy="400050"/>
          </a:xfrm>
          <a:prstGeom xmlns:a="http://schemas.openxmlformats.org/drawingml/2006/main" prst="roundRect">
            <a:avLst>
              <a:gd name="adj" fmla="val 28571"/>
            </a:avLst>
          </a:prstGeom>
          <a:solidFill xmlns:a="http://schemas.openxmlformats.org/drawingml/2006/main">
            <a:srgbClr val="143A55"/>
          </a:solidFill>
          <a:ln xmlns:a="http://schemas.openxmlformats.org/drawingml/2006/main" w="9525">
            <a:solidFill>
              <a:srgbClr val="40D9FF"/>
            </a:solidFill>
            <a:prstDash val="solid"/>
          </a:ln>
        </p:spPr>
      </p:sp>
      <p:sp>
        <p:nvSpPr>
          <p:cNvPr id="39" name="">
            <a:extLst xmlns:a="http://schemas.openxmlformats.org/drawingml/2006/main">
              <a:ext uri="{FF2B5EF4-FFF2-40B4-BE49-F238E27FC236}">
                <a16:creationId xmlns:a16="http://schemas.microsoft.com/office/drawing/2014/main" id="{CC924A87-EA3E-4AF0-A4FC-1320CB48F8E5}"/>
              </a:ext>
            </a:extLst>
          </p:cNvPr>
          <p:cNvSpPr>
            <a:spLocks xmlns:a="http://schemas.openxmlformats.org/drawingml/2006/main" noGrp="1"/>
          </p:cNvSpPr>
          <p:nvPr/>
        </p:nvSpPr>
        <p:spPr>
          <a:xfrm xmlns:a="http://schemas.openxmlformats.org/drawingml/2006/main">
            <a:off x="876300" y="5848350"/>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Ordering matters: high-risk and ambiguous status requests are handled before the LLM can select a route.</a:t>
            </a:r>
          </a:p>
        </p:txBody>
      </p:sp>
    </p:spTree>
    <p:extLst>
      <p:ext uri="{BB962C8B-B14F-4D97-AF65-F5344CB8AC3E}">
        <p14:creationId xmlns:p14="http://schemas.microsoft.com/office/powerpoint/2010/main" val="613272495"/>
      </p:ext>
    </p:extLst>
  </p:cSld>
</p:sld>
</file>

<file path=ppt/slides/slide8.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C83E7C-F5DC-4EBB-9891-164A4D05B272}"/>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0CF9C0AE-1163-452E-BA32-0D335B317BF1}"/>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ROUTING AND VALIDATION</a:t>
            </a:r>
          </a:p>
        </p:txBody>
      </p:sp>
      <p:sp>
        <p:nvSpPr>
          <p:cNvPr id="3" name="slide-title">
            <a:extLst xmlns:a="http://schemas.openxmlformats.org/drawingml/2006/main">
              <a:ext uri="{FF2B5EF4-FFF2-40B4-BE49-F238E27FC236}">
                <a16:creationId xmlns:a16="http://schemas.microsoft.com/office/drawing/2014/main" id="{43B6D0F4-A03E-4766-8F06-5D04E02E47B2}"/>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Natural language selects intent - never executable SQL</a:t>
            </a:r>
          </a:p>
        </p:txBody>
      </p:sp>
      <p:sp>
        <p:nvSpPr>
          <p:cNvPr id="4" name="">
            <a:extLst xmlns:a="http://schemas.openxmlformats.org/drawingml/2006/main">
              <a:ext uri="{FF2B5EF4-FFF2-40B4-BE49-F238E27FC236}">
                <a16:creationId xmlns:a16="http://schemas.microsoft.com/office/drawing/2014/main" id="{FA2756C5-0C69-4C15-904E-D0EDEB125B45}"/>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F0196580-3DDF-4780-9E07-5980EC3F4C13}"/>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25BC7C72-B105-4750-953D-6BBF47BE5274}"/>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08</a:t>
            </a:r>
          </a:p>
        </p:txBody>
      </p:sp>
      <p:sp>
        <p:nvSpPr>
          <p:cNvPr id="7" name="">
            <a:extLst xmlns:a="http://schemas.openxmlformats.org/drawingml/2006/main">
              <a:ext uri="{FF2B5EF4-FFF2-40B4-BE49-F238E27FC236}">
                <a16:creationId xmlns:a16="http://schemas.microsoft.com/office/drawing/2014/main" id="{B46824D7-0E64-4667-BBD4-8E25A2A16281}"/>
              </a:ext>
            </a:extLst>
          </p:cNvPr>
          <p:cNvSpPr>
            <a:spLocks xmlns:a="http://schemas.openxmlformats.org/drawingml/2006/main" noGrp="1"/>
          </p:cNvSpPr>
          <p:nvPr/>
        </p:nvSpPr>
        <p:spPr>
          <a:xfrm xmlns:a="http://schemas.openxmlformats.org/drawingml/2006/main">
            <a:off x="685800" y="1790700"/>
            <a:ext cx="2038350" cy="876300"/>
          </a:xfrm>
          <a:prstGeom xmlns:a="http://schemas.openxmlformats.org/drawingml/2006/main" prst="roundRect">
            <a:avLst>
              <a:gd name="adj" fmla="val 13043"/>
            </a:avLst>
          </a:prstGeom>
          <a:solidFill xmlns:a="http://schemas.openxmlformats.org/drawingml/2006/main">
            <a:srgbClr val="143A55"/>
          </a:solidFill>
          <a:ln xmlns:a="http://schemas.openxmlformats.org/drawingml/2006/main" w="9525">
            <a:solidFill>
              <a:srgbClr val="40D9FF"/>
            </a:solidFill>
            <a:prstDash val="solid"/>
          </a:ln>
        </p:spPr>
      </p:sp>
      <p:sp>
        <p:nvSpPr>
          <p:cNvPr id="8" name="">
            <a:extLst xmlns:a="http://schemas.openxmlformats.org/drawingml/2006/main">
              <a:ext uri="{FF2B5EF4-FFF2-40B4-BE49-F238E27FC236}">
                <a16:creationId xmlns:a16="http://schemas.microsoft.com/office/drawing/2014/main" id="{08A67F20-7C4F-4E6F-A9C7-78ED89AE5DF0}"/>
              </a:ext>
            </a:extLst>
          </p:cNvPr>
          <p:cNvSpPr>
            <a:spLocks xmlns:a="http://schemas.openxmlformats.org/drawingml/2006/main" noGrp="1"/>
          </p:cNvSpPr>
          <p:nvPr/>
        </p:nvSpPr>
        <p:spPr>
          <a:xfrm xmlns:a="http://schemas.openxmlformats.org/drawingml/2006/main">
            <a:off x="876300" y="1924050"/>
            <a:ext cx="165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40D9FF"/>
                </a:solidFill>
              </a:defRPr>
            </a:pPr>
            <a:r>
              <a:rPr sz="1050" b="1">
                <a:solidFill>
                  <a:srgbClr val="40D9FF"/>
                </a:solidFill>
              </a:rPr>
              <a:t>QUESTION</a:t>
            </a:r>
          </a:p>
        </p:txBody>
      </p:sp>
      <p:sp>
        <p:nvSpPr>
          <p:cNvPr id="9" name="">
            <a:extLst xmlns:a="http://schemas.openxmlformats.org/drawingml/2006/main">
              <a:ext uri="{FF2B5EF4-FFF2-40B4-BE49-F238E27FC236}">
                <a16:creationId xmlns:a16="http://schemas.microsoft.com/office/drawing/2014/main" id="{B1175BDA-AAB4-4F89-BF19-A2DEF4655A63}"/>
              </a:ext>
            </a:extLst>
          </p:cNvPr>
          <p:cNvSpPr>
            <a:spLocks xmlns:a="http://schemas.openxmlformats.org/drawingml/2006/main" noGrp="1"/>
          </p:cNvSpPr>
          <p:nvPr/>
        </p:nvSpPr>
        <p:spPr>
          <a:xfrm xmlns:a="http://schemas.openxmlformats.org/drawingml/2006/main">
            <a:off x="838200" y="2209800"/>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F5FAFF"/>
                </a:solidFill>
              </a:defRPr>
            </a:pPr>
            <a:r>
              <a:rPr sz="1050" b="0">
                <a:solidFill>
                  <a:srgbClr val="F5FAFF"/>
                </a:solidFill>
              </a:rPr>
              <a:t>"Impact for</a:t>
            </a:r>
          </a:p>
          <a:p xmlns:a="http://schemas.openxmlformats.org/drawingml/2006/main">
            <a:pPr algn="ctr">
              <a:defRPr sz="1050" b="0">
                <a:solidFill>
                  <a:srgbClr val="F5FAFF"/>
                </a:solidFill>
              </a:defRPr>
            </a:pPr>
            <a:r>
              <a:rPr sz="1050" b="0">
                <a:solidFill>
                  <a:srgbClr val="F5FAFF"/>
                </a:solidFill>
              </a:rPr>
              <a:t>&lt;SCHEMA&gt;.&lt;TABLE&gt;"</a:t>
            </a:r>
          </a:p>
        </p:txBody>
      </p:sp>
      <p:sp>
        <p:nvSpPr>
          <p:cNvPr id="10" name="">
            <a:extLst xmlns:a="http://schemas.openxmlformats.org/drawingml/2006/main">
              <a:ext uri="{FF2B5EF4-FFF2-40B4-BE49-F238E27FC236}">
                <a16:creationId xmlns:a16="http://schemas.microsoft.com/office/drawing/2014/main" id="{FBC5F3FD-2927-4E52-BB0D-3274DBAF13BF}"/>
              </a:ext>
            </a:extLst>
          </p:cNvPr>
          <p:cNvSpPr>
            <a:spLocks xmlns:a="http://schemas.openxmlformats.org/drawingml/2006/main" noGrp="1"/>
          </p:cNvSpPr>
          <p:nvPr/>
        </p:nvSpPr>
        <p:spPr>
          <a:xfrm xmlns:a="http://schemas.openxmlformats.org/drawingml/2006/main">
            <a:off x="3200400" y="1676400"/>
            <a:ext cx="2038350" cy="1104900"/>
          </a:xfrm>
          <a:prstGeom xmlns:a="http://schemas.openxmlformats.org/drawingml/2006/main" prst="roundRect">
            <a:avLst>
              <a:gd name="adj" fmla="val 10345"/>
            </a:avLst>
          </a:prstGeom>
          <a:solidFill xmlns:a="http://schemas.openxmlformats.org/drawingml/2006/main">
            <a:srgbClr val="102A43"/>
          </a:solidFill>
          <a:ln xmlns:a="http://schemas.openxmlformats.org/drawingml/2006/main" w="9525">
            <a:solidFill>
              <a:srgbClr val="F4B942"/>
            </a:solidFill>
            <a:prstDash val="solid"/>
          </a:ln>
        </p:spPr>
      </p:sp>
      <p:sp>
        <p:nvSpPr>
          <p:cNvPr id="11" name="">
            <a:extLst xmlns:a="http://schemas.openxmlformats.org/drawingml/2006/main">
              <a:ext uri="{FF2B5EF4-FFF2-40B4-BE49-F238E27FC236}">
                <a16:creationId xmlns:a16="http://schemas.microsoft.com/office/drawing/2014/main" id="{F8A7C277-0C78-41DB-A0DD-E0E99DF79469}"/>
              </a:ext>
            </a:extLst>
          </p:cNvPr>
          <p:cNvSpPr>
            <a:spLocks xmlns:a="http://schemas.openxmlformats.org/drawingml/2006/main" noGrp="1"/>
          </p:cNvSpPr>
          <p:nvPr/>
        </p:nvSpPr>
        <p:spPr>
          <a:xfrm xmlns:a="http://schemas.openxmlformats.org/drawingml/2006/main">
            <a:off x="3352800" y="180975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4B942"/>
                </a:solidFill>
              </a:defRPr>
            </a:pPr>
            <a:r>
              <a:rPr sz="1050" b="1">
                <a:solidFill>
                  <a:srgbClr val="F4B942"/>
                </a:solidFill>
              </a:rPr>
              <a:t>DETERMINISTIC PRE-ROUTES</a:t>
            </a:r>
          </a:p>
        </p:txBody>
      </p:sp>
      <p:sp>
        <p:nvSpPr>
          <p:cNvPr id="12" name="">
            <a:extLst xmlns:a="http://schemas.openxmlformats.org/drawingml/2006/main">
              <a:ext uri="{FF2B5EF4-FFF2-40B4-BE49-F238E27FC236}">
                <a16:creationId xmlns:a16="http://schemas.microsoft.com/office/drawing/2014/main" id="{705887A9-3B40-463C-8097-3527182213A1}"/>
              </a:ext>
            </a:extLst>
          </p:cNvPr>
          <p:cNvSpPr>
            <a:spLocks xmlns:a="http://schemas.openxmlformats.org/drawingml/2006/main" noGrp="1"/>
          </p:cNvSpPr>
          <p:nvPr/>
        </p:nvSpPr>
        <p:spPr>
          <a:xfrm xmlns:a="http://schemas.openxmlformats.org/drawingml/2006/main">
            <a:off x="3352800" y="2266950"/>
            <a:ext cx="1733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5FAFF"/>
                </a:solidFill>
              </a:defRPr>
            </a:pPr>
            <a:r>
              <a:rPr sz="1200" b="0">
                <a:solidFill>
                  <a:srgbClr val="F5FAFF"/>
                </a:solidFill>
              </a:rPr>
              <a:t>block | parse | explain</a:t>
            </a:r>
          </a:p>
          <a:p xmlns:a="http://schemas.openxmlformats.org/drawingml/2006/main">
            <a:pPr algn="ctr">
              <a:defRPr sz="1200" b="0">
                <a:solidFill>
                  <a:srgbClr val="F5FAFF"/>
                </a:solidFill>
              </a:defRPr>
            </a:pPr>
            <a:r>
              <a:rPr sz="1200" b="0">
                <a:solidFill>
                  <a:srgbClr val="F5FAFF"/>
                </a:solidFill>
              </a:rPr>
              <a:t>clarify | local command</a:t>
            </a:r>
          </a:p>
        </p:txBody>
      </p:sp>
      <p:sp>
        <p:nvSpPr>
          <p:cNvPr id="13" name="">
            <a:extLst xmlns:a="http://schemas.openxmlformats.org/drawingml/2006/main">
              <a:ext uri="{FF2B5EF4-FFF2-40B4-BE49-F238E27FC236}">
                <a16:creationId xmlns:a16="http://schemas.microsoft.com/office/drawing/2014/main" id="{CE14678F-988B-4F5A-BE07-CFCBC0F1EDB6}"/>
              </a:ext>
            </a:extLst>
          </p:cNvPr>
          <p:cNvSpPr>
            <a:spLocks xmlns:a="http://schemas.openxmlformats.org/drawingml/2006/main" noGrp="1"/>
          </p:cNvSpPr>
          <p:nvPr/>
        </p:nvSpPr>
        <p:spPr>
          <a:xfrm xmlns:a="http://schemas.openxmlformats.org/drawingml/2006/main">
            <a:off x="5753100" y="1676400"/>
            <a:ext cx="2038350" cy="1104900"/>
          </a:xfrm>
          <a:prstGeom xmlns:a="http://schemas.openxmlformats.org/drawingml/2006/main" prst="roundRect">
            <a:avLst>
              <a:gd name="adj" fmla="val 10345"/>
            </a:avLst>
          </a:prstGeom>
          <a:solidFill xmlns:a="http://schemas.openxmlformats.org/drawingml/2006/main">
            <a:srgbClr val="102A43"/>
          </a:solidFill>
          <a:ln xmlns:a="http://schemas.openxmlformats.org/drawingml/2006/main" w="9525">
            <a:solidFill>
              <a:srgbClr val="3B82F6"/>
            </a:solidFill>
            <a:prstDash val="solid"/>
          </a:ln>
        </p:spPr>
      </p:sp>
      <p:sp>
        <p:nvSpPr>
          <p:cNvPr id="14" name="">
            <a:extLst xmlns:a="http://schemas.openxmlformats.org/drawingml/2006/main">
              <a:ext uri="{FF2B5EF4-FFF2-40B4-BE49-F238E27FC236}">
                <a16:creationId xmlns:a16="http://schemas.microsoft.com/office/drawing/2014/main" id="{076C21AB-13DB-4E12-B990-D223CCEEAF85}"/>
              </a:ext>
            </a:extLst>
          </p:cNvPr>
          <p:cNvSpPr>
            <a:spLocks xmlns:a="http://schemas.openxmlformats.org/drawingml/2006/main" noGrp="1"/>
          </p:cNvSpPr>
          <p:nvPr/>
        </p:nvSpPr>
        <p:spPr>
          <a:xfrm xmlns:a="http://schemas.openxmlformats.org/drawingml/2006/main">
            <a:off x="5943600" y="1847850"/>
            <a:ext cx="1657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B82F6"/>
                </a:solidFill>
              </a:defRPr>
            </a:pPr>
            <a:r>
              <a:rPr sz="1125" b="1">
                <a:solidFill>
                  <a:srgbClr val="3B82F6"/>
                </a:solidFill>
              </a:rPr>
              <a:t>DAISY / LLM</a:t>
            </a:r>
          </a:p>
        </p:txBody>
      </p:sp>
      <p:sp>
        <p:nvSpPr>
          <p:cNvPr id="15" name="">
            <a:extLst xmlns:a="http://schemas.openxmlformats.org/drawingml/2006/main">
              <a:ext uri="{FF2B5EF4-FFF2-40B4-BE49-F238E27FC236}">
                <a16:creationId xmlns:a16="http://schemas.microsoft.com/office/drawing/2014/main" id="{64E3E24F-9BBA-4C4D-B409-58EC46BF9B6C}"/>
              </a:ext>
            </a:extLst>
          </p:cNvPr>
          <p:cNvSpPr>
            <a:spLocks xmlns:a="http://schemas.openxmlformats.org/drawingml/2006/main" noGrp="1"/>
          </p:cNvSpPr>
          <p:nvPr/>
        </p:nvSpPr>
        <p:spPr>
          <a:xfrm xmlns:a="http://schemas.openxmlformats.org/drawingml/2006/main">
            <a:off x="5924550" y="2190750"/>
            <a:ext cx="1695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5FAFF"/>
                </a:solidFill>
              </a:defRPr>
            </a:pPr>
            <a:r>
              <a:rPr sz="1200" b="0">
                <a:solidFill>
                  <a:srgbClr val="F5FAFF"/>
                </a:solidFill>
              </a:rPr>
              <a:t>Strict JSON intent route</a:t>
            </a:r>
          </a:p>
          <a:p xmlns:a="http://schemas.openxmlformats.org/drawingml/2006/main">
            <a:pPr algn="ctr">
              <a:defRPr sz="1200" b="0">
                <a:solidFill>
                  <a:srgbClr val="F5FAFF"/>
                </a:solidFill>
              </a:defRPr>
            </a:pPr>
            <a:r>
              <a:rPr sz="1200" b="0">
                <a:solidFill>
                  <a:srgbClr val="F5FAFF"/>
                </a:solidFill>
              </a:rPr>
              <a:t>Tool + structured arguments</a:t>
            </a:r>
          </a:p>
        </p:txBody>
      </p:sp>
      <p:sp>
        <p:nvSpPr>
          <p:cNvPr id="16" name="">
            <a:extLst xmlns:a="http://schemas.openxmlformats.org/drawingml/2006/main">
              <a:ext uri="{FF2B5EF4-FFF2-40B4-BE49-F238E27FC236}">
                <a16:creationId xmlns:a16="http://schemas.microsoft.com/office/drawing/2014/main" id="{DF8376EB-D3DF-495A-8C3B-4D6026072680}"/>
              </a:ext>
            </a:extLst>
          </p:cNvPr>
          <p:cNvSpPr>
            <a:spLocks xmlns:a="http://schemas.openxmlformats.org/drawingml/2006/main" noGrp="1"/>
          </p:cNvSpPr>
          <p:nvPr/>
        </p:nvSpPr>
        <p:spPr>
          <a:xfrm xmlns:a="http://schemas.openxmlformats.org/drawingml/2006/main">
            <a:off x="8305800" y="1562100"/>
            <a:ext cx="3200400" cy="1333500"/>
          </a:xfrm>
          <a:prstGeom xmlns:a="http://schemas.openxmlformats.org/drawingml/2006/main" prst="roundRect">
            <a:avLst>
              <a:gd name="adj" fmla="val 8571"/>
            </a:avLst>
          </a:prstGeom>
          <a:solidFill xmlns:a="http://schemas.openxmlformats.org/drawingml/2006/main">
            <a:srgbClr val="143A55"/>
          </a:solidFill>
          <a:ln xmlns:a="http://schemas.openxmlformats.org/drawingml/2006/main" w="9525">
            <a:solidFill>
              <a:srgbClr val="35D07F"/>
            </a:solidFill>
            <a:prstDash val="solid"/>
          </a:ln>
        </p:spPr>
      </p:sp>
      <p:sp>
        <p:nvSpPr>
          <p:cNvPr id="17" name="">
            <a:extLst xmlns:a="http://schemas.openxmlformats.org/drawingml/2006/main">
              <a:ext uri="{FF2B5EF4-FFF2-40B4-BE49-F238E27FC236}">
                <a16:creationId xmlns:a16="http://schemas.microsoft.com/office/drawing/2014/main" id="{805BBD1A-415C-4D58-B660-6538A76256EC}"/>
              </a:ext>
            </a:extLst>
          </p:cNvPr>
          <p:cNvSpPr>
            <a:spLocks xmlns:a="http://schemas.openxmlformats.org/drawingml/2006/main" noGrp="1"/>
          </p:cNvSpPr>
          <p:nvPr/>
        </p:nvSpPr>
        <p:spPr>
          <a:xfrm xmlns:a="http://schemas.openxmlformats.org/drawingml/2006/main">
            <a:off x="8534400" y="1733550"/>
            <a:ext cx="2743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5D07F"/>
                </a:solidFill>
              </a:defRPr>
            </a:pPr>
            <a:r>
              <a:rPr sz="1125" b="1">
                <a:solidFill>
                  <a:srgbClr val="35D07F"/>
                </a:solidFill>
              </a:rPr>
              <a:t>PYTHON VALIDATION</a:t>
            </a:r>
          </a:p>
        </p:txBody>
      </p:sp>
      <p:sp>
        <p:nvSpPr>
          <p:cNvPr id="18" name="">
            <a:extLst xmlns:a="http://schemas.openxmlformats.org/drawingml/2006/main">
              <a:ext uri="{FF2B5EF4-FFF2-40B4-BE49-F238E27FC236}">
                <a16:creationId xmlns:a16="http://schemas.microsoft.com/office/drawing/2014/main" id="{EB8ECF55-D1BF-415A-8254-D0D2637627B7}"/>
              </a:ext>
            </a:extLst>
          </p:cNvPr>
          <p:cNvSpPr>
            <a:spLocks xmlns:a="http://schemas.openxmlformats.org/drawingml/2006/main" noGrp="1"/>
          </p:cNvSpPr>
          <p:nvPr/>
        </p:nvSpPr>
        <p:spPr>
          <a:xfrm xmlns:a="http://schemas.openxmlformats.org/drawingml/2006/main">
            <a:off x="8534400" y="2095500"/>
            <a:ext cx="27432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5FAFF"/>
                </a:solidFill>
              </a:defRPr>
            </a:pPr>
            <a:r>
              <a:rPr sz="1200" b="0">
                <a:solidFill>
                  <a:srgbClr val="F5FAFF"/>
                </a:solidFill>
              </a:rPr>
              <a:t>Normalize signature</a:t>
            </a:r>
          </a:p>
          <a:p xmlns:a="http://schemas.openxmlformats.org/drawingml/2006/main">
            <a:pPr algn="ctr">
              <a:defRPr sz="1200" b="0">
                <a:solidFill>
                  <a:srgbClr val="F5FAFF"/>
                </a:solidFill>
              </a:defRPr>
            </a:pPr>
            <a:r>
              <a:rPr sz="1200" b="0">
                <a:solidFill>
                  <a:srgbClr val="F5FAFF"/>
                </a:solidFill>
              </a:rPr>
              <a:t>Validate identifiers and ambiguity</a:t>
            </a:r>
          </a:p>
          <a:p xmlns:a="http://schemas.openxmlformats.org/drawingml/2006/main">
            <a:pPr algn="ctr">
              <a:defRPr sz="1200" b="0">
                <a:solidFill>
                  <a:srgbClr val="F5FAFF"/>
                </a:solidFill>
              </a:defRPr>
            </a:pPr>
            <a:r>
              <a:rPr sz="1200" b="0">
                <a:solidFill>
                  <a:srgbClr val="F5FAFF"/>
                </a:solidFill>
              </a:rPr>
              <a:t>Require approved registry membership</a:t>
            </a:r>
          </a:p>
        </p:txBody>
      </p:sp>
      <p:cxnSp>
        <p:nvCxnSpPr>
          <p:cNvPr id="53" name=""/>
          <p:cNvCxnSpPr>
            <a:stCxn xmlns:a="http://schemas.openxmlformats.org/drawingml/2006/main" id="7" idx="3"/>
            <a:endCxn xmlns:a="http://schemas.openxmlformats.org/drawingml/2006/main" id="10" idx="1"/>
          </p:cNvCxnSpPr>
          <p:nvPr/>
        </p:nvCxnSpPr>
        <p:spPr>
          <a:xfrm xmlns:a="http://schemas.openxmlformats.org/drawingml/2006/main">
            <a:off x="2724150" y="2228850"/>
            <a:ext cx="47625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54" name=""/>
          <p:cNvCxnSpPr>
            <a:stCxn xmlns:a="http://schemas.openxmlformats.org/drawingml/2006/main" id="10" idx="3"/>
            <a:endCxn xmlns:a="http://schemas.openxmlformats.org/drawingml/2006/main" id="13" idx="1"/>
          </p:cNvCxnSpPr>
          <p:nvPr/>
        </p:nvCxnSpPr>
        <p:spPr>
          <a:xfrm xmlns:a="http://schemas.openxmlformats.org/drawingml/2006/main">
            <a:off x="5238750" y="2228850"/>
            <a:ext cx="51435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55" name=""/>
          <p:cNvCxnSpPr>
            <a:stCxn xmlns:a="http://schemas.openxmlformats.org/drawingml/2006/main" id="13" idx="3"/>
            <a:endCxn xmlns:a="http://schemas.openxmlformats.org/drawingml/2006/main" id="16" idx="1"/>
          </p:cNvCxnSpPr>
          <p:nvPr/>
        </p:nvCxnSpPr>
        <p:spPr>
          <a:xfrm xmlns:a="http://schemas.openxmlformats.org/drawingml/2006/main">
            <a:off x="7791450" y="2228850"/>
            <a:ext cx="514350" cy="0"/>
          </a:xfrm>
          <a:prstGeom xmlns:a="http://schemas.openxmlformats.org/drawingml/2006/main" prst="straightConnector1">
            <a:avLst/>
          </a:prstGeom>
          <a:ln xmlns:a="http://schemas.openxmlformats.org/drawingml/2006/main" w="19050">
            <a:solidFill>
              <a:srgbClr val="35D07F"/>
            </a:solidFill>
            <a:prstDash val="solid"/>
            <a:tailEnd type="arrow" w="med" len="med"/>
          </a:ln>
        </p:spPr>
      </p:cxnSp>
      <p:sp>
        <p:nvSpPr>
          <p:cNvPr id="22" name="">
            <a:extLst xmlns:a="http://schemas.openxmlformats.org/drawingml/2006/main">
              <a:ext uri="{FF2B5EF4-FFF2-40B4-BE49-F238E27FC236}">
                <a16:creationId xmlns:a16="http://schemas.microsoft.com/office/drawing/2014/main" id="{0BB4DE07-94EA-4E78-9230-1C30FEA26178}"/>
              </a:ext>
            </a:extLst>
          </p:cNvPr>
          <p:cNvSpPr>
            <a:spLocks xmlns:a="http://schemas.openxmlformats.org/drawingml/2006/main" noGrp="1"/>
          </p:cNvSpPr>
          <p:nvPr/>
        </p:nvSpPr>
        <p:spPr>
          <a:xfrm xmlns:a="http://schemas.openxmlformats.org/drawingml/2006/main">
            <a:off x="7772400" y="3867150"/>
            <a:ext cx="2800350" cy="971550"/>
          </a:xfrm>
          <a:prstGeom xmlns:a="http://schemas.openxmlformats.org/drawingml/2006/main" prst="roundRect">
            <a:avLst>
              <a:gd name="adj" fmla="val 11765"/>
            </a:avLst>
          </a:prstGeom>
          <a:solidFill xmlns:a="http://schemas.openxmlformats.org/drawingml/2006/main">
            <a:srgbClr val="102A43"/>
          </a:solidFill>
          <a:ln xmlns:a="http://schemas.openxmlformats.org/drawingml/2006/main" w="9525">
            <a:solidFill>
              <a:srgbClr val="35D07F"/>
            </a:solidFill>
            <a:prstDash val="solid"/>
          </a:ln>
        </p:spPr>
      </p:sp>
      <p:sp>
        <p:nvSpPr>
          <p:cNvPr id="23" name="">
            <a:extLst xmlns:a="http://schemas.openxmlformats.org/drawingml/2006/main">
              <a:ext uri="{FF2B5EF4-FFF2-40B4-BE49-F238E27FC236}">
                <a16:creationId xmlns:a16="http://schemas.microsoft.com/office/drawing/2014/main" id="{917E47DF-E5D3-4828-B575-4B38343154A7}"/>
              </a:ext>
            </a:extLst>
          </p:cNvPr>
          <p:cNvSpPr>
            <a:spLocks xmlns:a="http://schemas.openxmlformats.org/drawingml/2006/main" noGrp="1"/>
          </p:cNvSpPr>
          <p:nvPr/>
        </p:nvSpPr>
        <p:spPr>
          <a:xfrm xmlns:a="http://schemas.openxmlformats.org/drawingml/2006/main">
            <a:off x="7981950" y="40195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35D07F"/>
                </a:solidFill>
              </a:defRPr>
            </a:pPr>
            <a:r>
              <a:rPr sz="1125" b="1">
                <a:solidFill>
                  <a:srgbClr val="35D07F"/>
                </a:solidFill>
              </a:rPr>
              <a:t>APPROVED</a:t>
            </a:r>
          </a:p>
        </p:txBody>
      </p:sp>
      <p:sp>
        <p:nvSpPr>
          <p:cNvPr id="24" name="">
            <a:extLst xmlns:a="http://schemas.openxmlformats.org/drawingml/2006/main">
              <a:ext uri="{FF2B5EF4-FFF2-40B4-BE49-F238E27FC236}">
                <a16:creationId xmlns:a16="http://schemas.microsoft.com/office/drawing/2014/main" id="{7C67E235-5C1A-4689-87AD-61233B424A9C}"/>
              </a:ext>
            </a:extLst>
          </p:cNvPr>
          <p:cNvSpPr>
            <a:spLocks xmlns:a="http://schemas.openxmlformats.org/drawingml/2006/main" noGrp="1"/>
          </p:cNvSpPr>
          <p:nvPr/>
        </p:nvSpPr>
        <p:spPr>
          <a:xfrm xmlns:a="http://schemas.openxmlformats.org/drawingml/2006/main">
            <a:off x="7981950" y="43434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Dispatch named tool or workflow</a:t>
            </a:r>
          </a:p>
          <a:p xmlns:a="http://schemas.openxmlformats.org/drawingml/2006/main">
            <a:pPr algn="ctr">
              <a:defRPr sz="1275" b="0">
                <a:solidFill>
                  <a:srgbClr val="F5FAFF"/>
                </a:solidFill>
              </a:defRPr>
            </a:pPr>
            <a:r>
              <a:rPr sz="1275" b="0">
                <a:solidFill>
                  <a:srgbClr val="F5FAFF"/>
                </a:solidFill>
              </a:rPr>
              <a:t>with validated arguments</a:t>
            </a:r>
          </a:p>
        </p:txBody>
      </p:sp>
      <p:sp>
        <p:nvSpPr>
          <p:cNvPr id="25" name="">
            <a:extLst xmlns:a="http://schemas.openxmlformats.org/drawingml/2006/main">
              <a:ext uri="{FF2B5EF4-FFF2-40B4-BE49-F238E27FC236}">
                <a16:creationId xmlns:a16="http://schemas.microsoft.com/office/drawing/2014/main" id="{428F1084-6250-4624-B855-F015E219AC19}"/>
              </a:ext>
            </a:extLst>
          </p:cNvPr>
          <p:cNvSpPr>
            <a:spLocks xmlns:a="http://schemas.openxmlformats.org/drawingml/2006/main" noGrp="1"/>
          </p:cNvSpPr>
          <p:nvPr/>
        </p:nvSpPr>
        <p:spPr>
          <a:xfrm xmlns:a="http://schemas.openxmlformats.org/drawingml/2006/main">
            <a:off x="4457700" y="3867150"/>
            <a:ext cx="2609850" cy="971550"/>
          </a:xfrm>
          <a:prstGeom xmlns:a="http://schemas.openxmlformats.org/drawingml/2006/main" prst="roundRect">
            <a:avLst>
              <a:gd name="adj" fmla="val 11765"/>
            </a:avLst>
          </a:prstGeom>
          <a:solidFill xmlns:a="http://schemas.openxmlformats.org/drawingml/2006/main">
            <a:srgbClr val="102A43"/>
          </a:solidFill>
          <a:ln xmlns:a="http://schemas.openxmlformats.org/drawingml/2006/main" w="9525">
            <a:solidFill>
              <a:srgbClr val="F4B942"/>
            </a:solidFill>
            <a:prstDash val="solid"/>
          </a:ln>
        </p:spPr>
      </p:sp>
      <p:sp>
        <p:nvSpPr>
          <p:cNvPr id="26" name="">
            <a:extLst xmlns:a="http://schemas.openxmlformats.org/drawingml/2006/main">
              <a:ext uri="{FF2B5EF4-FFF2-40B4-BE49-F238E27FC236}">
                <a16:creationId xmlns:a16="http://schemas.microsoft.com/office/drawing/2014/main" id="{50AFF3E5-506A-4C7A-82B7-8D1BE529CC80}"/>
              </a:ext>
            </a:extLst>
          </p:cNvPr>
          <p:cNvSpPr>
            <a:spLocks xmlns:a="http://schemas.openxmlformats.org/drawingml/2006/main" noGrp="1"/>
          </p:cNvSpPr>
          <p:nvPr/>
        </p:nvSpPr>
        <p:spPr>
          <a:xfrm xmlns:a="http://schemas.openxmlformats.org/drawingml/2006/main">
            <a:off x="4667250" y="4019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4B942"/>
                </a:solidFill>
              </a:defRPr>
            </a:pPr>
            <a:r>
              <a:rPr sz="1125" b="1">
                <a:solidFill>
                  <a:srgbClr val="F4B942"/>
                </a:solidFill>
              </a:rPr>
              <a:t>CLARIFY</a:t>
            </a:r>
          </a:p>
        </p:txBody>
      </p:sp>
      <p:sp>
        <p:nvSpPr>
          <p:cNvPr id="27" name="">
            <a:extLst xmlns:a="http://schemas.openxmlformats.org/drawingml/2006/main">
              <a:ext uri="{FF2B5EF4-FFF2-40B4-BE49-F238E27FC236}">
                <a16:creationId xmlns:a16="http://schemas.microsoft.com/office/drawing/2014/main" id="{F50048C7-5DCF-45D8-901B-C2CE5EBA18AF}"/>
              </a:ext>
            </a:extLst>
          </p:cNvPr>
          <p:cNvSpPr>
            <a:spLocks xmlns:a="http://schemas.openxmlformats.org/drawingml/2006/main" noGrp="1"/>
          </p:cNvSpPr>
          <p:nvPr/>
        </p:nvSpPr>
        <p:spPr>
          <a:xfrm xmlns:a="http://schemas.openxmlformats.org/drawingml/2006/main">
            <a:off x="4667250" y="43434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Ask a stable scoped question</a:t>
            </a:r>
          </a:p>
          <a:p xmlns:a="http://schemas.openxmlformats.org/drawingml/2006/main">
            <a:pPr algn="ctr">
              <a:defRPr sz="1275" b="0">
                <a:solidFill>
                  <a:srgbClr val="F5FAFF"/>
                </a:solidFill>
              </a:defRPr>
            </a:pPr>
            <a:r>
              <a:rPr sz="1275" b="0">
                <a:solidFill>
                  <a:srgbClr val="F5FAFF"/>
                </a:solidFill>
              </a:rPr>
              <a:t>before execution</a:t>
            </a:r>
          </a:p>
        </p:txBody>
      </p:sp>
      <p:sp>
        <p:nvSpPr>
          <p:cNvPr id="28" name="">
            <a:extLst xmlns:a="http://schemas.openxmlformats.org/drawingml/2006/main">
              <a:ext uri="{FF2B5EF4-FFF2-40B4-BE49-F238E27FC236}">
                <a16:creationId xmlns:a16="http://schemas.microsoft.com/office/drawing/2014/main" id="{02E03833-D565-4629-8639-B35432162EB4}"/>
              </a:ext>
            </a:extLst>
          </p:cNvPr>
          <p:cNvSpPr>
            <a:spLocks xmlns:a="http://schemas.openxmlformats.org/drawingml/2006/main" noGrp="1"/>
          </p:cNvSpPr>
          <p:nvPr/>
        </p:nvSpPr>
        <p:spPr>
          <a:xfrm xmlns:a="http://schemas.openxmlformats.org/drawingml/2006/main">
            <a:off x="1143000" y="3867150"/>
            <a:ext cx="2609850" cy="971550"/>
          </a:xfrm>
          <a:prstGeom xmlns:a="http://schemas.openxmlformats.org/drawingml/2006/main" prst="roundRect">
            <a:avLst>
              <a:gd name="adj" fmla="val 11765"/>
            </a:avLst>
          </a:prstGeom>
          <a:solidFill xmlns:a="http://schemas.openxmlformats.org/drawingml/2006/main">
            <a:srgbClr val="102A43"/>
          </a:solidFill>
          <a:ln xmlns:a="http://schemas.openxmlformats.org/drawingml/2006/main" w="9525">
            <a:solidFill>
              <a:srgbClr val="F06464"/>
            </a:solidFill>
            <a:prstDash val="solid"/>
          </a:ln>
        </p:spPr>
      </p:sp>
      <p:sp>
        <p:nvSpPr>
          <p:cNvPr id="29" name="">
            <a:extLst xmlns:a="http://schemas.openxmlformats.org/drawingml/2006/main">
              <a:ext uri="{FF2B5EF4-FFF2-40B4-BE49-F238E27FC236}">
                <a16:creationId xmlns:a16="http://schemas.microsoft.com/office/drawing/2014/main" id="{32FE597B-434A-4241-863A-5E6F4EBA138C}"/>
              </a:ext>
            </a:extLst>
          </p:cNvPr>
          <p:cNvSpPr>
            <a:spLocks xmlns:a="http://schemas.openxmlformats.org/drawingml/2006/main" noGrp="1"/>
          </p:cNvSpPr>
          <p:nvPr/>
        </p:nvSpPr>
        <p:spPr>
          <a:xfrm xmlns:a="http://schemas.openxmlformats.org/drawingml/2006/main">
            <a:off x="1352550" y="4019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06464"/>
                </a:solidFill>
              </a:defRPr>
            </a:pPr>
            <a:r>
              <a:rPr sz="1125" b="1">
                <a:solidFill>
                  <a:srgbClr val="F06464"/>
                </a:solidFill>
              </a:rPr>
              <a:t>BLOCK / REDIRECT</a:t>
            </a:r>
          </a:p>
        </p:txBody>
      </p:sp>
      <p:sp>
        <p:nvSpPr>
          <p:cNvPr id="30" name="">
            <a:extLst xmlns:a="http://schemas.openxmlformats.org/drawingml/2006/main">
              <a:ext uri="{FF2B5EF4-FFF2-40B4-BE49-F238E27FC236}">
                <a16:creationId xmlns:a16="http://schemas.microsoft.com/office/drawing/2014/main" id="{99F96DC5-FF7C-408F-9199-05F38F6300DD}"/>
              </a:ext>
            </a:extLst>
          </p:cNvPr>
          <p:cNvSpPr>
            <a:spLocks xmlns:a="http://schemas.openxmlformats.org/drawingml/2006/main" noGrp="1"/>
          </p:cNvSpPr>
          <p:nvPr/>
        </p:nvSpPr>
        <p:spPr>
          <a:xfrm xmlns:a="http://schemas.openxmlformats.org/drawingml/2006/main">
            <a:off x="1352550" y="43434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Unsafe, off-topic, secret or</a:t>
            </a:r>
          </a:p>
          <a:p xmlns:a="http://schemas.openxmlformats.org/drawingml/2006/main">
            <a:pPr algn="ctr">
              <a:defRPr sz="1275" b="0">
                <a:solidFill>
                  <a:srgbClr val="F5FAFF"/>
                </a:solidFill>
              </a:defRPr>
            </a:pPr>
            <a:r>
              <a:rPr sz="1275" b="0">
                <a:solidFill>
                  <a:srgbClr val="F5FAFF"/>
                </a:solidFill>
              </a:rPr>
              <a:t>unapproved request</a:t>
            </a:r>
          </a:p>
        </p:txBody>
      </p:sp>
      <p:cxnSp>
        <p:nvCxnSpPr>
          <p:cNvPr id="65" name=""/>
          <p:cNvCxnSpPr>
            <a:stCxn xmlns:a="http://schemas.openxmlformats.org/drawingml/2006/main" id="16" idx="2"/>
            <a:endCxn xmlns:a="http://schemas.openxmlformats.org/drawingml/2006/main" id="22" idx="0"/>
          </p:cNvCxnSpPr>
          <p:nvPr/>
        </p:nvCxnSpPr>
        <p:spPr>
          <a:xfrm xmlns:a="http://schemas.openxmlformats.org/drawingml/2006/main" flipH="1">
            <a:off x="9172575" y="2895600"/>
            <a:ext cx="733425" cy="971550"/>
          </a:xfrm>
          <a:prstGeom xmlns:a="http://schemas.openxmlformats.org/drawingml/2006/main" prst="bentConnector4">
            <a:avLst>
              <a:gd name="adj1" fmla="val 0"/>
              <a:gd name="adj2" fmla="val 50000"/>
            </a:avLst>
          </a:prstGeom>
          <a:ln xmlns:a="http://schemas.openxmlformats.org/drawingml/2006/main" w="19050">
            <a:solidFill>
              <a:srgbClr val="35D07F"/>
            </a:solidFill>
            <a:prstDash val="solid"/>
            <a:tailEnd type="arrow" w="med" len="med"/>
          </a:ln>
        </p:spPr>
      </p:cxnSp>
      <p:cxnSp>
        <p:nvCxnSpPr>
          <p:cNvPr id="66" name=""/>
          <p:cNvCxnSpPr>
            <a:stCxn xmlns:a="http://schemas.openxmlformats.org/drawingml/2006/main" id="16" idx="2"/>
            <a:endCxn xmlns:a="http://schemas.openxmlformats.org/drawingml/2006/main" id="25" idx="0"/>
          </p:cNvCxnSpPr>
          <p:nvPr/>
        </p:nvCxnSpPr>
        <p:spPr>
          <a:xfrm xmlns:a="http://schemas.openxmlformats.org/drawingml/2006/main" flipH="1">
            <a:off x="5762625" y="2895600"/>
            <a:ext cx="4143375" cy="971550"/>
          </a:xfrm>
          <a:prstGeom xmlns:a="http://schemas.openxmlformats.org/drawingml/2006/main" prst="bentConnector4">
            <a:avLst>
              <a:gd name="adj1" fmla="val 0"/>
              <a:gd name="adj2" fmla="val 50000"/>
            </a:avLst>
          </a:prstGeom>
          <a:ln xmlns:a="http://schemas.openxmlformats.org/drawingml/2006/main" w="19050">
            <a:solidFill>
              <a:srgbClr val="F4B942"/>
            </a:solidFill>
            <a:prstDash val="solid"/>
            <a:tailEnd type="arrow" w="med" len="med"/>
          </a:ln>
        </p:spPr>
      </p:cxnSp>
      <p:cxnSp>
        <p:nvCxnSpPr>
          <p:cNvPr id="67" name=""/>
          <p:cNvCxnSpPr>
            <a:stCxn xmlns:a="http://schemas.openxmlformats.org/drawingml/2006/main" id="16" idx="2"/>
            <a:endCxn xmlns:a="http://schemas.openxmlformats.org/drawingml/2006/main" id="28" idx="0"/>
          </p:cNvCxnSpPr>
          <p:nvPr/>
        </p:nvCxnSpPr>
        <p:spPr>
          <a:xfrm xmlns:a="http://schemas.openxmlformats.org/drawingml/2006/main" flipH="1">
            <a:off x="2447925" y="2895600"/>
            <a:ext cx="7458075" cy="971550"/>
          </a:xfrm>
          <a:prstGeom xmlns:a="http://schemas.openxmlformats.org/drawingml/2006/main" prst="bentConnector4">
            <a:avLst>
              <a:gd name="adj1" fmla="val 0"/>
              <a:gd name="adj2" fmla="val 50000"/>
            </a:avLst>
          </a:prstGeom>
          <a:ln xmlns:a="http://schemas.openxmlformats.org/drawingml/2006/main" w="19050">
            <a:solidFill>
              <a:srgbClr val="F06464"/>
            </a:solidFill>
            <a:prstDash val="solid"/>
            <a:tailEnd type="arrow" w="med" len="med"/>
          </a:ln>
        </p:spPr>
      </p:cxnSp>
      <p:sp>
        <p:nvSpPr>
          <p:cNvPr id="34" name="">
            <a:extLst xmlns:a="http://schemas.openxmlformats.org/drawingml/2006/main">
              <a:ext uri="{FF2B5EF4-FFF2-40B4-BE49-F238E27FC236}">
                <a16:creationId xmlns:a16="http://schemas.microsoft.com/office/drawing/2014/main" id="{4761DB9D-1548-4EAA-8340-416E4DE3C965}"/>
              </a:ext>
            </a:extLst>
          </p:cNvPr>
          <p:cNvSpPr>
            <a:spLocks xmlns:a="http://schemas.openxmlformats.org/drawingml/2006/main" noGrp="1"/>
          </p:cNvSpPr>
          <p:nvPr/>
        </p:nvSpPr>
        <p:spPr>
          <a:xfrm xmlns:a="http://schemas.openxmlformats.org/drawingml/2006/main">
            <a:off x="685800" y="541020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40D9FF"/>
                </a:solidFill>
              </a:defRPr>
            </a:pPr>
            <a:r>
              <a:rPr sz="1725" b="1">
                <a:solidFill>
                  <a:srgbClr val="40D9FF"/>
                </a:solidFill>
              </a:rPr>
              <a:t>The route is data; Python decides whether it is executable.</a:t>
            </a:r>
          </a:p>
        </p:txBody>
      </p:sp>
    </p:spTree>
    <p:extLst>
      <p:ext uri="{BB962C8B-B14F-4D97-AF65-F5344CB8AC3E}">
        <p14:creationId xmlns:p14="http://schemas.microsoft.com/office/powerpoint/2010/main" val="730332508"/>
      </p:ext>
    </p:extLst>
  </p:cSld>
</p:sld>
</file>

<file path=ppt/slides/slide9.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16FF18C-6BDF-4D76-9CEA-0FC9AC5A124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4C5C4B3D-6D07-4EED-AD53-64DF20E846D4}"/>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RESPONSIBILITY BOUNDARY</a:t>
            </a:r>
          </a:p>
        </p:txBody>
      </p:sp>
      <p:sp>
        <p:nvSpPr>
          <p:cNvPr id="3" name="slide-title">
            <a:extLst xmlns:a="http://schemas.openxmlformats.org/drawingml/2006/main">
              <a:ext uri="{FF2B5EF4-FFF2-40B4-BE49-F238E27FC236}">
                <a16:creationId xmlns:a16="http://schemas.microsoft.com/office/drawing/2014/main" id="{8BB9C806-6BCF-4566-AFBC-70F1D2EAEE3A}"/>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The LLM interprets; deterministic Python authorizes</a:t>
            </a:r>
          </a:p>
        </p:txBody>
      </p:sp>
      <p:sp>
        <p:nvSpPr>
          <p:cNvPr id="4" name="">
            <a:extLst xmlns:a="http://schemas.openxmlformats.org/drawingml/2006/main">
              <a:ext uri="{FF2B5EF4-FFF2-40B4-BE49-F238E27FC236}">
                <a16:creationId xmlns:a16="http://schemas.microsoft.com/office/drawing/2014/main" id="{6AEC10DF-C56E-45DC-8378-3B9A33C3E06E}"/>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AAFC82A1-E74A-41A9-96D8-6C4CFA2DECB3}"/>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294899A5-8269-42B7-8C38-14135F9863BF}"/>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09</a:t>
            </a:r>
          </a:p>
        </p:txBody>
      </p:sp>
      <p:sp>
        <p:nvSpPr>
          <p:cNvPr id="7" name="">
            <a:extLst xmlns:a="http://schemas.openxmlformats.org/drawingml/2006/main">
              <a:ext uri="{FF2B5EF4-FFF2-40B4-BE49-F238E27FC236}">
                <a16:creationId xmlns:a16="http://schemas.microsoft.com/office/drawing/2014/main" id="{DD3A955B-BA8C-430A-BF36-0E6C6E91D745}"/>
              </a:ext>
            </a:extLst>
          </p:cNvPr>
          <p:cNvSpPr>
            <a:spLocks xmlns:a="http://schemas.openxmlformats.org/drawingml/2006/main" noGrp="1"/>
          </p:cNvSpPr>
          <p:nvPr/>
        </p:nvSpPr>
        <p:spPr>
          <a:xfrm xmlns:a="http://schemas.openxmlformats.org/drawingml/2006/main">
            <a:off x="685800" y="1600200"/>
            <a:ext cx="4762500" cy="3981450"/>
          </a:xfrm>
          <a:prstGeom xmlns:a="http://schemas.openxmlformats.org/drawingml/2006/main" prst="roundRect">
            <a:avLst>
              <a:gd name="adj" fmla="val 2871"/>
            </a:avLst>
          </a:prstGeom>
          <a:solidFill xmlns:a="http://schemas.openxmlformats.org/drawingml/2006/main">
            <a:srgbClr val="102A43"/>
          </a:solidFill>
          <a:ln xmlns:a="http://schemas.openxmlformats.org/drawingml/2006/main" w="9525">
            <a:solidFill>
              <a:srgbClr val="3B82F6"/>
            </a:solidFill>
            <a:prstDash val="solid"/>
          </a:ln>
        </p:spPr>
      </p:sp>
      <p:sp>
        <p:nvSpPr>
          <p:cNvPr id="8" name="">
            <a:extLst xmlns:a="http://schemas.openxmlformats.org/drawingml/2006/main">
              <a:ext uri="{FF2B5EF4-FFF2-40B4-BE49-F238E27FC236}">
                <a16:creationId xmlns:a16="http://schemas.microsoft.com/office/drawing/2014/main" id="{53A05850-82AA-4E83-833B-50E9D2FBF070}"/>
              </a:ext>
            </a:extLst>
          </p:cNvPr>
          <p:cNvSpPr>
            <a:spLocks xmlns:a="http://schemas.openxmlformats.org/drawingml/2006/main" noGrp="1"/>
          </p:cNvSpPr>
          <p:nvPr/>
        </p:nvSpPr>
        <p:spPr>
          <a:xfrm xmlns:a="http://schemas.openxmlformats.org/drawingml/2006/main">
            <a:off x="6743700" y="1600200"/>
            <a:ext cx="4762500" cy="3981450"/>
          </a:xfrm>
          <a:prstGeom xmlns:a="http://schemas.openxmlformats.org/drawingml/2006/main" prst="roundRect">
            <a:avLst>
              <a:gd name="adj" fmla="val 2871"/>
            </a:avLst>
          </a:prstGeom>
          <a:solidFill xmlns:a="http://schemas.openxmlformats.org/drawingml/2006/main">
            <a:srgbClr val="143A55"/>
          </a:solidFill>
          <a:ln xmlns:a="http://schemas.openxmlformats.org/drawingml/2006/main" w="9525">
            <a:solidFill>
              <a:srgbClr val="35D07F"/>
            </a:solidFill>
            <a:prstDash val="solid"/>
          </a:ln>
        </p:spPr>
      </p:sp>
      <p:sp>
        <p:nvSpPr>
          <p:cNvPr id="9" name="">
            <a:extLst xmlns:a="http://schemas.openxmlformats.org/drawingml/2006/main">
              <a:ext uri="{FF2B5EF4-FFF2-40B4-BE49-F238E27FC236}">
                <a16:creationId xmlns:a16="http://schemas.microsoft.com/office/drawing/2014/main" id="{B84C79DA-9E4F-4C37-8E6C-773C029965E2}"/>
              </a:ext>
            </a:extLst>
          </p:cNvPr>
          <p:cNvSpPr>
            <a:spLocks xmlns:a="http://schemas.openxmlformats.org/drawingml/2006/main" noGrp="1"/>
          </p:cNvSpPr>
          <p:nvPr/>
        </p:nvSpPr>
        <p:spPr>
          <a:xfrm xmlns:a="http://schemas.openxmlformats.org/drawingml/2006/main">
            <a:off x="971550" y="18097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3B82F6"/>
                </a:solidFill>
              </a:defRPr>
            </a:pPr>
            <a:r>
              <a:rPr sz="1875" b="1">
                <a:solidFill>
                  <a:srgbClr val="3B82F6"/>
                </a:solidFill>
              </a:rPr>
              <a:t>DAISY / LLM MAY</a:t>
            </a:r>
          </a:p>
        </p:txBody>
      </p:sp>
      <p:sp>
        <p:nvSpPr>
          <p:cNvPr id="10" name="">
            <a:extLst xmlns:a="http://schemas.openxmlformats.org/drawingml/2006/main">
              <a:ext uri="{FF2B5EF4-FFF2-40B4-BE49-F238E27FC236}">
                <a16:creationId xmlns:a16="http://schemas.microsoft.com/office/drawing/2014/main" id="{DCCFDA86-0840-4DA5-B8B3-8A07E18511E7}"/>
              </a:ext>
            </a:extLst>
          </p:cNvPr>
          <p:cNvSpPr>
            <a:spLocks xmlns:a="http://schemas.openxmlformats.org/drawingml/2006/main" noGrp="1"/>
          </p:cNvSpPr>
          <p:nvPr/>
        </p:nvSpPr>
        <p:spPr>
          <a:xfrm xmlns:a="http://schemas.openxmlformats.org/drawingml/2006/main">
            <a:off x="1047750" y="244792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0EEF6661-1C82-46E9-8C8B-E0D1A3FAF50A}"/>
              </a:ext>
            </a:extLst>
          </p:cNvPr>
          <p:cNvSpPr>
            <a:spLocks xmlns:a="http://schemas.openxmlformats.org/drawingml/2006/main" noGrp="1"/>
          </p:cNvSpPr>
          <p:nvPr/>
        </p:nvSpPr>
        <p:spPr>
          <a:xfrm xmlns:a="http://schemas.openxmlformats.org/drawingml/2006/main">
            <a:off x="1238250" y="236220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Interpret natural-language intent</a:t>
            </a:r>
          </a:p>
        </p:txBody>
      </p:sp>
      <p:sp>
        <p:nvSpPr>
          <p:cNvPr id="12" name="">
            <a:extLst xmlns:a="http://schemas.openxmlformats.org/drawingml/2006/main">
              <a:ext uri="{FF2B5EF4-FFF2-40B4-BE49-F238E27FC236}">
                <a16:creationId xmlns:a16="http://schemas.microsoft.com/office/drawing/2014/main" id="{CECEBB87-A26D-4B95-A1F9-A47EAC72BDCB}"/>
              </a:ext>
            </a:extLst>
          </p:cNvPr>
          <p:cNvSpPr>
            <a:spLocks xmlns:a="http://schemas.openxmlformats.org/drawingml/2006/main" noGrp="1"/>
          </p:cNvSpPr>
          <p:nvPr/>
        </p:nvSpPr>
        <p:spPr>
          <a:xfrm xmlns:a="http://schemas.openxmlformats.org/drawingml/2006/main">
            <a:off x="1047750" y="300037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F00C7EEC-F8A1-4292-9F20-B9316A35FCB0}"/>
              </a:ext>
            </a:extLst>
          </p:cNvPr>
          <p:cNvSpPr>
            <a:spLocks xmlns:a="http://schemas.openxmlformats.org/drawingml/2006/main" noGrp="1"/>
          </p:cNvSpPr>
          <p:nvPr/>
        </p:nvSpPr>
        <p:spPr>
          <a:xfrm xmlns:a="http://schemas.openxmlformats.org/drawingml/2006/main">
            <a:off x="1238250" y="29146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Select from the advertised approved tool catalog</a:t>
            </a:r>
          </a:p>
        </p:txBody>
      </p:sp>
      <p:sp>
        <p:nvSpPr>
          <p:cNvPr id="14" name="">
            <a:extLst xmlns:a="http://schemas.openxmlformats.org/drawingml/2006/main">
              <a:ext uri="{FF2B5EF4-FFF2-40B4-BE49-F238E27FC236}">
                <a16:creationId xmlns:a16="http://schemas.microsoft.com/office/drawing/2014/main" id="{7F2C1446-8AF9-4088-BF01-706A71943E2E}"/>
              </a:ext>
            </a:extLst>
          </p:cNvPr>
          <p:cNvSpPr>
            <a:spLocks xmlns:a="http://schemas.openxmlformats.org/drawingml/2006/main" noGrp="1"/>
          </p:cNvSpPr>
          <p:nvPr/>
        </p:nvSpPr>
        <p:spPr>
          <a:xfrm xmlns:a="http://schemas.openxmlformats.org/drawingml/2006/main">
            <a:off x="1047750" y="355282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45A8B7C2-F442-4411-A7F6-197EA77308CE}"/>
              </a:ext>
            </a:extLst>
          </p:cNvPr>
          <p:cNvSpPr>
            <a:spLocks xmlns:a="http://schemas.openxmlformats.org/drawingml/2006/main" noGrp="1"/>
          </p:cNvSpPr>
          <p:nvPr/>
        </p:nvSpPr>
        <p:spPr>
          <a:xfrm xmlns:a="http://schemas.openxmlformats.org/drawingml/2006/main">
            <a:off x="1238250" y="346710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Return structured route arguments</a:t>
            </a:r>
          </a:p>
        </p:txBody>
      </p:sp>
      <p:sp>
        <p:nvSpPr>
          <p:cNvPr id="16" name="">
            <a:extLst xmlns:a="http://schemas.openxmlformats.org/drawingml/2006/main">
              <a:ext uri="{FF2B5EF4-FFF2-40B4-BE49-F238E27FC236}">
                <a16:creationId xmlns:a16="http://schemas.microsoft.com/office/drawing/2014/main" id="{357DF454-418B-4566-BC7E-D7A1D3D6AF63}"/>
              </a:ext>
            </a:extLst>
          </p:cNvPr>
          <p:cNvSpPr>
            <a:spLocks xmlns:a="http://schemas.openxmlformats.org/drawingml/2006/main" noGrp="1"/>
          </p:cNvSpPr>
          <p:nvPr/>
        </p:nvSpPr>
        <p:spPr>
          <a:xfrm xmlns:a="http://schemas.openxmlformats.org/drawingml/2006/main">
            <a:off x="1047750" y="410527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7" name="">
            <a:extLst xmlns:a="http://schemas.openxmlformats.org/drawingml/2006/main">
              <a:ext uri="{FF2B5EF4-FFF2-40B4-BE49-F238E27FC236}">
                <a16:creationId xmlns:a16="http://schemas.microsoft.com/office/drawing/2014/main" id="{E74F820F-4CF6-4293-9618-32F458A030E5}"/>
              </a:ext>
            </a:extLst>
          </p:cNvPr>
          <p:cNvSpPr>
            <a:spLocks xmlns:a="http://schemas.openxmlformats.org/drawingml/2006/main" noGrp="1"/>
          </p:cNvSpPr>
          <p:nvPr/>
        </p:nvSpPr>
        <p:spPr>
          <a:xfrm xmlns:a="http://schemas.openxmlformats.org/drawingml/2006/main">
            <a:off x="1238250" y="40195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Summarize tool-backed evidence</a:t>
            </a:r>
          </a:p>
        </p:txBody>
      </p:sp>
      <p:sp>
        <p:nvSpPr>
          <p:cNvPr id="18" name="">
            <a:extLst xmlns:a="http://schemas.openxmlformats.org/drawingml/2006/main">
              <a:ext uri="{FF2B5EF4-FFF2-40B4-BE49-F238E27FC236}">
                <a16:creationId xmlns:a16="http://schemas.microsoft.com/office/drawing/2014/main" id="{48E31C2D-6D2E-4AAD-A76D-1D96641A13D0}"/>
              </a:ext>
            </a:extLst>
          </p:cNvPr>
          <p:cNvSpPr>
            <a:spLocks xmlns:a="http://schemas.openxmlformats.org/drawingml/2006/main" noGrp="1"/>
          </p:cNvSpPr>
          <p:nvPr/>
        </p:nvSpPr>
        <p:spPr>
          <a:xfrm xmlns:a="http://schemas.openxmlformats.org/drawingml/2006/main">
            <a:off x="1047750" y="465772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9" name="">
            <a:extLst xmlns:a="http://schemas.openxmlformats.org/drawingml/2006/main">
              <a:ext uri="{FF2B5EF4-FFF2-40B4-BE49-F238E27FC236}">
                <a16:creationId xmlns:a16="http://schemas.microsoft.com/office/drawing/2014/main" id="{79D59174-0D58-42EF-9793-300F7DEB8054}"/>
              </a:ext>
            </a:extLst>
          </p:cNvPr>
          <p:cNvSpPr>
            <a:spLocks xmlns:a="http://schemas.openxmlformats.org/drawingml/2006/main" noGrp="1"/>
          </p:cNvSpPr>
          <p:nvPr/>
        </p:nvSpPr>
        <p:spPr>
          <a:xfrm xmlns:a="http://schemas.openxmlformats.org/drawingml/2006/main">
            <a:off x="1238250" y="457200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Ask for clarification when context is missing</a:t>
            </a:r>
          </a:p>
        </p:txBody>
      </p:sp>
      <p:sp>
        <p:nvSpPr>
          <p:cNvPr id="20" name="">
            <a:extLst xmlns:a="http://schemas.openxmlformats.org/drawingml/2006/main">
              <a:ext uri="{FF2B5EF4-FFF2-40B4-BE49-F238E27FC236}">
                <a16:creationId xmlns:a16="http://schemas.microsoft.com/office/drawing/2014/main" id="{0612D86D-1B25-401B-82DD-73181DCBB209}"/>
              </a:ext>
            </a:extLst>
          </p:cNvPr>
          <p:cNvSpPr>
            <a:spLocks xmlns:a="http://schemas.openxmlformats.org/drawingml/2006/main" noGrp="1"/>
          </p:cNvSpPr>
          <p:nvPr/>
        </p:nvSpPr>
        <p:spPr>
          <a:xfrm xmlns:a="http://schemas.openxmlformats.org/drawingml/2006/main">
            <a:off x="7029450" y="18097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35D07F"/>
                </a:solidFill>
              </a:defRPr>
            </a:pPr>
            <a:r>
              <a:rPr sz="1875" b="1">
                <a:solidFill>
                  <a:srgbClr val="35D07F"/>
                </a:solidFill>
              </a:rPr>
              <a:t>DETERMINISTIC PYTHON OWNS</a:t>
            </a:r>
          </a:p>
        </p:txBody>
      </p:sp>
      <p:sp>
        <p:nvSpPr>
          <p:cNvPr id="21" name="">
            <a:extLst xmlns:a="http://schemas.openxmlformats.org/drawingml/2006/main">
              <a:ext uri="{FF2B5EF4-FFF2-40B4-BE49-F238E27FC236}">
                <a16:creationId xmlns:a16="http://schemas.microsoft.com/office/drawing/2014/main" id="{0CC51895-1430-4AE5-A89C-34513903DC83}"/>
              </a:ext>
            </a:extLst>
          </p:cNvPr>
          <p:cNvSpPr>
            <a:spLocks xmlns:a="http://schemas.openxmlformats.org/drawingml/2006/main" noGrp="1"/>
          </p:cNvSpPr>
          <p:nvPr/>
        </p:nvSpPr>
        <p:spPr>
          <a:xfrm xmlns:a="http://schemas.openxmlformats.org/drawingml/2006/main">
            <a:off x="7105650" y="24479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836A0F8F-A655-4198-B63A-B8331D64E904}"/>
              </a:ext>
            </a:extLst>
          </p:cNvPr>
          <p:cNvSpPr>
            <a:spLocks xmlns:a="http://schemas.openxmlformats.org/drawingml/2006/main" noGrp="1"/>
          </p:cNvSpPr>
          <p:nvPr/>
        </p:nvSpPr>
        <p:spPr>
          <a:xfrm xmlns:a="http://schemas.openxmlformats.org/drawingml/2006/main">
            <a:off x="7296150" y="236220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Prompt blocking and scope classification</a:t>
            </a:r>
          </a:p>
        </p:txBody>
      </p:sp>
      <p:sp>
        <p:nvSpPr>
          <p:cNvPr id="23" name="">
            <a:extLst xmlns:a="http://schemas.openxmlformats.org/drawingml/2006/main">
              <a:ext uri="{FF2B5EF4-FFF2-40B4-BE49-F238E27FC236}">
                <a16:creationId xmlns:a16="http://schemas.microsoft.com/office/drawing/2014/main" id="{8EB40FAC-BE88-4D2D-8B28-388EC8D5CCAC}"/>
              </a:ext>
            </a:extLst>
          </p:cNvPr>
          <p:cNvSpPr>
            <a:spLocks xmlns:a="http://schemas.openxmlformats.org/drawingml/2006/main" noGrp="1"/>
          </p:cNvSpPr>
          <p:nvPr/>
        </p:nvSpPr>
        <p:spPr>
          <a:xfrm xmlns:a="http://schemas.openxmlformats.org/drawingml/2006/main">
            <a:off x="7105650" y="30003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260B0D8F-2D26-402D-A0F3-D98281ADB116}"/>
              </a:ext>
            </a:extLst>
          </p:cNvPr>
          <p:cNvSpPr>
            <a:spLocks xmlns:a="http://schemas.openxmlformats.org/drawingml/2006/main" noGrp="1"/>
          </p:cNvSpPr>
          <p:nvPr/>
        </p:nvSpPr>
        <p:spPr>
          <a:xfrm xmlns:a="http://schemas.openxmlformats.org/drawingml/2006/main">
            <a:off x="7296150" y="29146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Identifier, signature and route validation</a:t>
            </a:r>
          </a:p>
        </p:txBody>
      </p:sp>
      <p:sp>
        <p:nvSpPr>
          <p:cNvPr id="25" name="">
            <a:extLst xmlns:a="http://schemas.openxmlformats.org/drawingml/2006/main">
              <a:ext uri="{FF2B5EF4-FFF2-40B4-BE49-F238E27FC236}">
                <a16:creationId xmlns:a16="http://schemas.microsoft.com/office/drawing/2014/main" id="{663632DB-D97E-4FCB-8E65-A3217592DA3A}"/>
              </a:ext>
            </a:extLst>
          </p:cNvPr>
          <p:cNvSpPr>
            <a:spLocks xmlns:a="http://schemas.openxmlformats.org/drawingml/2006/main" noGrp="1"/>
          </p:cNvSpPr>
          <p:nvPr/>
        </p:nvSpPr>
        <p:spPr>
          <a:xfrm xmlns:a="http://schemas.openxmlformats.org/drawingml/2006/main">
            <a:off x="7105650" y="35528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6" name="">
            <a:extLst xmlns:a="http://schemas.openxmlformats.org/drawingml/2006/main">
              <a:ext uri="{FF2B5EF4-FFF2-40B4-BE49-F238E27FC236}">
                <a16:creationId xmlns:a16="http://schemas.microsoft.com/office/drawing/2014/main" id="{0F8E074A-1DBF-4D91-8DCF-504D509A2E4D}"/>
              </a:ext>
            </a:extLst>
          </p:cNvPr>
          <p:cNvSpPr>
            <a:spLocks xmlns:a="http://schemas.openxmlformats.org/drawingml/2006/main" noGrp="1"/>
          </p:cNvSpPr>
          <p:nvPr/>
        </p:nvSpPr>
        <p:spPr>
          <a:xfrm xmlns:a="http://schemas.openxmlformats.org/drawingml/2006/main">
            <a:off x="7296150" y="346710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Approved registry membership</a:t>
            </a:r>
          </a:p>
        </p:txBody>
      </p:sp>
      <p:sp>
        <p:nvSpPr>
          <p:cNvPr id="27" name="">
            <a:extLst xmlns:a="http://schemas.openxmlformats.org/drawingml/2006/main">
              <a:ext uri="{FF2B5EF4-FFF2-40B4-BE49-F238E27FC236}">
                <a16:creationId xmlns:a16="http://schemas.microsoft.com/office/drawing/2014/main" id="{4A8A1744-C3E6-49E7-BE06-B1DAC799E3A0}"/>
              </a:ext>
            </a:extLst>
          </p:cNvPr>
          <p:cNvSpPr>
            <a:spLocks xmlns:a="http://schemas.openxmlformats.org/drawingml/2006/main" noGrp="1"/>
          </p:cNvSpPr>
          <p:nvPr/>
        </p:nvSpPr>
        <p:spPr>
          <a:xfrm xmlns:a="http://schemas.openxmlformats.org/drawingml/2006/main">
            <a:off x="7105650" y="41052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8" name="">
            <a:extLst xmlns:a="http://schemas.openxmlformats.org/drawingml/2006/main">
              <a:ext uri="{FF2B5EF4-FFF2-40B4-BE49-F238E27FC236}">
                <a16:creationId xmlns:a16="http://schemas.microsoft.com/office/drawing/2014/main" id="{8510945B-CD73-484D-ADB3-857B563FA038}"/>
              </a:ext>
            </a:extLst>
          </p:cNvPr>
          <p:cNvSpPr>
            <a:spLocks xmlns:a="http://schemas.openxmlformats.org/drawingml/2006/main" noGrp="1"/>
          </p:cNvSpPr>
          <p:nvPr/>
        </p:nvSpPr>
        <p:spPr>
          <a:xfrm xmlns:a="http://schemas.openxmlformats.org/drawingml/2006/main">
            <a:off x="7296150" y="401955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Read-only SQL validation and ODBC execution</a:t>
            </a:r>
          </a:p>
        </p:txBody>
      </p:sp>
      <p:sp>
        <p:nvSpPr>
          <p:cNvPr id="29" name="">
            <a:extLst xmlns:a="http://schemas.openxmlformats.org/drawingml/2006/main">
              <a:ext uri="{FF2B5EF4-FFF2-40B4-BE49-F238E27FC236}">
                <a16:creationId xmlns:a16="http://schemas.microsoft.com/office/drawing/2014/main" id="{83EC2C31-9AF9-4AA5-8BA9-FAC9A44E9406}"/>
              </a:ext>
            </a:extLst>
          </p:cNvPr>
          <p:cNvSpPr>
            <a:spLocks xmlns:a="http://schemas.openxmlformats.org/drawingml/2006/main" noGrp="1"/>
          </p:cNvSpPr>
          <p:nvPr/>
        </p:nvSpPr>
        <p:spPr>
          <a:xfrm xmlns:a="http://schemas.openxmlformats.org/drawingml/2006/main">
            <a:off x="7105650" y="46577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30" name="">
            <a:extLst xmlns:a="http://schemas.openxmlformats.org/drawingml/2006/main">
              <a:ext uri="{FF2B5EF4-FFF2-40B4-BE49-F238E27FC236}">
                <a16:creationId xmlns:a16="http://schemas.microsoft.com/office/drawing/2014/main" id="{125A558D-2B4A-4516-90E4-DA40D834992E}"/>
              </a:ext>
            </a:extLst>
          </p:cNvPr>
          <p:cNvSpPr>
            <a:spLocks xmlns:a="http://schemas.openxmlformats.org/drawingml/2006/main" noGrp="1"/>
          </p:cNvSpPr>
          <p:nvPr/>
        </p:nvSpPr>
        <p:spPr>
          <a:xfrm xmlns:a="http://schemas.openxmlformats.org/drawingml/2006/main">
            <a:off x="7296150" y="4572000"/>
            <a:ext cx="3810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Evidence state, memory, logging and export</a:t>
            </a:r>
          </a:p>
        </p:txBody>
      </p:sp>
      <p:sp>
        <p:nvSpPr>
          <p:cNvPr id="31" name="">
            <a:extLst xmlns:a="http://schemas.openxmlformats.org/drawingml/2006/main">
              <a:ext uri="{FF2B5EF4-FFF2-40B4-BE49-F238E27FC236}">
                <a16:creationId xmlns:a16="http://schemas.microsoft.com/office/drawing/2014/main" id="{13D9A5D3-B0A8-4927-9DD3-2A36B9B09797}"/>
              </a:ext>
            </a:extLst>
          </p:cNvPr>
          <p:cNvSpPr>
            <a:spLocks xmlns:a="http://schemas.openxmlformats.org/drawingml/2006/main" noGrp="1"/>
          </p:cNvSpPr>
          <p:nvPr/>
        </p:nvSpPr>
        <p:spPr>
          <a:xfrm xmlns:a="http://schemas.openxmlformats.org/drawingml/2006/main">
            <a:off x="6000750" y="1714500"/>
            <a:ext cx="19050" cy="3638550"/>
          </a:xfrm>
          <a:prstGeom xmlns:a="http://schemas.openxmlformats.org/drawingml/2006/main" prst="rect">
            <a:avLst/>
          </a:prstGeom>
          <a:solidFill xmlns:a="http://schemas.openxmlformats.org/drawingml/2006/main">
            <a:srgbClr val="F4B942"/>
          </a:solidFill>
          <a:ln xmlns:a="http://schemas.openxmlformats.org/drawingml/2006/main" w="0">
            <a:solidFill>
              <a:srgbClr val="F4B942"/>
            </a:solidFill>
            <a:prstDash val="solid"/>
          </a:ln>
        </p:spPr>
      </p:sp>
      <p:sp>
        <p:nvSpPr>
          <p:cNvPr id="32" name="">
            <a:extLst xmlns:a="http://schemas.openxmlformats.org/drawingml/2006/main">
              <a:ext uri="{FF2B5EF4-FFF2-40B4-BE49-F238E27FC236}">
                <a16:creationId xmlns:a16="http://schemas.microsoft.com/office/drawing/2014/main" id="{3DBFA90A-292A-4A9B-820B-C369ECF00287}"/>
              </a:ext>
            </a:extLst>
          </p:cNvPr>
          <p:cNvSpPr>
            <a:spLocks xmlns:a="http://schemas.openxmlformats.org/drawingml/2006/main" noGrp="1"/>
          </p:cNvSpPr>
          <p:nvPr/>
        </p:nvSpPr>
        <p:spPr>
          <a:xfrm xmlns:a="http://schemas.openxmlformats.org/drawingml/2006/main">
            <a:off x="5467350" y="5524500"/>
            <a:ext cx="1104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4B942"/>
                </a:solidFill>
              </a:defRPr>
            </a:pPr>
            <a:r>
              <a:rPr sz="975" b="1">
                <a:solidFill>
                  <a:srgbClr val="F4B942"/>
                </a:solidFill>
              </a:rPr>
              <a:t>BOUNDARY</a:t>
            </a:r>
          </a:p>
        </p:txBody>
      </p:sp>
      <p:sp>
        <p:nvSpPr>
          <p:cNvPr id="33" name="">
            <a:extLst xmlns:a="http://schemas.openxmlformats.org/drawingml/2006/main">
              <a:ext uri="{FF2B5EF4-FFF2-40B4-BE49-F238E27FC236}">
                <a16:creationId xmlns:a16="http://schemas.microsoft.com/office/drawing/2014/main" id="{494E431B-AAFE-4A11-ADD9-E330017A0444}"/>
              </a:ext>
            </a:extLst>
          </p:cNvPr>
          <p:cNvSpPr>
            <a:spLocks xmlns:a="http://schemas.openxmlformats.org/drawingml/2006/main" noGrp="1"/>
          </p:cNvSpPr>
          <p:nvPr/>
        </p:nvSpPr>
        <p:spPr>
          <a:xfrm xmlns:a="http://schemas.openxmlformats.org/drawingml/2006/main">
            <a:off x="3733800" y="5810250"/>
            <a:ext cx="4724400" cy="400050"/>
          </a:xfrm>
          <a:prstGeom xmlns:a="http://schemas.openxmlformats.org/drawingml/2006/main" prst="roundRect">
            <a:avLst>
              <a:gd name="adj" fmla="val 28571"/>
            </a:avLst>
          </a:prstGeom>
          <a:solidFill xmlns:a="http://schemas.openxmlformats.org/drawingml/2006/main">
            <a:srgbClr val="06111E"/>
          </a:solidFill>
          <a:ln xmlns:a="http://schemas.openxmlformats.org/drawingml/2006/main" w="9525">
            <a:solidFill>
              <a:srgbClr val="F06464"/>
            </a:solidFill>
            <a:prstDash val="solid"/>
          </a:ln>
        </p:spPr>
      </p:sp>
      <p:sp>
        <p:nvSpPr>
          <p:cNvPr id="34" name="">
            <a:extLst xmlns:a="http://schemas.openxmlformats.org/drawingml/2006/main">
              <a:ext uri="{FF2B5EF4-FFF2-40B4-BE49-F238E27FC236}">
                <a16:creationId xmlns:a16="http://schemas.microsoft.com/office/drawing/2014/main" id="{2655116F-5D18-4FDE-9FF6-4273512100AB}"/>
              </a:ext>
            </a:extLst>
          </p:cNvPr>
          <p:cNvSpPr>
            <a:spLocks xmlns:a="http://schemas.openxmlformats.org/drawingml/2006/main" noGrp="1"/>
          </p:cNvSpPr>
          <p:nvPr/>
        </p:nvSpPr>
        <p:spPr>
          <a:xfrm xmlns:a="http://schemas.openxmlformats.org/drawingml/2006/main">
            <a:off x="3905250" y="586740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06464"/>
                </a:solidFill>
              </a:defRPr>
            </a:pPr>
            <a:r>
              <a:rPr sz="1125" b="1">
                <a:solidFill>
                  <a:srgbClr val="F06464"/>
                </a:solidFill>
              </a:rPr>
              <a:t>Never delegated to the LLM: raw SQL, DDL/DML, utilities, admin commands, shell execution or credentials.</a:t>
            </a:r>
          </a:p>
        </p:txBody>
      </p:sp>
    </p:spTree>
    <p:extLst>
      <p:ext uri="{BB962C8B-B14F-4D97-AF65-F5344CB8AC3E}">
        <p14:creationId xmlns:p14="http://schemas.microsoft.com/office/powerpoint/2010/main" val="691352140"/>
      </p:ext>
    </p:extLst>
  </p:cSld>
</p:sld>
</file>

<file path=ppt/slides/slide10.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57513BE-F2F8-458D-ADA4-FD39358DE0A8}"/>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73DCA7EB-46CC-4378-AC3F-1EE09A5AF4BF}"/>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SECURITY AND GOVERNANCE</a:t>
            </a:r>
          </a:p>
        </p:txBody>
      </p:sp>
      <p:sp>
        <p:nvSpPr>
          <p:cNvPr id="3" name="slide-title">
            <a:extLst xmlns:a="http://schemas.openxmlformats.org/drawingml/2006/main">
              <a:ext uri="{FF2B5EF4-FFF2-40B4-BE49-F238E27FC236}">
                <a16:creationId xmlns:a16="http://schemas.microsoft.com/office/drawing/2014/main" id="{AD4A541B-3119-4FBD-AABB-700DB868C1DC}"/>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Read-only governance is enforced in layers</a:t>
            </a:r>
          </a:p>
        </p:txBody>
      </p:sp>
      <p:sp>
        <p:nvSpPr>
          <p:cNvPr id="4" name="">
            <a:extLst xmlns:a="http://schemas.openxmlformats.org/drawingml/2006/main">
              <a:ext uri="{FF2B5EF4-FFF2-40B4-BE49-F238E27FC236}">
                <a16:creationId xmlns:a16="http://schemas.microsoft.com/office/drawing/2014/main" id="{1857140F-58DE-4724-BFF5-B728F3FC6613}"/>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56877AD0-4938-4089-BFFF-02854C7109A4}"/>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00BEEA1D-E006-496F-B9A4-32CC128F5EC7}"/>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10</a:t>
            </a:r>
          </a:p>
        </p:txBody>
      </p:sp>
      <p:sp>
        <p:nvSpPr>
          <p:cNvPr id="7" name="">
            <a:extLst xmlns:a="http://schemas.openxmlformats.org/drawingml/2006/main">
              <a:ext uri="{FF2B5EF4-FFF2-40B4-BE49-F238E27FC236}">
                <a16:creationId xmlns:a16="http://schemas.microsoft.com/office/drawing/2014/main" id="{6D8BD675-6FF5-48E8-B721-69E8D4D7818C}"/>
              </a:ext>
            </a:extLst>
          </p:cNvPr>
          <p:cNvSpPr>
            <a:spLocks xmlns:a="http://schemas.openxmlformats.org/drawingml/2006/main" noGrp="1"/>
          </p:cNvSpPr>
          <p:nvPr/>
        </p:nvSpPr>
        <p:spPr>
          <a:xfrm xmlns:a="http://schemas.openxmlformats.org/drawingml/2006/main">
            <a:off x="742950" y="1600200"/>
            <a:ext cx="342900" cy="3429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1</a:t>
            </a:r>
          </a:p>
        </p:txBody>
      </p:sp>
      <p:sp>
        <p:nvSpPr>
          <p:cNvPr id="8" name="">
            <a:extLst xmlns:a="http://schemas.openxmlformats.org/drawingml/2006/main">
              <a:ext uri="{FF2B5EF4-FFF2-40B4-BE49-F238E27FC236}">
                <a16:creationId xmlns:a16="http://schemas.microsoft.com/office/drawing/2014/main" id="{9BAE850E-87F9-476B-AB79-4DE046C1E470}"/>
              </a:ext>
            </a:extLst>
          </p:cNvPr>
          <p:cNvSpPr>
            <a:spLocks xmlns:a="http://schemas.openxmlformats.org/drawingml/2006/main" noGrp="1"/>
          </p:cNvSpPr>
          <p:nvPr/>
        </p:nvSpPr>
        <p:spPr>
          <a:xfrm xmlns:a="http://schemas.openxmlformats.org/drawingml/2006/main">
            <a:off x="1200150" y="1504950"/>
            <a:ext cx="7124700" cy="533400"/>
          </a:xfrm>
          <a:prstGeom xmlns:a="http://schemas.openxmlformats.org/drawingml/2006/main" prst="roundRect">
            <a:avLst>
              <a:gd name="adj" fmla="val 21429"/>
            </a:avLst>
          </a:prstGeom>
          <a:solidFill xmlns:a="http://schemas.openxmlformats.org/drawingml/2006/main">
            <a:srgbClr val="143A55"/>
          </a:solidFill>
          <a:ln xmlns:a="http://schemas.openxmlformats.org/drawingml/2006/main" w="9525">
            <a:solidFill>
              <a:srgbClr val="F4B942"/>
            </a:solidFill>
            <a:prstDash val="solid"/>
          </a:ln>
        </p:spPr>
      </p:sp>
      <p:sp>
        <p:nvSpPr>
          <p:cNvPr id="9" name="">
            <a:extLst xmlns:a="http://schemas.openxmlformats.org/drawingml/2006/main">
              <a:ext uri="{FF2B5EF4-FFF2-40B4-BE49-F238E27FC236}">
                <a16:creationId xmlns:a16="http://schemas.microsoft.com/office/drawing/2014/main" id="{256C3DB7-6E96-4C8B-A7D9-446C70B24EB8}"/>
              </a:ext>
            </a:extLst>
          </p:cNvPr>
          <p:cNvSpPr>
            <a:spLocks xmlns:a="http://schemas.openxmlformats.org/drawingml/2006/main" noGrp="1"/>
          </p:cNvSpPr>
          <p:nvPr/>
        </p:nvSpPr>
        <p:spPr>
          <a:xfrm xmlns:a="http://schemas.openxmlformats.org/drawingml/2006/main">
            <a:off x="1409700" y="1571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Prompt boundary</a:t>
            </a:r>
          </a:p>
        </p:txBody>
      </p:sp>
      <p:sp>
        <p:nvSpPr>
          <p:cNvPr id="10" name="">
            <a:extLst xmlns:a="http://schemas.openxmlformats.org/drawingml/2006/main">
              <a:ext uri="{FF2B5EF4-FFF2-40B4-BE49-F238E27FC236}">
                <a16:creationId xmlns:a16="http://schemas.microsoft.com/office/drawing/2014/main" id="{9AC953C6-5CB1-4657-9796-C7112A94C453}"/>
              </a:ext>
            </a:extLst>
          </p:cNvPr>
          <p:cNvSpPr>
            <a:spLocks xmlns:a="http://schemas.openxmlformats.org/drawingml/2006/main" noGrp="1"/>
          </p:cNvSpPr>
          <p:nvPr/>
        </p:nvSpPr>
        <p:spPr>
          <a:xfrm xmlns:a="http://schemas.openxmlformats.org/drawingml/2006/main">
            <a:off x="3238500" y="157162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Blocks injection, secret requests, off-topic and mutation/admin intent</a:t>
            </a:r>
          </a:p>
        </p:txBody>
      </p:sp>
      <p:sp>
        <p:nvSpPr>
          <p:cNvPr id="11" name="">
            <a:extLst xmlns:a="http://schemas.openxmlformats.org/drawingml/2006/main">
              <a:ext uri="{FF2B5EF4-FFF2-40B4-BE49-F238E27FC236}">
                <a16:creationId xmlns:a16="http://schemas.microsoft.com/office/drawing/2014/main" id="{DA1C25C5-0544-4F4A-9299-A5CF763E166B}"/>
              </a:ext>
            </a:extLst>
          </p:cNvPr>
          <p:cNvSpPr>
            <a:spLocks xmlns:a="http://schemas.openxmlformats.org/drawingml/2006/main" noGrp="1"/>
          </p:cNvSpPr>
          <p:nvPr/>
        </p:nvSpPr>
        <p:spPr>
          <a:xfrm xmlns:a="http://schemas.openxmlformats.org/drawingml/2006/main">
            <a:off x="742950" y="2286000"/>
            <a:ext cx="342900" cy="3429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2</a:t>
            </a:r>
          </a:p>
        </p:txBody>
      </p:sp>
      <p:sp>
        <p:nvSpPr>
          <p:cNvPr id="12" name="">
            <a:extLst xmlns:a="http://schemas.openxmlformats.org/drawingml/2006/main">
              <a:ext uri="{FF2B5EF4-FFF2-40B4-BE49-F238E27FC236}">
                <a16:creationId xmlns:a16="http://schemas.microsoft.com/office/drawing/2014/main" id="{634C9432-2351-4A52-B825-AB35BEEE3778}"/>
              </a:ext>
            </a:extLst>
          </p:cNvPr>
          <p:cNvSpPr>
            <a:spLocks xmlns:a="http://schemas.openxmlformats.org/drawingml/2006/main" noGrp="1"/>
          </p:cNvSpPr>
          <p:nvPr/>
        </p:nvSpPr>
        <p:spPr>
          <a:xfrm xmlns:a="http://schemas.openxmlformats.org/drawingml/2006/main">
            <a:off x="1200150" y="2190750"/>
            <a:ext cx="7124700" cy="533400"/>
          </a:xfrm>
          <a:prstGeom xmlns:a="http://schemas.openxmlformats.org/drawingml/2006/main" prst="roundRect">
            <a:avLst>
              <a:gd name="adj" fmla="val 21429"/>
            </a:avLst>
          </a:prstGeom>
          <a:solidFill xmlns:a="http://schemas.openxmlformats.org/drawingml/2006/main">
            <a:srgbClr val="102A43"/>
          </a:solidFill>
          <a:ln xmlns:a="http://schemas.openxmlformats.org/drawingml/2006/main" w="9525">
            <a:solidFill>
              <a:srgbClr val="3B82F6"/>
            </a:solidFill>
            <a:prstDash val="solid"/>
          </a:ln>
        </p:spPr>
      </p:sp>
      <p:sp>
        <p:nvSpPr>
          <p:cNvPr id="13" name="">
            <a:extLst xmlns:a="http://schemas.openxmlformats.org/drawingml/2006/main">
              <a:ext uri="{FF2B5EF4-FFF2-40B4-BE49-F238E27FC236}">
                <a16:creationId xmlns:a16="http://schemas.microsoft.com/office/drawing/2014/main" id="{1C68B23E-34C7-46ED-B7F3-BCF691990D43}"/>
              </a:ext>
            </a:extLst>
          </p:cNvPr>
          <p:cNvSpPr>
            <a:spLocks xmlns:a="http://schemas.openxmlformats.org/drawingml/2006/main" noGrp="1"/>
          </p:cNvSpPr>
          <p:nvPr/>
        </p:nvSpPr>
        <p:spPr>
          <a:xfrm xmlns:a="http://schemas.openxmlformats.org/drawingml/2006/main">
            <a:off x="1409700" y="22574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Route boundary</a:t>
            </a:r>
          </a:p>
        </p:txBody>
      </p:sp>
      <p:sp>
        <p:nvSpPr>
          <p:cNvPr id="14" name="">
            <a:extLst xmlns:a="http://schemas.openxmlformats.org/drawingml/2006/main">
              <a:ext uri="{FF2B5EF4-FFF2-40B4-BE49-F238E27FC236}">
                <a16:creationId xmlns:a16="http://schemas.microsoft.com/office/drawing/2014/main" id="{D7282DD5-FDFC-48BC-A587-264BE0C42545}"/>
              </a:ext>
            </a:extLst>
          </p:cNvPr>
          <p:cNvSpPr>
            <a:spLocks xmlns:a="http://schemas.openxmlformats.org/drawingml/2006/main" noGrp="1"/>
          </p:cNvSpPr>
          <p:nvPr/>
        </p:nvSpPr>
        <p:spPr>
          <a:xfrm xmlns:a="http://schemas.openxmlformats.org/drawingml/2006/main">
            <a:off x="3238500" y="225742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Strict structured route; normalize, repair, clarify or block</a:t>
            </a:r>
          </a:p>
        </p:txBody>
      </p:sp>
      <p:sp>
        <p:nvSpPr>
          <p:cNvPr id="15" name="">
            <a:extLst xmlns:a="http://schemas.openxmlformats.org/drawingml/2006/main">
              <a:ext uri="{FF2B5EF4-FFF2-40B4-BE49-F238E27FC236}">
                <a16:creationId xmlns:a16="http://schemas.microsoft.com/office/drawing/2014/main" id="{A3337FA7-DA33-49DC-A97C-F26AAFC842D2}"/>
              </a:ext>
            </a:extLst>
          </p:cNvPr>
          <p:cNvSpPr>
            <a:spLocks xmlns:a="http://schemas.openxmlformats.org/drawingml/2006/main" noGrp="1"/>
          </p:cNvSpPr>
          <p:nvPr/>
        </p:nvSpPr>
        <p:spPr>
          <a:xfrm xmlns:a="http://schemas.openxmlformats.org/drawingml/2006/main">
            <a:off x="742950" y="2971800"/>
            <a:ext cx="342900" cy="3429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3</a:t>
            </a:r>
          </a:p>
        </p:txBody>
      </p:sp>
      <p:sp>
        <p:nvSpPr>
          <p:cNvPr id="16" name="">
            <a:extLst xmlns:a="http://schemas.openxmlformats.org/drawingml/2006/main">
              <a:ext uri="{FF2B5EF4-FFF2-40B4-BE49-F238E27FC236}">
                <a16:creationId xmlns:a16="http://schemas.microsoft.com/office/drawing/2014/main" id="{1B22DBE9-7727-47F9-B078-CAA8EE263BA4}"/>
              </a:ext>
            </a:extLst>
          </p:cNvPr>
          <p:cNvSpPr>
            <a:spLocks xmlns:a="http://schemas.openxmlformats.org/drawingml/2006/main" noGrp="1"/>
          </p:cNvSpPr>
          <p:nvPr/>
        </p:nvSpPr>
        <p:spPr>
          <a:xfrm xmlns:a="http://schemas.openxmlformats.org/drawingml/2006/main">
            <a:off x="1200150" y="2876550"/>
            <a:ext cx="7124700" cy="533400"/>
          </a:xfrm>
          <a:prstGeom xmlns:a="http://schemas.openxmlformats.org/drawingml/2006/main" prst="roundRect">
            <a:avLst>
              <a:gd name="adj" fmla="val 21429"/>
            </a:avLst>
          </a:prstGeom>
          <a:solidFill xmlns:a="http://schemas.openxmlformats.org/drawingml/2006/main">
            <a:srgbClr val="143A55"/>
          </a:solidFill>
          <a:ln xmlns:a="http://schemas.openxmlformats.org/drawingml/2006/main" w="9525">
            <a:solidFill>
              <a:srgbClr val="35D07F"/>
            </a:solidFill>
            <a:prstDash val="solid"/>
          </a:ln>
        </p:spPr>
      </p:sp>
      <p:sp>
        <p:nvSpPr>
          <p:cNvPr id="17" name="">
            <a:extLst xmlns:a="http://schemas.openxmlformats.org/drawingml/2006/main">
              <a:ext uri="{FF2B5EF4-FFF2-40B4-BE49-F238E27FC236}">
                <a16:creationId xmlns:a16="http://schemas.microsoft.com/office/drawing/2014/main" id="{C6D937A1-61C2-48DD-BA7D-0A714C016C3D}"/>
              </a:ext>
            </a:extLst>
          </p:cNvPr>
          <p:cNvSpPr>
            <a:spLocks xmlns:a="http://schemas.openxmlformats.org/drawingml/2006/main" noGrp="1"/>
          </p:cNvSpPr>
          <p:nvPr/>
        </p:nvSpPr>
        <p:spPr>
          <a:xfrm xmlns:a="http://schemas.openxmlformats.org/drawingml/2006/main">
            <a:off x="1409700" y="29432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Tool boundary</a:t>
            </a:r>
          </a:p>
        </p:txBody>
      </p:sp>
      <p:sp>
        <p:nvSpPr>
          <p:cNvPr id="18" name="">
            <a:extLst xmlns:a="http://schemas.openxmlformats.org/drawingml/2006/main">
              <a:ext uri="{FF2B5EF4-FFF2-40B4-BE49-F238E27FC236}">
                <a16:creationId xmlns:a16="http://schemas.microsoft.com/office/drawing/2014/main" id="{2F3AC596-490A-477A-869E-51DF631BB662}"/>
              </a:ext>
            </a:extLst>
          </p:cNvPr>
          <p:cNvSpPr>
            <a:spLocks xmlns:a="http://schemas.openxmlformats.org/drawingml/2006/main" noGrp="1"/>
          </p:cNvSpPr>
          <p:nvPr/>
        </p:nvSpPr>
        <p:spPr>
          <a:xfrm xmlns:a="http://schemas.openxmlformats.org/drawingml/2006/main">
            <a:off x="3238500" y="294322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Only approved tool objects are callable; no arbitrary SQL surface</a:t>
            </a:r>
          </a:p>
        </p:txBody>
      </p:sp>
      <p:sp>
        <p:nvSpPr>
          <p:cNvPr id="19" name="">
            <a:extLst xmlns:a="http://schemas.openxmlformats.org/drawingml/2006/main">
              <a:ext uri="{FF2B5EF4-FFF2-40B4-BE49-F238E27FC236}">
                <a16:creationId xmlns:a16="http://schemas.microsoft.com/office/drawing/2014/main" id="{9430C05A-CF23-4167-AFED-8CC93FE4A1EF}"/>
              </a:ext>
            </a:extLst>
          </p:cNvPr>
          <p:cNvSpPr>
            <a:spLocks xmlns:a="http://schemas.openxmlformats.org/drawingml/2006/main" noGrp="1"/>
          </p:cNvSpPr>
          <p:nvPr/>
        </p:nvSpPr>
        <p:spPr>
          <a:xfrm xmlns:a="http://schemas.openxmlformats.org/drawingml/2006/main">
            <a:off x="742950" y="3657600"/>
            <a:ext cx="342900" cy="3429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4</a:t>
            </a:r>
          </a:p>
        </p:txBody>
      </p:sp>
      <p:sp>
        <p:nvSpPr>
          <p:cNvPr id="20" name="">
            <a:extLst xmlns:a="http://schemas.openxmlformats.org/drawingml/2006/main">
              <a:ext uri="{FF2B5EF4-FFF2-40B4-BE49-F238E27FC236}">
                <a16:creationId xmlns:a16="http://schemas.microsoft.com/office/drawing/2014/main" id="{56DF0CE1-FF7F-4904-AB03-D8A3BF8CEE41}"/>
              </a:ext>
            </a:extLst>
          </p:cNvPr>
          <p:cNvSpPr>
            <a:spLocks xmlns:a="http://schemas.openxmlformats.org/drawingml/2006/main" noGrp="1"/>
          </p:cNvSpPr>
          <p:nvPr/>
        </p:nvSpPr>
        <p:spPr>
          <a:xfrm xmlns:a="http://schemas.openxmlformats.org/drawingml/2006/main">
            <a:off x="1200150" y="3562350"/>
            <a:ext cx="7124700" cy="533400"/>
          </a:xfrm>
          <a:prstGeom xmlns:a="http://schemas.openxmlformats.org/drawingml/2006/main" prst="roundRect">
            <a:avLst>
              <a:gd name="adj" fmla="val 21429"/>
            </a:avLst>
          </a:prstGeom>
          <a:solidFill xmlns:a="http://schemas.openxmlformats.org/drawingml/2006/main">
            <a:srgbClr val="102A43"/>
          </a:solidFill>
          <a:ln xmlns:a="http://schemas.openxmlformats.org/drawingml/2006/main" w="9525">
            <a:solidFill>
              <a:srgbClr val="35D07F"/>
            </a:solidFill>
            <a:prstDash val="solid"/>
          </a:ln>
        </p:spPr>
      </p:sp>
      <p:sp>
        <p:nvSpPr>
          <p:cNvPr id="21" name="">
            <a:extLst xmlns:a="http://schemas.openxmlformats.org/drawingml/2006/main">
              <a:ext uri="{FF2B5EF4-FFF2-40B4-BE49-F238E27FC236}">
                <a16:creationId xmlns:a16="http://schemas.microsoft.com/office/drawing/2014/main" id="{B569285F-1C7C-4D1C-A9C5-15A11111589E}"/>
              </a:ext>
            </a:extLst>
          </p:cNvPr>
          <p:cNvSpPr>
            <a:spLocks xmlns:a="http://schemas.openxmlformats.org/drawingml/2006/main" noGrp="1"/>
          </p:cNvSpPr>
          <p:nvPr/>
        </p:nvSpPr>
        <p:spPr>
          <a:xfrm xmlns:a="http://schemas.openxmlformats.org/drawingml/2006/main">
            <a:off x="1409700" y="36290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SQL boundary</a:t>
            </a:r>
          </a:p>
        </p:txBody>
      </p:sp>
      <p:sp>
        <p:nvSpPr>
          <p:cNvPr id="22" name="">
            <a:extLst xmlns:a="http://schemas.openxmlformats.org/drawingml/2006/main">
              <a:ext uri="{FF2B5EF4-FFF2-40B4-BE49-F238E27FC236}">
                <a16:creationId xmlns:a16="http://schemas.microsoft.com/office/drawing/2014/main" id="{E1EE8F29-8EC3-4D0C-91DF-CFA72D1613BD}"/>
              </a:ext>
            </a:extLst>
          </p:cNvPr>
          <p:cNvSpPr>
            <a:spLocks xmlns:a="http://schemas.openxmlformats.org/drawingml/2006/main" noGrp="1"/>
          </p:cNvSpPr>
          <p:nvPr/>
        </p:nvSpPr>
        <p:spPr>
          <a:xfrm xmlns:a="http://schemas.openxmlformats.org/drawingml/2006/main">
            <a:off x="3238500" y="362902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SELECT-only validation; blocked keywords and catalog-only design</a:t>
            </a:r>
          </a:p>
        </p:txBody>
      </p:sp>
      <p:sp>
        <p:nvSpPr>
          <p:cNvPr id="23" name="">
            <a:extLst xmlns:a="http://schemas.openxmlformats.org/drawingml/2006/main">
              <a:ext uri="{FF2B5EF4-FFF2-40B4-BE49-F238E27FC236}">
                <a16:creationId xmlns:a16="http://schemas.microsoft.com/office/drawing/2014/main" id="{79108E47-6100-4BAD-B9D6-B6C17E36A421}"/>
              </a:ext>
            </a:extLst>
          </p:cNvPr>
          <p:cNvSpPr>
            <a:spLocks xmlns:a="http://schemas.openxmlformats.org/drawingml/2006/main" noGrp="1"/>
          </p:cNvSpPr>
          <p:nvPr/>
        </p:nvSpPr>
        <p:spPr>
          <a:xfrm xmlns:a="http://schemas.openxmlformats.org/drawingml/2006/main">
            <a:off x="742950" y="4343400"/>
            <a:ext cx="342900" cy="342900"/>
          </a:xfrm>
          <a:prstGeom xmlns:a="http://schemas.openxmlformats.org/drawingml/2006/main" prst="ellipse">
            <a:avLst/>
          </a:prstGeom>
          <a:solidFill xmlns:a="http://schemas.openxmlformats.org/drawingml/2006/main">
            <a:srgbClr val="40D9FF"/>
          </a:solidFill>
          <a:ln xmlns:a="http://schemas.openxmlformats.org/drawingml/2006/main" w="9525">
            <a:solidFill>
              <a:srgbClr val="40D9FF"/>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5</a:t>
            </a:r>
          </a:p>
        </p:txBody>
      </p:sp>
      <p:sp>
        <p:nvSpPr>
          <p:cNvPr id="24" name="">
            <a:extLst xmlns:a="http://schemas.openxmlformats.org/drawingml/2006/main">
              <a:ext uri="{FF2B5EF4-FFF2-40B4-BE49-F238E27FC236}">
                <a16:creationId xmlns:a16="http://schemas.microsoft.com/office/drawing/2014/main" id="{8A3F7BCC-67C9-4AE0-A97B-CFC4B82E0A80}"/>
              </a:ext>
            </a:extLst>
          </p:cNvPr>
          <p:cNvSpPr>
            <a:spLocks xmlns:a="http://schemas.openxmlformats.org/drawingml/2006/main" noGrp="1"/>
          </p:cNvSpPr>
          <p:nvPr/>
        </p:nvSpPr>
        <p:spPr>
          <a:xfrm xmlns:a="http://schemas.openxmlformats.org/drawingml/2006/main">
            <a:off x="1200150" y="4248150"/>
            <a:ext cx="7124700" cy="533400"/>
          </a:xfrm>
          <a:prstGeom xmlns:a="http://schemas.openxmlformats.org/drawingml/2006/main" prst="roundRect">
            <a:avLst>
              <a:gd name="adj" fmla="val 21429"/>
            </a:avLst>
          </a:prstGeom>
          <a:solidFill xmlns:a="http://schemas.openxmlformats.org/drawingml/2006/main">
            <a:srgbClr val="143A55"/>
          </a:solidFill>
          <a:ln xmlns:a="http://schemas.openxmlformats.org/drawingml/2006/main" w="9525">
            <a:solidFill>
              <a:srgbClr val="40D9FF"/>
            </a:solidFill>
            <a:prstDash val="solid"/>
          </a:ln>
        </p:spPr>
      </p:sp>
      <p:sp>
        <p:nvSpPr>
          <p:cNvPr id="25" name="">
            <a:extLst xmlns:a="http://schemas.openxmlformats.org/drawingml/2006/main">
              <a:ext uri="{FF2B5EF4-FFF2-40B4-BE49-F238E27FC236}">
                <a16:creationId xmlns:a16="http://schemas.microsoft.com/office/drawing/2014/main" id="{C4109D2B-73D0-4481-A21E-1D03FD3EA1B8}"/>
              </a:ext>
            </a:extLst>
          </p:cNvPr>
          <p:cNvSpPr>
            <a:spLocks xmlns:a="http://schemas.openxmlformats.org/drawingml/2006/main" noGrp="1"/>
          </p:cNvSpPr>
          <p:nvPr/>
        </p:nvSpPr>
        <p:spPr>
          <a:xfrm xmlns:a="http://schemas.openxmlformats.org/drawingml/2006/main">
            <a:off x="1409700" y="43148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Data boundary</a:t>
            </a:r>
          </a:p>
        </p:txBody>
      </p:sp>
      <p:sp>
        <p:nvSpPr>
          <p:cNvPr id="26" name="">
            <a:extLst xmlns:a="http://schemas.openxmlformats.org/drawingml/2006/main">
              <a:ext uri="{FF2B5EF4-FFF2-40B4-BE49-F238E27FC236}">
                <a16:creationId xmlns:a16="http://schemas.microsoft.com/office/drawing/2014/main" id="{025D5BF2-0663-4F0A-B0CC-95C01F6DA86A}"/>
              </a:ext>
            </a:extLst>
          </p:cNvPr>
          <p:cNvSpPr>
            <a:spLocks xmlns:a="http://schemas.openxmlformats.org/drawingml/2006/main" noGrp="1"/>
          </p:cNvSpPr>
          <p:nvPr/>
        </p:nvSpPr>
        <p:spPr>
          <a:xfrm xmlns:a="http://schemas.openxmlformats.org/drawingml/2006/main">
            <a:off x="3238500" y="431482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SYSIBM catalog/RTS evidence; no application-table SELECT or COUNT(*)</a:t>
            </a:r>
          </a:p>
        </p:txBody>
      </p:sp>
      <p:sp>
        <p:nvSpPr>
          <p:cNvPr id="27" name="">
            <a:extLst xmlns:a="http://schemas.openxmlformats.org/drawingml/2006/main">
              <a:ext uri="{FF2B5EF4-FFF2-40B4-BE49-F238E27FC236}">
                <a16:creationId xmlns:a16="http://schemas.microsoft.com/office/drawing/2014/main" id="{0490D264-2CEC-4D4C-B00C-5E8117B2B007}"/>
              </a:ext>
            </a:extLst>
          </p:cNvPr>
          <p:cNvSpPr>
            <a:spLocks xmlns:a="http://schemas.openxmlformats.org/drawingml/2006/main" noGrp="1"/>
          </p:cNvSpPr>
          <p:nvPr/>
        </p:nvSpPr>
        <p:spPr>
          <a:xfrm xmlns:a="http://schemas.openxmlformats.org/drawingml/2006/main">
            <a:off x="742950" y="5029200"/>
            <a:ext cx="342900" cy="3429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5FAFF"/>
                </a:solidFill>
              </a:defRPr>
            </a:pPr>
            <a:r>
              <a:rPr sz="1125" b="1">
                <a:solidFill>
                  <a:srgbClr val="F5FAFF"/>
                </a:solidFill>
              </a:rPr>
              <a:t>6</a:t>
            </a:r>
          </a:p>
        </p:txBody>
      </p:sp>
      <p:sp>
        <p:nvSpPr>
          <p:cNvPr id="28" name="">
            <a:extLst xmlns:a="http://schemas.openxmlformats.org/drawingml/2006/main">
              <a:ext uri="{FF2B5EF4-FFF2-40B4-BE49-F238E27FC236}">
                <a16:creationId xmlns:a16="http://schemas.microsoft.com/office/drawing/2014/main" id="{E1998DF6-1292-4CBC-A69C-2D4E81287895}"/>
              </a:ext>
            </a:extLst>
          </p:cNvPr>
          <p:cNvSpPr>
            <a:spLocks xmlns:a="http://schemas.openxmlformats.org/drawingml/2006/main" noGrp="1"/>
          </p:cNvSpPr>
          <p:nvPr/>
        </p:nvSpPr>
        <p:spPr>
          <a:xfrm xmlns:a="http://schemas.openxmlformats.org/drawingml/2006/main">
            <a:off x="1200150" y="4933950"/>
            <a:ext cx="7124700" cy="533400"/>
          </a:xfrm>
          <a:prstGeom xmlns:a="http://schemas.openxmlformats.org/drawingml/2006/main" prst="roundRect">
            <a:avLst>
              <a:gd name="adj" fmla="val 21429"/>
            </a:avLst>
          </a:prstGeom>
          <a:solidFill xmlns:a="http://schemas.openxmlformats.org/drawingml/2006/main">
            <a:srgbClr val="102A43"/>
          </a:solidFill>
          <a:ln xmlns:a="http://schemas.openxmlformats.org/drawingml/2006/main" w="9525">
            <a:solidFill>
              <a:srgbClr val="3B82F6"/>
            </a:solidFill>
            <a:prstDash val="solid"/>
          </a:ln>
        </p:spPr>
      </p:sp>
      <p:sp>
        <p:nvSpPr>
          <p:cNvPr id="29" name="">
            <a:extLst xmlns:a="http://schemas.openxmlformats.org/drawingml/2006/main">
              <a:ext uri="{FF2B5EF4-FFF2-40B4-BE49-F238E27FC236}">
                <a16:creationId xmlns:a16="http://schemas.microsoft.com/office/drawing/2014/main" id="{F960E8E1-0D6D-4FA9-84CF-F36D22072D7D}"/>
              </a:ext>
            </a:extLst>
          </p:cNvPr>
          <p:cNvSpPr>
            <a:spLocks xmlns:a="http://schemas.openxmlformats.org/drawingml/2006/main" noGrp="1"/>
          </p:cNvSpPr>
          <p:nvPr/>
        </p:nvSpPr>
        <p:spPr>
          <a:xfrm xmlns:a="http://schemas.openxmlformats.org/drawingml/2006/main">
            <a:off x="1409700" y="5000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F5FAFF"/>
                </a:solidFill>
              </a:defRPr>
            </a:pPr>
            <a:r>
              <a:rPr sz="1350" b="1">
                <a:solidFill>
                  <a:srgbClr val="F5FAFF"/>
                </a:solidFill>
              </a:rPr>
              <a:t>Output boundary</a:t>
            </a:r>
          </a:p>
        </p:txBody>
      </p:sp>
      <p:sp>
        <p:nvSpPr>
          <p:cNvPr id="30" name="">
            <a:extLst xmlns:a="http://schemas.openxmlformats.org/drawingml/2006/main">
              <a:ext uri="{FF2B5EF4-FFF2-40B4-BE49-F238E27FC236}">
                <a16:creationId xmlns:a16="http://schemas.microsoft.com/office/drawing/2014/main" id="{2EF2BC0C-DAD2-4802-A185-0762D410484B}"/>
              </a:ext>
            </a:extLst>
          </p:cNvPr>
          <p:cNvSpPr>
            <a:spLocks xmlns:a="http://schemas.openxmlformats.org/drawingml/2006/main" noGrp="1"/>
          </p:cNvSpPr>
          <p:nvPr/>
        </p:nvSpPr>
        <p:spPr>
          <a:xfrm xmlns:a="http://schemas.openxmlformats.org/drawingml/2006/main">
            <a:off x="3238500" y="5000625"/>
            <a:ext cx="4857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Safe memory, controlled logs and evidence-only Excel export</a:t>
            </a:r>
          </a:p>
        </p:txBody>
      </p:sp>
      <p:sp>
        <p:nvSpPr>
          <p:cNvPr id="31" name="">
            <a:extLst xmlns:a="http://schemas.openxmlformats.org/drawingml/2006/main">
              <a:ext uri="{FF2B5EF4-FFF2-40B4-BE49-F238E27FC236}">
                <a16:creationId xmlns:a16="http://schemas.microsoft.com/office/drawing/2014/main" id="{2AB5510D-F36A-4D4E-953B-50B3D3EBE206}"/>
              </a:ext>
            </a:extLst>
          </p:cNvPr>
          <p:cNvSpPr>
            <a:spLocks xmlns:a="http://schemas.openxmlformats.org/drawingml/2006/main" noGrp="1"/>
          </p:cNvSpPr>
          <p:nvPr/>
        </p:nvSpPr>
        <p:spPr>
          <a:xfrm xmlns:a="http://schemas.openxmlformats.org/drawingml/2006/main">
            <a:off x="8743950" y="1504950"/>
            <a:ext cx="2762250" cy="2000250"/>
          </a:xfrm>
          <a:prstGeom xmlns:a="http://schemas.openxmlformats.org/drawingml/2006/main" prst="roundRect">
            <a:avLst>
              <a:gd name="adj" fmla="val 5714"/>
            </a:avLst>
          </a:prstGeom>
          <a:solidFill xmlns:a="http://schemas.openxmlformats.org/drawingml/2006/main">
            <a:srgbClr val="06111E"/>
          </a:solidFill>
          <a:ln xmlns:a="http://schemas.openxmlformats.org/drawingml/2006/main" w="9525">
            <a:solidFill>
              <a:srgbClr val="F06464"/>
            </a:solidFill>
            <a:prstDash val="solid"/>
          </a:ln>
        </p:spPr>
      </p:sp>
      <p:sp>
        <p:nvSpPr>
          <p:cNvPr id="32" name="">
            <a:extLst xmlns:a="http://schemas.openxmlformats.org/drawingml/2006/main">
              <a:ext uri="{FF2B5EF4-FFF2-40B4-BE49-F238E27FC236}">
                <a16:creationId xmlns:a16="http://schemas.microsoft.com/office/drawing/2014/main" id="{225E4185-D06C-48D0-97A6-2CFA1F45DB74}"/>
              </a:ext>
            </a:extLst>
          </p:cNvPr>
          <p:cNvSpPr>
            <a:spLocks xmlns:a="http://schemas.openxmlformats.org/drawingml/2006/main" noGrp="1"/>
          </p:cNvSpPr>
          <p:nvPr/>
        </p:nvSpPr>
        <p:spPr>
          <a:xfrm xmlns:a="http://schemas.openxmlformats.org/drawingml/2006/main">
            <a:off x="8972550" y="1657350"/>
            <a:ext cx="2305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06464"/>
                </a:solidFill>
              </a:defRPr>
            </a:pPr>
            <a:r>
              <a:rPr sz="1200" b="1">
                <a:solidFill>
                  <a:srgbClr val="F06464"/>
                </a:solidFill>
              </a:rPr>
              <a:t>BLOCKED / NOT EXECUTED</a:t>
            </a:r>
          </a:p>
        </p:txBody>
      </p:sp>
      <p:sp>
        <p:nvSpPr>
          <p:cNvPr id="33" name="">
            <a:extLst xmlns:a="http://schemas.openxmlformats.org/drawingml/2006/main">
              <a:ext uri="{FF2B5EF4-FFF2-40B4-BE49-F238E27FC236}">
                <a16:creationId xmlns:a16="http://schemas.microsoft.com/office/drawing/2014/main" id="{ADA1482B-01E2-4CE9-BE46-D386F97661D2}"/>
              </a:ext>
            </a:extLst>
          </p:cNvPr>
          <p:cNvSpPr>
            <a:spLocks xmlns:a="http://schemas.openxmlformats.org/drawingml/2006/main" noGrp="1"/>
          </p:cNvSpPr>
          <p:nvPr/>
        </p:nvSpPr>
        <p:spPr>
          <a:xfrm xmlns:a="http://schemas.openxmlformats.org/drawingml/2006/main">
            <a:off x="9010650" y="2266950"/>
            <a:ext cx="2228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F5FAFF"/>
                </a:solidFill>
              </a:defRPr>
            </a:pPr>
            <a:r>
              <a:rPr sz="1125" b="0">
                <a:solidFill>
                  <a:srgbClr val="F5FAFF"/>
                </a:solidFill>
              </a:rPr>
              <a:t>DDL / DML</a:t>
            </a:r>
          </a:p>
          <a:p xmlns:a="http://schemas.openxmlformats.org/drawingml/2006/main">
            <a:pPr algn="ctr">
              <a:defRPr sz="1125" b="0">
                <a:solidFill>
                  <a:srgbClr val="F5FAFF"/>
                </a:solidFill>
              </a:defRPr>
            </a:pPr>
            <a:r>
              <a:rPr sz="1125" b="0">
                <a:solidFill>
                  <a:srgbClr val="F5FAFF"/>
                </a:solidFill>
              </a:rPr>
              <a:t>GRANT / REVOKE</a:t>
            </a:r>
          </a:p>
          <a:p xmlns:a="http://schemas.openxmlformats.org/drawingml/2006/main">
            <a:pPr algn="ctr">
              <a:defRPr sz="1125" b="0">
                <a:solidFill>
                  <a:srgbClr val="F5FAFF"/>
                </a:solidFill>
              </a:defRPr>
            </a:pPr>
            <a:r>
              <a:rPr sz="1125" b="0">
                <a:solidFill>
                  <a:srgbClr val="F5FAFF"/>
                </a:solidFill>
              </a:rPr>
              <a:t>utilities and admin commands</a:t>
            </a:r>
          </a:p>
          <a:p xmlns:a="http://schemas.openxmlformats.org/drawingml/2006/main">
            <a:pPr algn="ctr">
              <a:defRPr sz="1125" b="0">
                <a:solidFill>
                  <a:srgbClr val="F5FAFF"/>
                </a:solidFill>
              </a:defRPr>
            </a:pPr>
            <a:r>
              <a:rPr sz="1125" b="0">
                <a:solidFill>
                  <a:srgbClr val="F5FAFF"/>
                </a:solidFill>
              </a:rPr>
              <a:t>raw LLM SQL</a:t>
            </a:r>
          </a:p>
          <a:p xmlns:a="http://schemas.openxmlformats.org/drawingml/2006/main">
            <a:pPr algn="ctr">
              <a:defRPr sz="1125" b="0">
                <a:solidFill>
                  <a:srgbClr val="F5FAFF"/>
                </a:solidFill>
              </a:defRPr>
            </a:pPr>
            <a:r>
              <a:rPr sz="1125" b="0">
                <a:solidFill>
                  <a:srgbClr val="F5FAFF"/>
                </a:solidFill>
              </a:rPr>
              <a:t>application data</a:t>
            </a:r>
          </a:p>
          <a:p xmlns:a="http://schemas.openxmlformats.org/drawingml/2006/main">
            <a:pPr algn="ctr">
              <a:defRPr sz="1125" b="0">
                <a:solidFill>
                  <a:srgbClr val="F5FAFF"/>
                </a:solidFill>
              </a:defRPr>
            </a:pPr>
            <a:r>
              <a:rPr sz="1125" b="0">
                <a:solidFill>
                  <a:srgbClr val="F5FAFF"/>
                </a:solidFill>
              </a:rPr>
              <a:t>shell / Python</a:t>
            </a:r>
          </a:p>
          <a:p xmlns:a="http://schemas.openxmlformats.org/drawingml/2006/main">
            <a:pPr algn="ctr">
              <a:defRPr sz="1125" b="0">
                <a:solidFill>
                  <a:srgbClr val="F5FAFF"/>
                </a:solidFill>
              </a:defRPr>
            </a:pPr>
            <a:r>
              <a:rPr sz="1125" b="0">
                <a:solidFill>
                  <a:srgbClr val="F5FAFF"/>
                </a:solidFill>
              </a:rPr>
              <a:t>credential disclosure</a:t>
            </a:r>
          </a:p>
        </p:txBody>
      </p:sp>
      <p:sp>
        <p:nvSpPr>
          <p:cNvPr id="34" name="">
            <a:extLst xmlns:a="http://schemas.openxmlformats.org/drawingml/2006/main">
              <a:ext uri="{FF2B5EF4-FFF2-40B4-BE49-F238E27FC236}">
                <a16:creationId xmlns:a16="http://schemas.microsoft.com/office/drawing/2014/main" id="{9D83A6F4-1971-4749-99C0-C9A49C1239CD}"/>
              </a:ext>
            </a:extLst>
          </p:cNvPr>
          <p:cNvSpPr>
            <a:spLocks xmlns:a="http://schemas.openxmlformats.org/drawingml/2006/main" noGrp="1"/>
          </p:cNvSpPr>
          <p:nvPr/>
        </p:nvSpPr>
        <p:spPr>
          <a:xfrm xmlns:a="http://schemas.openxmlformats.org/drawingml/2006/main">
            <a:off x="8743950" y="3752850"/>
            <a:ext cx="2762250" cy="1866900"/>
          </a:xfrm>
          <a:prstGeom xmlns:a="http://schemas.openxmlformats.org/drawingml/2006/main" prst="roundRect">
            <a:avLst>
              <a:gd name="adj" fmla="val 6122"/>
            </a:avLst>
          </a:prstGeom>
          <a:solidFill xmlns:a="http://schemas.openxmlformats.org/drawingml/2006/main">
            <a:srgbClr val="06111E"/>
          </a:solidFill>
          <a:ln xmlns:a="http://schemas.openxmlformats.org/drawingml/2006/main" w="9525">
            <a:solidFill>
              <a:srgbClr val="35D07F"/>
            </a:solidFill>
            <a:prstDash val="solid"/>
          </a:ln>
        </p:spPr>
      </p:sp>
      <p:sp>
        <p:nvSpPr>
          <p:cNvPr id="35" name="">
            <a:extLst xmlns:a="http://schemas.openxmlformats.org/drawingml/2006/main">
              <a:ext uri="{FF2B5EF4-FFF2-40B4-BE49-F238E27FC236}">
                <a16:creationId xmlns:a16="http://schemas.microsoft.com/office/drawing/2014/main" id="{FCDC5F5A-D7A8-4A62-99DA-194EBF3C2F42}"/>
              </a:ext>
            </a:extLst>
          </p:cNvPr>
          <p:cNvSpPr>
            <a:spLocks xmlns:a="http://schemas.openxmlformats.org/drawingml/2006/main" noGrp="1"/>
          </p:cNvSpPr>
          <p:nvPr/>
        </p:nvSpPr>
        <p:spPr>
          <a:xfrm xmlns:a="http://schemas.openxmlformats.org/drawingml/2006/main">
            <a:off x="8972550" y="3943350"/>
            <a:ext cx="2305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35D07F"/>
                </a:solidFill>
              </a:defRPr>
            </a:pPr>
            <a:r>
              <a:rPr sz="1275" b="1">
                <a:solidFill>
                  <a:srgbClr val="35D07F"/>
                </a:solidFill>
              </a:rPr>
              <a:t>ALLOWED</a:t>
            </a:r>
          </a:p>
        </p:txBody>
      </p:sp>
      <p:sp>
        <p:nvSpPr>
          <p:cNvPr id="36" name="">
            <a:extLst xmlns:a="http://schemas.openxmlformats.org/drawingml/2006/main">
              <a:ext uri="{FF2B5EF4-FFF2-40B4-BE49-F238E27FC236}">
                <a16:creationId xmlns:a16="http://schemas.microsoft.com/office/drawing/2014/main" id="{C1D52B5D-41A7-4497-960C-4AF48CCE7F31}"/>
              </a:ext>
            </a:extLst>
          </p:cNvPr>
          <p:cNvSpPr>
            <a:spLocks xmlns:a="http://schemas.openxmlformats.org/drawingml/2006/main" noGrp="1"/>
          </p:cNvSpPr>
          <p:nvPr/>
        </p:nvSpPr>
        <p:spPr>
          <a:xfrm xmlns:a="http://schemas.openxmlformats.org/drawingml/2006/main">
            <a:off x="9010650" y="4343400"/>
            <a:ext cx="22288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approved catalog/RTS queries</a:t>
            </a:r>
          </a:p>
          <a:p xmlns:a="http://schemas.openxmlformats.org/drawingml/2006/main">
            <a:pPr algn="ctr">
              <a:defRPr sz="1275" b="0">
                <a:solidFill>
                  <a:srgbClr val="F5FAFF"/>
                </a:solidFill>
              </a:defRPr>
            </a:pPr>
            <a:r>
              <a:rPr sz="1275" b="0">
                <a:solidFill>
                  <a:srgbClr val="F5FAFF"/>
                </a:solidFill>
              </a:rPr>
              <a:t>approved Python workflows</a:t>
            </a:r>
          </a:p>
          <a:p xmlns:a="http://schemas.openxmlformats.org/drawingml/2006/main">
            <a:pPr algn="ctr">
              <a:defRPr sz="1275" b="0">
                <a:solidFill>
                  <a:srgbClr val="F5FAFF"/>
                </a:solidFill>
              </a:defRPr>
            </a:pPr>
            <a:r>
              <a:rPr sz="1275" b="0">
                <a:solidFill>
                  <a:srgbClr val="F5FAFF"/>
                </a:solidFill>
              </a:rPr>
              <a:t>deterministic reference data</a:t>
            </a:r>
          </a:p>
          <a:p xmlns:a="http://schemas.openxmlformats.org/drawingml/2006/main">
            <a:pPr algn="ctr">
              <a:defRPr sz="1275" b="0">
                <a:solidFill>
                  <a:srgbClr val="F5FAFF"/>
                </a:solidFill>
              </a:defRPr>
            </a:pPr>
            <a:r>
              <a:rPr sz="1275" b="0">
                <a:solidFill>
                  <a:srgbClr val="F5FAFF"/>
                </a:solidFill>
              </a:rPr>
              <a:t>pasted-text parsing</a:t>
            </a:r>
          </a:p>
          <a:p xmlns:a="http://schemas.openxmlformats.org/drawingml/2006/main">
            <a:pPr algn="ctr">
              <a:defRPr sz="1275" b="0">
                <a:solidFill>
                  <a:srgbClr val="F5FAFF"/>
                </a:solidFill>
              </a:defRPr>
            </a:pPr>
            <a:r>
              <a:rPr sz="1275" b="0">
                <a:solidFill>
                  <a:srgbClr val="F5FAFF"/>
                </a:solidFill>
              </a:rPr>
              <a:t>terminal evidence</a:t>
            </a:r>
          </a:p>
          <a:p xmlns:a="http://schemas.openxmlformats.org/drawingml/2006/main">
            <a:pPr algn="ctr">
              <a:defRPr sz="1275" b="0">
                <a:solidFill>
                  <a:srgbClr val="F5FAFF"/>
                </a:solidFill>
              </a:defRPr>
            </a:pPr>
            <a:r>
              <a:rPr sz="1275" b="0">
                <a:solidFill>
                  <a:srgbClr val="F5FAFF"/>
                </a:solidFill>
              </a:rPr>
              <a:t>Excel evidence packs</a:t>
            </a:r>
          </a:p>
        </p:txBody>
      </p:sp>
    </p:spTree>
    <p:extLst>
      <p:ext uri="{BB962C8B-B14F-4D97-AF65-F5344CB8AC3E}">
        <p14:creationId xmlns:p14="http://schemas.microsoft.com/office/powerpoint/2010/main" val="19625991"/>
      </p:ext>
    </p:extLst>
  </p:cSld>
</p:sld>
</file>

<file path=ppt/slides/slide11.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F11C35D-7E2A-4692-BD90-A48FD12A170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13A3EA7B-5626-45DD-BBBC-4A92F3EE7186}"/>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CAPABILITIES</a:t>
            </a:r>
          </a:p>
        </p:txBody>
      </p:sp>
      <p:sp>
        <p:nvSpPr>
          <p:cNvPr id="3" name="slide-title">
            <a:extLst xmlns:a="http://schemas.openxmlformats.org/drawingml/2006/main">
              <a:ext uri="{FF2B5EF4-FFF2-40B4-BE49-F238E27FC236}">
                <a16:creationId xmlns:a16="http://schemas.microsoft.com/office/drawing/2014/main" id="{9626B303-DF41-4E54-8CD1-906249DA349A}"/>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The approved surface spans the DBA investigation lifecycle</a:t>
            </a:r>
          </a:p>
        </p:txBody>
      </p:sp>
      <p:sp>
        <p:nvSpPr>
          <p:cNvPr id="4" name="">
            <a:extLst xmlns:a="http://schemas.openxmlformats.org/drawingml/2006/main">
              <a:ext uri="{FF2B5EF4-FFF2-40B4-BE49-F238E27FC236}">
                <a16:creationId xmlns:a16="http://schemas.microsoft.com/office/drawing/2014/main" id="{9241E8D8-E2ED-4598-BFAC-39F0585AC8E3}"/>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FC0F976A-384C-4F29-86E2-13D6F4285186}"/>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61B5079C-AEEE-4810-8F4A-27B9D9289658}"/>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11</a:t>
            </a:r>
          </a:p>
        </p:txBody>
      </p:sp>
      <p:sp>
        <p:nvSpPr>
          <p:cNvPr id="7" name="">
            <a:extLst xmlns:a="http://schemas.openxmlformats.org/drawingml/2006/main">
              <a:ext uri="{FF2B5EF4-FFF2-40B4-BE49-F238E27FC236}">
                <a16:creationId xmlns:a16="http://schemas.microsoft.com/office/drawing/2014/main" id="{B4791E92-CF56-46CE-91BD-C5761ED2B01A}"/>
              </a:ext>
            </a:extLst>
          </p:cNvPr>
          <p:cNvSpPr>
            <a:spLocks xmlns:a="http://schemas.openxmlformats.org/drawingml/2006/main" noGrp="1"/>
          </p:cNvSpPr>
          <p:nvPr/>
        </p:nvSpPr>
        <p:spPr>
          <a:xfrm xmlns:a="http://schemas.openxmlformats.org/drawingml/2006/main">
            <a:off x="685800" y="1504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40D9FF"/>
                </a:solidFill>
              </a:defRPr>
            </a:pPr>
            <a:r>
              <a:rPr sz="1650" b="1">
                <a:solidFill>
                  <a:srgbClr val="40D9FF"/>
                </a:solidFill>
              </a:rPr>
              <a:t>Discover &amp; locate</a:t>
            </a:r>
          </a:p>
        </p:txBody>
      </p:sp>
      <p:sp>
        <p:nvSpPr>
          <p:cNvPr id="8" name="">
            <a:extLst xmlns:a="http://schemas.openxmlformats.org/drawingml/2006/main">
              <a:ext uri="{FF2B5EF4-FFF2-40B4-BE49-F238E27FC236}">
                <a16:creationId xmlns:a16="http://schemas.microsoft.com/office/drawing/2014/main" id="{36A6D7D0-98DF-4765-AB66-951F79AB7D24}"/>
              </a:ext>
            </a:extLst>
          </p:cNvPr>
          <p:cNvSpPr>
            <a:spLocks xmlns:a="http://schemas.openxmlformats.org/drawingml/2006/main" noGrp="1"/>
          </p:cNvSpPr>
          <p:nvPr/>
        </p:nvSpPr>
        <p:spPr>
          <a:xfrm xmlns:a="http://schemas.openxmlformats.org/drawingml/2006/main">
            <a:off x="685800" y="1905000"/>
            <a:ext cx="5010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9E7F4"/>
                </a:solidFill>
              </a:defRPr>
            </a:pPr>
            <a:r>
              <a:rPr sz="1275" b="0">
                <a:solidFill>
                  <a:srgbClr val="D9E7F4"/>
                </a:solidFill>
              </a:rPr>
              <a:t>Schemas, databases, storage groups, tablespaces, objects, columns, recent objects</a:t>
            </a:r>
          </a:p>
        </p:txBody>
      </p:sp>
      <p:sp>
        <p:nvSpPr>
          <p:cNvPr id="9" name="">
            <a:extLst xmlns:a="http://schemas.openxmlformats.org/drawingml/2006/main">
              <a:ext uri="{FF2B5EF4-FFF2-40B4-BE49-F238E27FC236}">
                <a16:creationId xmlns:a16="http://schemas.microsoft.com/office/drawing/2014/main" id="{24C5C267-55A9-4D73-B713-5D91B161D252}"/>
              </a:ext>
            </a:extLst>
          </p:cNvPr>
          <p:cNvSpPr>
            <a:spLocks xmlns:a="http://schemas.openxmlformats.org/drawingml/2006/main" noGrp="1"/>
          </p:cNvSpPr>
          <p:nvPr/>
        </p:nvSpPr>
        <p:spPr>
          <a:xfrm xmlns:a="http://schemas.openxmlformats.org/drawingml/2006/main">
            <a:off x="685800" y="2686050"/>
            <a:ext cx="501015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10" name="">
            <a:extLst xmlns:a="http://schemas.openxmlformats.org/drawingml/2006/main">
              <a:ext uri="{FF2B5EF4-FFF2-40B4-BE49-F238E27FC236}">
                <a16:creationId xmlns:a16="http://schemas.microsoft.com/office/drawing/2014/main" id="{B7B91C22-4D68-4E10-8F7C-A19AE410A085}"/>
              </a:ext>
            </a:extLst>
          </p:cNvPr>
          <p:cNvSpPr>
            <a:spLocks xmlns:a="http://schemas.openxmlformats.org/drawingml/2006/main" noGrp="1"/>
          </p:cNvSpPr>
          <p:nvPr/>
        </p:nvSpPr>
        <p:spPr>
          <a:xfrm xmlns:a="http://schemas.openxmlformats.org/drawingml/2006/main">
            <a:off x="6210300" y="15049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3B82F6"/>
                </a:solidFill>
              </a:defRPr>
            </a:pPr>
            <a:r>
              <a:rPr sz="1650" b="1">
                <a:solidFill>
                  <a:srgbClr val="3B82F6"/>
                </a:solidFill>
              </a:rPr>
              <a:t>Explain metadata</a:t>
            </a:r>
          </a:p>
        </p:txBody>
      </p:sp>
      <p:sp>
        <p:nvSpPr>
          <p:cNvPr id="11" name="">
            <a:extLst xmlns:a="http://schemas.openxmlformats.org/drawingml/2006/main">
              <a:ext uri="{FF2B5EF4-FFF2-40B4-BE49-F238E27FC236}">
                <a16:creationId xmlns:a16="http://schemas.microsoft.com/office/drawing/2014/main" id="{39FE91ED-2D55-4168-A789-331B0DE80A27}"/>
              </a:ext>
            </a:extLst>
          </p:cNvPr>
          <p:cNvSpPr>
            <a:spLocks xmlns:a="http://schemas.openxmlformats.org/drawingml/2006/main" noGrp="1"/>
          </p:cNvSpPr>
          <p:nvPr/>
        </p:nvSpPr>
        <p:spPr>
          <a:xfrm xmlns:a="http://schemas.openxmlformats.org/drawingml/2006/main">
            <a:off x="6210300" y="1905000"/>
            <a:ext cx="5010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9E7F4"/>
                </a:solidFill>
              </a:defRPr>
            </a:pPr>
            <a:r>
              <a:rPr sz="1275" b="0">
                <a:solidFill>
                  <a:srgbClr val="D9E7F4"/>
                </a:solidFill>
              </a:rPr>
              <a:t>Object profiles, glossary terms, raw values, DISPLAY status codes, naming conventions</a:t>
            </a:r>
          </a:p>
        </p:txBody>
      </p:sp>
      <p:sp>
        <p:nvSpPr>
          <p:cNvPr id="12" name="">
            <a:extLst xmlns:a="http://schemas.openxmlformats.org/drawingml/2006/main">
              <a:ext uri="{FF2B5EF4-FFF2-40B4-BE49-F238E27FC236}">
                <a16:creationId xmlns:a16="http://schemas.microsoft.com/office/drawing/2014/main" id="{9ABFB8CD-36B3-4DDE-B211-133C92C30175}"/>
              </a:ext>
            </a:extLst>
          </p:cNvPr>
          <p:cNvSpPr>
            <a:spLocks xmlns:a="http://schemas.openxmlformats.org/drawingml/2006/main" noGrp="1"/>
          </p:cNvSpPr>
          <p:nvPr/>
        </p:nvSpPr>
        <p:spPr>
          <a:xfrm xmlns:a="http://schemas.openxmlformats.org/drawingml/2006/main">
            <a:off x="6210300" y="2686050"/>
            <a:ext cx="501015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13" name="">
            <a:extLst xmlns:a="http://schemas.openxmlformats.org/drawingml/2006/main">
              <a:ext uri="{FF2B5EF4-FFF2-40B4-BE49-F238E27FC236}">
                <a16:creationId xmlns:a16="http://schemas.microsoft.com/office/drawing/2014/main" id="{9A962675-35F3-4972-9572-7DE045D9EBE5}"/>
              </a:ext>
            </a:extLst>
          </p:cNvPr>
          <p:cNvSpPr>
            <a:spLocks xmlns:a="http://schemas.openxmlformats.org/drawingml/2006/main" noGrp="1"/>
          </p:cNvSpPr>
          <p:nvPr/>
        </p:nvSpPr>
        <p:spPr>
          <a:xfrm xmlns:a="http://schemas.openxmlformats.org/drawingml/2006/main">
            <a:off x="685800" y="29337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35D07F"/>
                </a:solidFill>
              </a:defRPr>
            </a:pPr>
            <a:r>
              <a:rPr sz="1650" b="1">
                <a:solidFill>
                  <a:srgbClr val="35D07F"/>
                </a:solidFill>
              </a:rPr>
              <a:t>Compare &amp; assess</a:t>
            </a:r>
          </a:p>
        </p:txBody>
      </p:sp>
      <p:sp>
        <p:nvSpPr>
          <p:cNvPr id="14" name="">
            <a:extLst xmlns:a="http://schemas.openxmlformats.org/drawingml/2006/main">
              <a:ext uri="{FF2B5EF4-FFF2-40B4-BE49-F238E27FC236}">
                <a16:creationId xmlns:a16="http://schemas.microsoft.com/office/drawing/2014/main" id="{13EAA3CA-71ED-4A3C-A9F2-C21FD3678718}"/>
              </a:ext>
            </a:extLst>
          </p:cNvPr>
          <p:cNvSpPr>
            <a:spLocks xmlns:a="http://schemas.openxmlformats.org/drawingml/2006/main" noGrp="1"/>
          </p:cNvSpPr>
          <p:nvPr/>
        </p:nvSpPr>
        <p:spPr>
          <a:xfrm xmlns:a="http://schemas.openxmlformats.org/drawingml/2006/main">
            <a:off x="685800" y="3333750"/>
            <a:ext cx="5010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9E7F4"/>
                </a:solidFill>
              </a:defRPr>
            </a:pPr>
            <a:r>
              <a:rPr sz="1275" b="0">
                <a:solidFill>
                  <a:srgbClr val="D9E7F4"/>
                </a:solidFill>
              </a:rPr>
              <a:t>Columns, indexes, catalog-derived DDL, capability checks, object readiness</a:t>
            </a:r>
          </a:p>
        </p:txBody>
      </p:sp>
      <p:sp>
        <p:nvSpPr>
          <p:cNvPr id="15" name="">
            <a:extLst xmlns:a="http://schemas.openxmlformats.org/drawingml/2006/main">
              <a:ext uri="{FF2B5EF4-FFF2-40B4-BE49-F238E27FC236}">
                <a16:creationId xmlns:a16="http://schemas.microsoft.com/office/drawing/2014/main" id="{8E2AE2E1-0CEC-488B-85BC-B4C61E2ED15B}"/>
              </a:ext>
            </a:extLst>
          </p:cNvPr>
          <p:cNvSpPr>
            <a:spLocks xmlns:a="http://schemas.openxmlformats.org/drawingml/2006/main" noGrp="1"/>
          </p:cNvSpPr>
          <p:nvPr/>
        </p:nvSpPr>
        <p:spPr>
          <a:xfrm xmlns:a="http://schemas.openxmlformats.org/drawingml/2006/main">
            <a:off x="685800" y="4114800"/>
            <a:ext cx="501015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16" name="">
            <a:extLst xmlns:a="http://schemas.openxmlformats.org/drawingml/2006/main">
              <a:ext uri="{FF2B5EF4-FFF2-40B4-BE49-F238E27FC236}">
                <a16:creationId xmlns:a16="http://schemas.microsoft.com/office/drawing/2014/main" id="{582FE46B-6706-44A1-B178-663492D29B5E}"/>
              </a:ext>
            </a:extLst>
          </p:cNvPr>
          <p:cNvSpPr>
            <a:spLocks xmlns:a="http://schemas.openxmlformats.org/drawingml/2006/main" noGrp="1"/>
          </p:cNvSpPr>
          <p:nvPr/>
        </p:nvSpPr>
        <p:spPr>
          <a:xfrm xmlns:a="http://schemas.openxmlformats.org/drawingml/2006/main">
            <a:off x="6210300" y="293370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40D9FF"/>
                </a:solidFill>
              </a:defRPr>
            </a:pPr>
            <a:r>
              <a:rPr sz="1650" b="1">
                <a:solidFill>
                  <a:srgbClr val="40D9FF"/>
                </a:solidFill>
              </a:rPr>
              <a:t>Trace dependencies</a:t>
            </a:r>
          </a:p>
        </p:txBody>
      </p:sp>
      <p:sp>
        <p:nvSpPr>
          <p:cNvPr id="17" name="">
            <a:extLst xmlns:a="http://schemas.openxmlformats.org/drawingml/2006/main">
              <a:ext uri="{FF2B5EF4-FFF2-40B4-BE49-F238E27FC236}">
                <a16:creationId xmlns:a16="http://schemas.microsoft.com/office/drawing/2014/main" id="{6AA576D5-5C9E-4CD8-AD9B-F6237E79BCFF}"/>
              </a:ext>
            </a:extLst>
          </p:cNvPr>
          <p:cNvSpPr>
            <a:spLocks xmlns:a="http://schemas.openxmlformats.org/drawingml/2006/main" noGrp="1"/>
          </p:cNvSpPr>
          <p:nvPr/>
        </p:nvSpPr>
        <p:spPr>
          <a:xfrm xmlns:a="http://schemas.openxmlformats.org/drawingml/2006/main">
            <a:off x="6210300" y="3333750"/>
            <a:ext cx="5010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9E7F4"/>
                </a:solidFill>
              </a:defRPr>
            </a:pPr>
            <a:r>
              <a:rPr sz="1275" b="0">
                <a:solidFill>
                  <a:srgbClr val="D9E7F4"/>
                </a:solidFill>
              </a:rPr>
              <a:t>Packages, plans, views, triggers, RI, constraints, privileges</a:t>
            </a:r>
          </a:p>
        </p:txBody>
      </p:sp>
      <p:sp>
        <p:nvSpPr>
          <p:cNvPr id="18" name="">
            <a:extLst xmlns:a="http://schemas.openxmlformats.org/drawingml/2006/main">
              <a:ext uri="{FF2B5EF4-FFF2-40B4-BE49-F238E27FC236}">
                <a16:creationId xmlns:a16="http://schemas.microsoft.com/office/drawing/2014/main" id="{8D3E22E1-0987-4F8A-BB91-8A5F7486D526}"/>
              </a:ext>
            </a:extLst>
          </p:cNvPr>
          <p:cNvSpPr>
            <a:spLocks xmlns:a="http://schemas.openxmlformats.org/drawingml/2006/main" noGrp="1"/>
          </p:cNvSpPr>
          <p:nvPr/>
        </p:nvSpPr>
        <p:spPr>
          <a:xfrm xmlns:a="http://schemas.openxmlformats.org/drawingml/2006/main">
            <a:off x="6210300" y="4114800"/>
            <a:ext cx="501015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19" name="">
            <a:extLst xmlns:a="http://schemas.openxmlformats.org/drawingml/2006/main">
              <a:ext uri="{FF2B5EF4-FFF2-40B4-BE49-F238E27FC236}">
                <a16:creationId xmlns:a16="http://schemas.microsoft.com/office/drawing/2014/main" id="{E8153F0F-BD2A-4A21-93CA-7813A2C2769C}"/>
              </a:ext>
            </a:extLst>
          </p:cNvPr>
          <p:cNvSpPr>
            <a:spLocks xmlns:a="http://schemas.openxmlformats.org/drawingml/2006/main" noGrp="1"/>
          </p:cNvSpPr>
          <p:nvPr/>
        </p:nvSpPr>
        <p:spPr>
          <a:xfrm xmlns:a="http://schemas.openxmlformats.org/drawingml/2006/main">
            <a:off x="685800" y="43624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F4B942"/>
                </a:solidFill>
              </a:defRPr>
            </a:pPr>
            <a:r>
              <a:rPr sz="1650" b="1">
                <a:solidFill>
                  <a:srgbClr val="F4B942"/>
                </a:solidFill>
              </a:rPr>
              <a:t>Storage &amp; recovery</a:t>
            </a:r>
          </a:p>
        </p:txBody>
      </p:sp>
      <p:sp>
        <p:nvSpPr>
          <p:cNvPr id="20" name="">
            <a:extLst xmlns:a="http://schemas.openxmlformats.org/drawingml/2006/main">
              <a:ext uri="{FF2B5EF4-FFF2-40B4-BE49-F238E27FC236}">
                <a16:creationId xmlns:a16="http://schemas.microsoft.com/office/drawing/2014/main" id="{CC42B944-8A3A-4A46-8334-99029E6205D8}"/>
              </a:ext>
            </a:extLst>
          </p:cNvPr>
          <p:cNvSpPr>
            <a:spLocks xmlns:a="http://schemas.openxmlformats.org/drawingml/2006/main" noGrp="1"/>
          </p:cNvSpPr>
          <p:nvPr/>
        </p:nvSpPr>
        <p:spPr>
          <a:xfrm xmlns:a="http://schemas.openxmlformats.org/drawingml/2006/main">
            <a:off x="685800" y="4762500"/>
            <a:ext cx="5010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9E7F4"/>
                </a:solidFill>
              </a:defRPr>
            </a:pPr>
            <a:r>
              <a:rPr sz="1275" b="0">
                <a:solidFill>
                  <a:srgbClr val="D9E7F4"/>
                </a:solidFill>
              </a:rPr>
              <a:t>RTS footprint, copy history, pending DDL, RUNSTATS profile, index readiness</a:t>
            </a:r>
          </a:p>
        </p:txBody>
      </p:sp>
      <p:sp>
        <p:nvSpPr>
          <p:cNvPr id="21" name="">
            <a:extLst xmlns:a="http://schemas.openxmlformats.org/drawingml/2006/main">
              <a:ext uri="{FF2B5EF4-FFF2-40B4-BE49-F238E27FC236}">
                <a16:creationId xmlns:a16="http://schemas.microsoft.com/office/drawing/2014/main" id="{142E0AAF-50A9-429E-84E2-280E5932BE56}"/>
              </a:ext>
            </a:extLst>
          </p:cNvPr>
          <p:cNvSpPr>
            <a:spLocks xmlns:a="http://schemas.openxmlformats.org/drawingml/2006/main" noGrp="1"/>
          </p:cNvSpPr>
          <p:nvPr/>
        </p:nvSpPr>
        <p:spPr>
          <a:xfrm xmlns:a="http://schemas.openxmlformats.org/drawingml/2006/main">
            <a:off x="685800" y="5543550"/>
            <a:ext cx="501015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22" name="">
            <a:extLst xmlns:a="http://schemas.openxmlformats.org/drawingml/2006/main">
              <a:ext uri="{FF2B5EF4-FFF2-40B4-BE49-F238E27FC236}">
                <a16:creationId xmlns:a16="http://schemas.microsoft.com/office/drawing/2014/main" id="{D61B97EF-A8F1-4DAC-A933-7B724D749675}"/>
              </a:ext>
            </a:extLst>
          </p:cNvPr>
          <p:cNvSpPr>
            <a:spLocks xmlns:a="http://schemas.openxmlformats.org/drawingml/2006/main" noGrp="1"/>
          </p:cNvSpPr>
          <p:nvPr/>
        </p:nvSpPr>
        <p:spPr>
          <a:xfrm xmlns:a="http://schemas.openxmlformats.org/drawingml/2006/main">
            <a:off x="6210300" y="43624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35D07F"/>
                </a:solidFill>
              </a:defRPr>
            </a:pPr>
            <a:r>
              <a:rPr sz="1650" b="1">
                <a:solidFill>
                  <a:srgbClr val="35D07F"/>
                </a:solidFill>
              </a:rPr>
              <a:t>Health &amp; status</a:t>
            </a:r>
          </a:p>
        </p:txBody>
      </p:sp>
      <p:sp>
        <p:nvSpPr>
          <p:cNvPr id="23" name="">
            <a:extLst xmlns:a="http://schemas.openxmlformats.org/drawingml/2006/main">
              <a:ext uri="{FF2B5EF4-FFF2-40B4-BE49-F238E27FC236}">
                <a16:creationId xmlns:a16="http://schemas.microsoft.com/office/drawing/2014/main" id="{FB841684-2861-4826-A36C-2A7D35365374}"/>
              </a:ext>
            </a:extLst>
          </p:cNvPr>
          <p:cNvSpPr>
            <a:spLocks xmlns:a="http://schemas.openxmlformats.org/drawingml/2006/main" noGrp="1"/>
          </p:cNvSpPr>
          <p:nvPr/>
        </p:nvSpPr>
        <p:spPr>
          <a:xfrm xmlns:a="http://schemas.openxmlformats.org/drawingml/2006/main">
            <a:off x="6210300" y="4762500"/>
            <a:ext cx="50101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D9E7F4"/>
                </a:solidFill>
              </a:defRPr>
            </a:pPr>
            <a:r>
              <a:rPr sz="1275" b="0">
                <a:solidFill>
                  <a:srgbClr val="D9E7F4"/>
                </a:solidFill>
              </a:rPr>
              <a:t>Partition, LOB, XML, archive, temporal, abnormal catalog status, pasted DISPLAY text</a:t>
            </a:r>
          </a:p>
        </p:txBody>
      </p:sp>
      <p:sp>
        <p:nvSpPr>
          <p:cNvPr id="24" name="">
            <a:extLst xmlns:a="http://schemas.openxmlformats.org/drawingml/2006/main">
              <a:ext uri="{FF2B5EF4-FFF2-40B4-BE49-F238E27FC236}">
                <a16:creationId xmlns:a16="http://schemas.microsoft.com/office/drawing/2014/main" id="{FF7AC931-A160-4E40-904B-7EE08EB5339C}"/>
              </a:ext>
            </a:extLst>
          </p:cNvPr>
          <p:cNvSpPr>
            <a:spLocks xmlns:a="http://schemas.openxmlformats.org/drawingml/2006/main" noGrp="1"/>
          </p:cNvSpPr>
          <p:nvPr/>
        </p:nvSpPr>
        <p:spPr>
          <a:xfrm xmlns:a="http://schemas.openxmlformats.org/drawingml/2006/main">
            <a:off x="6210300" y="5543550"/>
            <a:ext cx="501015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25" name="">
            <a:extLst xmlns:a="http://schemas.openxmlformats.org/drawingml/2006/main">
              <a:ext uri="{FF2B5EF4-FFF2-40B4-BE49-F238E27FC236}">
                <a16:creationId xmlns:a16="http://schemas.microsoft.com/office/drawing/2014/main" id="{4142C592-649A-490D-86AB-D3E347915D13}"/>
              </a:ext>
            </a:extLst>
          </p:cNvPr>
          <p:cNvSpPr>
            <a:spLocks xmlns:a="http://schemas.openxmlformats.org/drawingml/2006/main" noGrp="1"/>
          </p:cNvSpPr>
          <p:nvPr/>
        </p:nvSpPr>
        <p:spPr>
          <a:xfrm xmlns:a="http://schemas.openxmlformats.org/drawingml/2006/main">
            <a:off x="685800" y="5829300"/>
            <a:ext cx="10820400" cy="400050"/>
          </a:xfrm>
          <a:prstGeom xmlns:a="http://schemas.openxmlformats.org/drawingml/2006/main" prst="roundRect">
            <a:avLst>
              <a:gd name="adj" fmla="val 28571"/>
            </a:avLst>
          </a:prstGeom>
          <a:solidFill xmlns:a="http://schemas.openxmlformats.org/drawingml/2006/main">
            <a:srgbClr val="143A55"/>
          </a:solidFill>
          <a:ln xmlns:a="http://schemas.openxmlformats.org/drawingml/2006/main" w="9525">
            <a:solidFill>
              <a:srgbClr val="40D9FF"/>
            </a:solidFill>
            <a:prstDash val="solid"/>
          </a:ln>
        </p:spPr>
      </p:sp>
      <p:sp>
        <p:nvSpPr>
          <p:cNvPr id="26" name="">
            <a:extLst xmlns:a="http://schemas.openxmlformats.org/drawingml/2006/main">
              <a:ext uri="{FF2B5EF4-FFF2-40B4-BE49-F238E27FC236}">
                <a16:creationId xmlns:a16="http://schemas.microsoft.com/office/drawing/2014/main" id="{A1022742-E4A8-46D1-B173-BE4C4828AA8E}"/>
              </a:ext>
            </a:extLst>
          </p:cNvPr>
          <p:cNvSpPr>
            <a:spLocks xmlns:a="http://schemas.openxmlformats.org/drawingml/2006/main" noGrp="1"/>
          </p:cNvSpPr>
          <p:nvPr/>
        </p:nvSpPr>
        <p:spPr>
          <a:xfrm xmlns:a="http://schemas.openxmlformats.org/drawingml/2006/main">
            <a:off x="876300" y="5886450"/>
            <a:ext cx="1043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67 approved callable tools are explicitly returned by the DAISY tool factory.</a:t>
            </a:r>
          </a:p>
        </p:txBody>
      </p:sp>
    </p:spTree>
    <p:extLst>
      <p:ext uri="{BB962C8B-B14F-4D97-AF65-F5344CB8AC3E}">
        <p14:creationId xmlns:p14="http://schemas.microsoft.com/office/powerpoint/2010/main" val="895554874"/>
      </p:ext>
    </p:extLst>
  </p:cSld>
</p:sld>
</file>

<file path=ppt/slides/slide12.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7CC6CC-7920-45AE-B8CB-0B6A53F06B6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9878A646-FA10-437E-B357-3EBAA4A006D2}"/>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WORKFLOW ORCHESTRATION</a:t>
            </a:r>
          </a:p>
        </p:txBody>
      </p:sp>
      <p:sp>
        <p:nvSpPr>
          <p:cNvPr id="3" name="slide-title">
            <a:extLst xmlns:a="http://schemas.openxmlformats.org/drawingml/2006/main">
              <a:ext uri="{FF2B5EF4-FFF2-40B4-BE49-F238E27FC236}">
                <a16:creationId xmlns:a16="http://schemas.microsoft.com/office/drawing/2014/main" id="{E224D134-5821-48D8-AA9A-933D0299FCCC}"/>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Workflows compose approved checks into DBA conclusions</a:t>
            </a:r>
          </a:p>
        </p:txBody>
      </p:sp>
      <p:sp>
        <p:nvSpPr>
          <p:cNvPr id="4" name="">
            <a:extLst xmlns:a="http://schemas.openxmlformats.org/drawingml/2006/main">
              <a:ext uri="{FF2B5EF4-FFF2-40B4-BE49-F238E27FC236}">
                <a16:creationId xmlns:a16="http://schemas.microsoft.com/office/drawing/2014/main" id="{6C981266-B148-49D9-ADB2-1A41F023E327}"/>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8E37E794-58C0-4352-97EC-D5AD1CFB990D}"/>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603B44EF-471E-439A-AE17-D6D8D00D17C0}"/>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12</a:t>
            </a:r>
          </a:p>
        </p:txBody>
      </p:sp>
      <p:sp>
        <p:nvSpPr>
          <p:cNvPr id="7" name="">
            <a:extLst xmlns:a="http://schemas.openxmlformats.org/drawingml/2006/main">
              <a:ext uri="{FF2B5EF4-FFF2-40B4-BE49-F238E27FC236}">
                <a16:creationId xmlns:a16="http://schemas.microsoft.com/office/drawing/2014/main" id="{5429BC6B-CBF2-4E65-886A-646F157966AE}"/>
              </a:ext>
            </a:extLst>
          </p:cNvPr>
          <p:cNvSpPr>
            <a:spLocks xmlns:a="http://schemas.openxmlformats.org/drawingml/2006/main" noGrp="1"/>
          </p:cNvSpPr>
          <p:nvPr/>
        </p:nvSpPr>
        <p:spPr>
          <a:xfrm xmlns:a="http://schemas.openxmlformats.org/drawingml/2006/main">
            <a:off x="685800" y="1790700"/>
            <a:ext cx="1981200" cy="857250"/>
          </a:xfrm>
          <a:prstGeom xmlns:a="http://schemas.openxmlformats.org/drawingml/2006/main" prst="roundRect">
            <a:avLst>
              <a:gd name="adj" fmla="val 13333"/>
            </a:avLst>
          </a:prstGeom>
          <a:solidFill xmlns:a="http://schemas.openxmlformats.org/drawingml/2006/main">
            <a:srgbClr val="143A55"/>
          </a:solidFill>
          <a:ln xmlns:a="http://schemas.openxmlformats.org/drawingml/2006/main" w="9525">
            <a:solidFill>
              <a:srgbClr val="40D9FF"/>
            </a:solidFill>
            <a:prstDash val="solid"/>
          </a:ln>
        </p:spPr>
      </p:sp>
      <p:sp>
        <p:nvSpPr>
          <p:cNvPr id="8" name="">
            <a:extLst xmlns:a="http://schemas.openxmlformats.org/drawingml/2006/main">
              <a:ext uri="{FF2B5EF4-FFF2-40B4-BE49-F238E27FC236}">
                <a16:creationId xmlns:a16="http://schemas.microsoft.com/office/drawing/2014/main" id="{4C1F8BE1-1338-4739-84B6-976E53016F72}"/>
              </a:ext>
            </a:extLst>
          </p:cNvPr>
          <p:cNvSpPr>
            <a:spLocks xmlns:a="http://schemas.openxmlformats.org/drawingml/2006/main" noGrp="1"/>
          </p:cNvSpPr>
          <p:nvPr/>
        </p:nvSpPr>
        <p:spPr>
          <a:xfrm xmlns:a="http://schemas.openxmlformats.org/drawingml/2006/main">
            <a:off x="876300" y="19240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40D9FF"/>
                </a:solidFill>
              </a:defRPr>
            </a:pPr>
            <a:r>
              <a:rPr sz="1050" b="1">
                <a:solidFill>
                  <a:srgbClr val="40D9FF"/>
                </a:solidFill>
              </a:rPr>
              <a:t>INTENT</a:t>
            </a:r>
          </a:p>
        </p:txBody>
      </p:sp>
      <p:sp>
        <p:nvSpPr>
          <p:cNvPr id="9" name="">
            <a:extLst xmlns:a="http://schemas.openxmlformats.org/drawingml/2006/main">
              <a:ext uri="{FF2B5EF4-FFF2-40B4-BE49-F238E27FC236}">
                <a16:creationId xmlns:a16="http://schemas.microsoft.com/office/drawing/2014/main" id="{E0E80E17-34F8-4CC7-9DB5-3FB0E2E1D341}"/>
              </a:ext>
            </a:extLst>
          </p:cNvPr>
          <p:cNvSpPr>
            <a:spLocks xmlns:a="http://schemas.openxmlformats.org/drawingml/2006/main" noGrp="1"/>
          </p:cNvSpPr>
          <p:nvPr/>
        </p:nvSpPr>
        <p:spPr>
          <a:xfrm xmlns:a="http://schemas.openxmlformats.org/drawingml/2006/main">
            <a:off x="876300" y="2209800"/>
            <a:ext cx="1600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health | readiness</a:t>
            </a:r>
          </a:p>
          <a:p xmlns:a="http://schemas.openxmlformats.org/drawingml/2006/main">
            <a:pPr algn="ctr">
              <a:defRPr sz="1275" b="0">
                <a:solidFill>
                  <a:srgbClr val="F5FAFF"/>
                </a:solidFill>
              </a:defRPr>
            </a:pPr>
            <a:r>
              <a:rPr sz="1275" b="0">
                <a:solidFill>
                  <a:srgbClr val="F5FAFF"/>
                </a:solidFill>
              </a:rPr>
              <a:t>impact | storage</a:t>
            </a:r>
          </a:p>
        </p:txBody>
      </p:sp>
      <p:sp>
        <p:nvSpPr>
          <p:cNvPr id="10" name="">
            <a:extLst xmlns:a="http://schemas.openxmlformats.org/drawingml/2006/main">
              <a:ext uri="{FF2B5EF4-FFF2-40B4-BE49-F238E27FC236}">
                <a16:creationId xmlns:a16="http://schemas.microsoft.com/office/drawing/2014/main" id="{A08A33E3-5966-4FAB-8196-6FF47FDD4B90}"/>
              </a:ext>
            </a:extLst>
          </p:cNvPr>
          <p:cNvSpPr>
            <a:spLocks xmlns:a="http://schemas.openxmlformats.org/drawingml/2006/main" noGrp="1"/>
          </p:cNvSpPr>
          <p:nvPr/>
        </p:nvSpPr>
        <p:spPr>
          <a:xfrm xmlns:a="http://schemas.openxmlformats.org/drawingml/2006/main">
            <a:off x="3257550" y="1562100"/>
            <a:ext cx="2476500" cy="1314450"/>
          </a:xfrm>
          <a:prstGeom xmlns:a="http://schemas.openxmlformats.org/drawingml/2006/main" prst="roundRect">
            <a:avLst>
              <a:gd name="adj" fmla="val 8696"/>
            </a:avLst>
          </a:prstGeom>
          <a:solidFill xmlns:a="http://schemas.openxmlformats.org/drawingml/2006/main">
            <a:srgbClr val="102A43"/>
          </a:solidFill>
          <a:ln xmlns:a="http://schemas.openxmlformats.org/drawingml/2006/main" w="9525">
            <a:solidFill>
              <a:srgbClr val="3B82F6"/>
            </a:solidFill>
            <a:prstDash val="solid"/>
          </a:ln>
        </p:spPr>
      </p:sp>
      <p:sp>
        <p:nvSpPr>
          <p:cNvPr id="11" name="">
            <a:extLst xmlns:a="http://schemas.openxmlformats.org/drawingml/2006/main">
              <a:ext uri="{FF2B5EF4-FFF2-40B4-BE49-F238E27FC236}">
                <a16:creationId xmlns:a16="http://schemas.microsoft.com/office/drawing/2014/main" id="{BB940EA9-5AAA-49DB-961B-87F973C925C5}"/>
              </a:ext>
            </a:extLst>
          </p:cNvPr>
          <p:cNvSpPr>
            <a:spLocks xmlns:a="http://schemas.openxmlformats.org/drawingml/2006/main" noGrp="1"/>
          </p:cNvSpPr>
          <p:nvPr/>
        </p:nvSpPr>
        <p:spPr>
          <a:xfrm xmlns:a="http://schemas.openxmlformats.org/drawingml/2006/main">
            <a:off x="3448050" y="17335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B82F6"/>
                </a:solidFill>
              </a:defRPr>
            </a:pPr>
            <a:r>
              <a:rPr sz="1050" b="1">
                <a:solidFill>
                  <a:srgbClr val="3B82F6"/>
                </a:solidFill>
              </a:rPr>
              <a:t>WORKFLOW ORCHESTRATOR</a:t>
            </a:r>
          </a:p>
        </p:txBody>
      </p:sp>
      <p:sp>
        <p:nvSpPr>
          <p:cNvPr id="12" name="">
            <a:extLst xmlns:a="http://schemas.openxmlformats.org/drawingml/2006/main">
              <a:ext uri="{FF2B5EF4-FFF2-40B4-BE49-F238E27FC236}">
                <a16:creationId xmlns:a16="http://schemas.microsoft.com/office/drawing/2014/main" id="{903CE04F-1D12-4C90-BCDC-483A4152A658}"/>
              </a:ext>
            </a:extLst>
          </p:cNvPr>
          <p:cNvSpPr>
            <a:spLocks xmlns:a="http://schemas.openxmlformats.org/drawingml/2006/main" noGrp="1"/>
          </p:cNvSpPr>
          <p:nvPr/>
        </p:nvSpPr>
        <p:spPr>
          <a:xfrm xmlns:a="http://schemas.openxmlformats.org/drawingml/2006/main">
            <a:off x="3448050" y="209550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Resolve target</a:t>
            </a:r>
          </a:p>
          <a:p xmlns:a="http://schemas.openxmlformats.org/drawingml/2006/main">
            <a:pPr algn="ctr">
              <a:defRPr sz="1275" b="0">
                <a:solidFill>
                  <a:srgbClr val="F5FAFF"/>
                </a:solidFill>
              </a:defRPr>
            </a:pPr>
            <a:r>
              <a:rPr sz="1275" b="0">
                <a:solidFill>
                  <a:srgbClr val="F5FAFF"/>
                </a:solidFill>
              </a:rPr>
              <a:t>Select relevant checks</a:t>
            </a:r>
          </a:p>
          <a:p xmlns:a="http://schemas.openxmlformats.org/drawingml/2006/main">
            <a:pPr algn="ctr">
              <a:defRPr sz="1275" b="0">
                <a:solidFill>
                  <a:srgbClr val="F5FAFF"/>
                </a:solidFill>
              </a:defRPr>
            </a:pPr>
            <a:r>
              <a:rPr sz="1275" b="0">
                <a:solidFill>
                  <a:srgbClr val="F5FAFF"/>
                </a:solidFill>
              </a:rPr>
              <a:t>Preserve child evidence</a:t>
            </a:r>
          </a:p>
        </p:txBody>
      </p:sp>
      <p:sp>
        <p:nvSpPr>
          <p:cNvPr id="13" name="">
            <a:extLst xmlns:a="http://schemas.openxmlformats.org/drawingml/2006/main">
              <a:ext uri="{FF2B5EF4-FFF2-40B4-BE49-F238E27FC236}">
                <a16:creationId xmlns:a16="http://schemas.microsoft.com/office/drawing/2014/main" id="{54C12E55-BEBF-4DCC-B953-D953889DC447}"/>
              </a:ext>
            </a:extLst>
          </p:cNvPr>
          <p:cNvSpPr>
            <a:spLocks xmlns:a="http://schemas.openxmlformats.org/drawingml/2006/main" noGrp="1"/>
          </p:cNvSpPr>
          <p:nvPr/>
        </p:nvSpPr>
        <p:spPr>
          <a:xfrm xmlns:a="http://schemas.openxmlformats.org/drawingml/2006/main">
            <a:off x="6477000" y="1409700"/>
            <a:ext cx="2038350" cy="590550"/>
          </a:xfrm>
          <a:prstGeom xmlns:a="http://schemas.openxmlformats.org/drawingml/2006/main" prst="roundRect">
            <a:avLst>
              <a:gd name="adj" fmla="val 19355"/>
            </a:avLst>
          </a:prstGeom>
          <a:solidFill xmlns:a="http://schemas.openxmlformats.org/drawingml/2006/main">
            <a:srgbClr val="102A43"/>
          </a:solidFill>
          <a:ln xmlns:a="http://schemas.openxmlformats.org/drawingml/2006/main" w="9525">
            <a:solidFill>
              <a:srgbClr val="35D07F"/>
            </a:solidFill>
            <a:prstDash val="solid"/>
          </a:ln>
        </p:spPr>
      </p:sp>
      <p:sp>
        <p:nvSpPr>
          <p:cNvPr id="14" name="">
            <a:extLst xmlns:a="http://schemas.openxmlformats.org/drawingml/2006/main">
              <a:ext uri="{FF2B5EF4-FFF2-40B4-BE49-F238E27FC236}">
                <a16:creationId xmlns:a16="http://schemas.microsoft.com/office/drawing/2014/main" id="{B3E02360-325F-4FC0-9484-10CEE78CA855}"/>
              </a:ext>
            </a:extLst>
          </p:cNvPr>
          <p:cNvSpPr>
            <a:spLocks xmlns:a="http://schemas.openxmlformats.org/drawingml/2006/main" noGrp="1"/>
          </p:cNvSpPr>
          <p:nvPr/>
        </p:nvSpPr>
        <p:spPr>
          <a:xfrm xmlns:a="http://schemas.openxmlformats.org/drawingml/2006/main">
            <a:off x="6477000" y="2152650"/>
            <a:ext cx="2038350" cy="590550"/>
          </a:xfrm>
          <a:prstGeom xmlns:a="http://schemas.openxmlformats.org/drawingml/2006/main" prst="roundRect">
            <a:avLst>
              <a:gd name="adj" fmla="val 19355"/>
            </a:avLst>
          </a:prstGeom>
          <a:solidFill xmlns:a="http://schemas.openxmlformats.org/drawingml/2006/main">
            <a:srgbClr val="102A43"/>
          </a:solidFill>
          <a:ln xmlns:a="http://schemas.openxmlformats.org/drawingml/2006/main" w="9525">
            <a:solidFill>
              <a:srgbClr val="35D07F"/>
            </a:solidFill>
            <a:prstDash val="solid"/>
          </a:ln>
        </p:spPr>
      </p:sp>
      <p:sp>
        <p:nvSpPr>
          <p:cNvPr id="15" name="">
            <a:extLst xmlns:a="http://schemas.openxmlformats.org/drawingml/2006/main">
              <a:ext uri="{FF2B5EF4-FFF2-40B4-BE49-F238E27FC236}">
                <a16:creationId xmlns:a16="http://schemas.microsoft.com/office/drawing/2014/main" id="{F15B6055-410D-490F-9C78-1EB13A679B19}"/>
              </a:ext>
            </a:extLst>
          </p:cNvPr>
          <p:cNvSpPr>
            <a:spLocks xmlns:a="http://schemas.openxmlformats.org/drawingml/2006/main" noGrp="1"/>
          </p:cNvSpPr>
          <p:nvPr/>
        </p:nvSpPr>
        <p:spPr>
          <a:xfrm xmlns:a="http://schemas.openxmlformats.org/drawingml/2006/main">
            <a:off x="6477000" y="2895600"/>
            <a:ext cx="2038350" cy="590550"/>
          </a:xfrm>
          <a:prstGeom xmlns:a="http://schemas.openxmlformats.org/drawingml/2006/main" prst="roundRect">
            <a:avLst>
              <a:gd name="adj" fmla="val 19355"/>
            </a:avLst>
          </a:prstGeom>
          <a:solidFill xmlns:a="http://schemas.openxmlformats.org/drawingml/2006/main">
            <a:srgbClr val="102A43"/>
          </a:solidFill>
          <a:ln xmlns:a="http://schemas.openxmlformats.org/drawingml/2006/main" w="9525">
            <a:solidFill>
              <a:srgbClr val="35D07F"/>
            </a:solidFill>
            <a:prstDash val="solid"/>
          </a:ln>
        </p:spPr>
      </p:sp>
      <p:sp>
        <p:nvSpPr>
          <p:cNvPr id="16" name="">
            <a:extLst xmlns:a="http://schemas.openxmlformats.org/drawingml/2006/main">
              <a:ext uri="{FF2B5EF4-FFF2-40B4-BE49-F238E27FC236}">
                <a16:creationId xmlns:a16="http://schemas.microsoft.com/office/drawing/2014/main" id="{2DE46241-0191-49AC-BA82-F8DEE5E75F6F}"/>
              </a:ext>
            </a:extLst>
          </p:cNvPr>
          <p:cNvSpPr>
            <a:spLocks xmlns:a="http://schemas.openxmlformats.org/drawingml/2006/main" noGrp="1"/>
          </p:cNvSpPr>
          <p:nvPr/>
        </p:nvSpPr>
        <p:spPr>
          <a:xfrm xmlns:a="http://schemas.openxmlformats.org/drawingml/2006/main">
            <a:off x="6477000" y="3638550"/>
            <a:ext cx="2038350" cy="590550"/>
          </a:xfrm>
          <a:prstGeom xmlns:a="http://schemas.openxmlformats.org/drawingml/2006/main" prst="roundRect">
            <a:avLst>
              <a:gd name="adj" fmla="val 19355"/>
            </a:avLst>
          </a:prstGeom>
          <a:solidFill xmlns:a="http://schemas.openxmlformats.org/drawingml/2006/main">
            <a:srgbClr val="102A43"/>
          </a:solidFill>
          <a:ln xmlns:a="http://schemas.openxmlformats.org/drawingml/2006/main" w="9525">
            <a:solidFill>
              <a:srgbClr val="35D07F"/>
            </a:solidFill>
            <a:prstDash val="solid"/>
          </a:ln>
        </p:spPr>
      </p:sp>
      <p:sp>
        <p:nvSpPr>
          <p:cNvPr id="17" name="">
            <a:extLst xmlns:a="http://schemas.openxmlformats.org/drawingml/2006/main">
              <a:ext uri="{FF2B5EF4-FFF2-40B4-BE49-F238E27FC236}">
                <a16:creationId xmlns:a16="http://schemas.microsoft.com/office/drawing/2014/main" id="{AE5D2DDE-60DD-4209-AFE9-BD1B2FD6FA49}"/>
              </a:ext>
            </a:extLst>
          </p:cNvPr>
          <p:cNvSpPr>
            <a:spLocks xmlns:a="http://schemas.openxmlformats.org/drawingml/2006/main" noGrp="1"/>
          </p:cNvSpPr>
          <p:nvPr/>
        </p:nvSpPr>
        <p:spPr>
          <a:xfrm xmlns:a="http://schemas.openxmlformats.org/drawingml/2006/main">
            <a:off x="6629400" y="1524000"/>
            <a:ext cx="1733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Catalog identity</a:t>
            </a:r>
          </a:p>
        </p:txBody>
      </p:sp>
      <p:sp>
        <p:nvSpPr>
          <p:cNvPr id="18" name="">
            <a:extLst xmlns:a="http://schemas.openxmlformats.org/drawingml/2006/main">
              <a:ext uri="{FF2B5EF4-FFF2-40B4-BE49-F238E27FC236}">
                <a16:creationId xmlns:a16="http://schemas.microsoft.com/office/drawing/2014/main" id="{4F738655-3B9C-4356-8AA1-EA4622CC25A1}"/>
              </a:ext>
            </a:extLst>
          </p:cNvPr>
          <p:cNvSpPr>
            <a:spLocks xmlns:a="http://schemas.openxmlformats.org/drawingml/2006/main" noGrp="1"/>
          </p:cNvSpPr>
          <p:nvPr/>
        </p:nvSpPr>
        <p:spPr>
          <a:xfrm xmlns:a="http://schemas.openxmlformats.org/drawingml/2006/main">
            <a:off x="6629400" y="2266950"/>
            <a:ext cx="1733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Dependency evidence</a:t>
            </a:r>
          </a:p>
        </p:txBody>
      </p:sp>
      <p:sp>
        <p:nvSpPr>
          <p:cNvPr id="19" name="">
            <a:extLst xmlns:a="http://schemas.openxmlformats.org/drawingml/2006/main">
              <a:ext uri="{FF2B5EF4-FFF2-40B4-BE49-F238E27FC236}">
                <a16:creationId xmlns:a16="http://schemas.microsoft.com/office/drawing/2014/main" id="{31C3F927-33B2-4859-AFCA-F5A1A990A6A6}"/>
              </a:ext>
            </a:extLst>
          </p:cNvPr>
          <p:cNvSpPr>
            <a:spLocks xmlns:a="http://schemas.openxmlformats.org/drawingml/2006/main" noGrp="1"/>
          </p:cNvSpPr>
          <p:nvPr/>
        </p:nvSpPr>
        <p:spPr>
          <a:xfrm xmlns:a="http://schemas.openxmlformats.org/drawingml/2006/main">
            <a:off x="6629400" y="3009900"/>
            <a:ext cx="1733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RTS / storage evidence</a:t>
            </a:r>
          </a:p>
        </p:txBody>
      </p:sp>
      <p:sp>
        <p:nvSpPr>
          <p:cNvPr id="20" name="">
            <a:extLst xmlns:a="http://schemas.openxmlformats.org/drawingml/2006/main">
              <a:ext uri="{FF2B5EF4-FFF2-40B4-BE49-F238E27FC236}">
                <a16:creationId xmlns:a16="http://schemas.microsoft.com/office/drawing/2014/main" id="{B051D112-AFC4-45CB-AA88-E5D5F6DF5868}"/>
              </a:ext>
            </a:extLst>
          </p:cNvPr>
          <p:cNvSpPr>
            <a:spLocks xmlns:a="http://schemas.openxmlformats.org/drawingml/2006/main" noGrp="1"/>
          </p:cNvSpPr>
          <p:nvPr/>
        </p:nvSpPr>
        <p:spPr>
          <a:xfrm xmlns:a="http://schemas.openxmlformats.org/drawingml/2006/main">
            <a:off x="6629400" y="3752850"/>
            <a:ext cx="17335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5FAFF"/>
                </a:solidFill>
              </a:defRPr>
            </a:pPr>
            <a:r>
              <a:rPr sz="1200" b="1">
                <a:solidFill>
                  <a:srgbClr val="F5FAFF"/>
                </a:solidFill>
              </a:rPr>
              <a:t>Specialist family checks</a:t>
            </a:r>
          </a:p>
        </p:txBody>
      </p:sp>
      <p:sp>
        <p:nvSpPr>
          <p:cNvPr id="21" name="">
            <a:extLst xmlns:a="http://schemas.openxmlformats.org/drawingml/2006/main">
              <a:ext uri="{FF2B5EF4-FFF2-40B4-BE49-F238E27FC236}">
                <a16:creationId xmlns:a16="http://schemas.microsoft.com/office/drawing/2014/main" id="{B46E437F-EFAD-4D17-A618-54116BA1FA0E}"/>
              </a:ext>
            </a:extLst>
          </p:cNvPr>
          <p:cNvSpPr>
            <a:spLocks xmlns:a="http://schemas.openxmlformats.org/drawingml/2006/main" noGrp="1"/>
          </p:cNvSpPr>
          <p:nvPr/>
        </p:nvSpPr>
        <p:spPr>
          <a:xfrm xmlns:a="http://schemas.openxmlformats.org/drawingml/2006/main">
            <a:off x="9220200" y="1828800"/>
            <a:ext cx="2286000" cy="2057400"/>
          </a:xfrm>
          <a:prstGeom xmlns:a="http://schemas.openxmlformats.org/drawingml/2006/main" prst="roundRect">
            <a:avLst>
              <a:gd name="adj" fmla="val 5556"/>
            </a:avLst>
          </a:prstGeom>
          <a:solidFill xmlns:a="http://schemas.openxmlformats.org/drawingml/2006/main">
            <a:srgbClr val="143A55"/>
          </a:solidFill>
          <a:ln xmlns:a="http://schemas.openxmlformats.org/drawingml/2006/main" w="9525">
            <a:solidFill>
              <a:srgbClr val="F4B942"/>
            </a:solidFill>
            <a:prstDash val="solid"/>
          </a:ln>
        </p:spPr>
      </p:sp>
      <p:sp>
        <p:nvSpPr>
          <p:cNvPr id="22" name="">
            <a:extLst xmlns:a="http://schemas.openxmlformats.org/drawingml/2006/main">
              <a:ext uri="{FF2B5EF4-FFF2-40B4-BE49-F238E27FC236}">
                <a16:creationId xmlns:a16="http://schemas.microsoft.com/office/drawing/2014/main" id="{3BF25CF5-9E5E-460B-BDFD-A045EA51F2AF}"/>
              </a:ext>
            </a:extLst>
          </p:cNvPr>
          <p:cNvSpPr>
            <a:spLocks xmlns:a="http://schemas.openxmlformats.org/drawingml/2006/main" noGrp="1"/>
          </p:cNvSpPr>
          <p:nvPr/>
        </p:nvSpPr>
        <p:spPr>
          <a:xfrm xmlns:a="http://schemas.openxmlformats.org/drawingml/2006/main">
            <a:off x="9429750" y="200025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4B942"/>
                </a:solidFill>
              </a:defRPr>
            </a:pPr>
            <a:r>
              <a:rPr sz="1050" b="1">
                <a:solidFill>
                  <a:srgbClr val="F4B942"/>
                </a:solidFill>
              </a:rPr>
              <a:t>WORKFLOW RESULT</a:t>
            </a:r>
          </a:p>
        </p:txBody>
      </p:sp>
      <p:sp>
        <p:nvSpPr>
          <p:cNvPr id="23" name="">
            <a:extLst xmlns:a="http://schemas.openxmlformats.org/drawingml/2006/main">
              <a:ext uri="{FF2B5EF4-FFF2-40B4-BE49-F238E27FC236}">
                <a16:creationId xmlns:a16="http://schemas.microsoft.com/office/drawing/2014/main" id="{57C28C6E-929E-404E-B143-AB219DEB56BD}"/>
              </a:ext>
            </a:extLst>
          </p:cNvPr>
          <p:cNvSpPr>
            <a:spLocks xmlns:a="http://schemas.openxmlformats.org/drawingml/2006/main" noGrp="1"/>
          </p:cNvSpPr>
          <p:nvPr/>
        </p:nvSpPr>
        <p:spPr>
          <a:xfrm xmlns:a="http://schemas.openxmlformats.org/drawingml/2006/main">
            <a:off x="9429750" y="2381250"/>
            <a:ext cx="18669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a:solidFill>
                  <a:srgbClr val="F5FAFF"/>
                </a:solidFill>
              </a:defRPr>
            </a:pPr>
            <a:r>
              <a:rPr sz="1275" b="0">
                <a:solidFill>
                  <a:srgbClr val="F5FAFF"/>
                </a:solidFill>
              </a:rPr>
              <a:t>Conclusion</a:t>
            </a:r>
          </a:p>
          <a:p xmlns:a="http://schemas.openxmlformats.org/drawingml/2006/main">
            <a:pPr algn="ctr">
              <a:defRPr sz="1275" b="0">
                <a:solidFill>
                  <a:srgbClr val="F5FAFF"/>
                </a:solidFill>
              </a:defRPr>
            </a:pPr>
            <a:r>
              <a:rPr sz="1275" b="0">
                <a:solidFill>
                  <a:srgbClr val="F5FAFF"/>
                </a:solidFill>
              </a:rPr>
              <a:t>Findings with severity</a:t>
            </a:r>
          </a:p>
          <a:p xmlns:a="http://schemas.openxmlformats.org/drawingml/2006/main">
            <a:pPr algn="ctr">
              <a:defRPr sz="1275" b="0">
                <a:solidFill>
                  <a:srgbClr val="F5FAFF"/>
                </a:solidFill>
              </a:defRPr>
            </a:pPr>
            <a:r>
              <a:rPr sz="1275" b="0">
                <a:solidFill>
                  <a:srgbClr val="F5FAFF"/>
                </a:solidFill>
              </a:rPr>
              <a:t>Source catalogs</a:t>
            </a:r>
          </a:p>
          <a:p xmlns:a="http://schemas.openxmlformats.org/drawingml/2006/main">
            <a:pPr algn="ctr">
              <a:defRPr sz="1275" b="0">
                <a:solidFill>
                  <a:srgbClr val="F5FAFF"/>
                </a:solidFill>
              </a:defRPr>
            </a:pPr>
            <a:r>
              <a:rPr sz="1275" b="0">
                <a:solidFill>
                  <a:srgbClr val="F5FAFF"/>
                </a:solidFill>
              </a:rPr>
              <a:t>Tool trace</a:t>
            </a:r>
          </a:p>
          <a:p xmlns:a="http://schemas.openxmlformats.org/drawingml/2006/main">
            <a:pPr algn="ctr">
              <a:defRPr sz="1275" b="0">
                <a:solidFill>
                  <a:srgbClr val="F5FAFF"/>
                </a:solidFill>
              </a:defRPr>
            </a:pPr>
            <a:r>
              <a:rPr sz="1275" b="0">
                <a:solidFill>
                  <a:srgbClr val="F5FAFF"/>
                </a:solidFill>
              </a:rPr>
              <a:t>Warnings</a:t>
            </a:r>
          </a:p>
          <a:p xmlns:a="http://schemas.openxmlformats.org/drawingml/2006/main">
            <a:pPr algn="ctr">
              <a:defRPr sz="1275" b="0">
                <a:solidFill>
                  <a:srgbClr val="F5FAFF"/>
                </a:solidFill>
              </a:defRPr>
            </a:pPr>
            <a:r>
              <a:rPr sz="1275" b="0">
                <a:solidFill>
                  <a:srgbClr val="F5FAFF"/>
                </a:solidFill>
              </a:rPr>
              <a:t>Result tables</a:t>
            </a:r>
          </a:p>
        </p:txBody>
      </p:sp>
      <p:cxnSp>
        <p:nvCxnSpPr>
          <p:cNvPr id="69" name=""/>
          <p:cNvCxnSpPr>
            <a:stCxn xmlns:a="http://schemas.openxmlformats.org/drawingml/2006/main" id="7" idx="3"/>
            <a:endCxn xmlns:a="http://schemas.openxmlformats.org/drawingml/2006/main" id="10" idx="1"/>
          </p:cNvCxnSpPr>
          <p:nvPr/>
        </p:nvCxnSpPr>
        <p:spPr>
          <a:xfrm xmlns:a="http://schemas.openxmlformats.org/drawingml/2006/main">
            <a:off x="2667000" y="2219325"/>
            <a:ext cx="590550" cy="0"/>
          </a:xfrm>
          <a:prstGeom xmlns:a="http://schemas.openxmlformats.org/drawingml/2006/main" prst="straightConnector1">
            <a:avLst/>
          </a:prstGeom>
          <a:ln xmlns:a="http://schemas.openxmlformats.org/drawingml/2006/main" w="19050">
            <a:solidFill>
              <a:srgbClr val="40D9FF"/>
            </a:solidFill>
            <a:prstDash val="solid"/>
            <a:tailEnd type="arrow" w="med" len="med"/>
          </a:ln>
        </p:spPr>
      </p:cxnSp>
      <p:cxnSp>
        <p:nvCxnSpPr>
          <p:cNvPr id="70" name=""/>
          <p:cNvCxnSpPr>
            <a:stCxn xmlns:a="http://schemas.openxmlformats.org/drawingml/2006/main" id="10" idx="3"/>
            <a:endCxn xmlns:a="http://schemas.openxmlformats.org/drawingml/2006/main" id="13" idx="1"/>
          </p:cNvCxnSpPr>
          <p:nvPr/>
        </p:nvCxnSpPr>
        <p:spPr>
          <a:xfrm xmlns:a="http://schemas.openxmlformats.org/drawingml/2006/main" flipV="1">
            <a:off x="5734050" y="1704975"/>
            <a:ext cx="742950" cy="514350"/>
          </a:xfrm>
          <a:prstGeom xmlns:a="http://schemas.openxmlformats.org/drawingml/2006/main" prst="bentConnector3">
            <a:avLst>
              <a:gd name="adj1" fmla="val 50000"/>
            </a:avLst>
          </a:prstGeom>
          <a:ln xmlns:a="http://schemas.openxmlformats.org/drawingml/2006/main" w="19050">
            <a:solidFill>
              <a:srgbClr val="35D07F"/>
            </a:solidFill>
            <a:prstDash val="solid"/>
            <a:tailEnd type="arrow" w="med" len="med"/>
          </a:ln>
        </p:spPr>
      </p:cxnSp>
      <p:cxnSp>
        <p:nvCxnSpPr>
          <p:cNvPr id="71" name=""/>
          <p:cNvCxnSpPr>
            <a:stCxn xmlns:a="http://schemas.openxmlformats.org/drawingml/2006/main" id="10" idx="3"/>
            <a:endCxn xmlns:a="http://schemas.openxmlformats.org/drawingml/2006/main" id="14" idx="1"/>
          </p:cNvCxnSpPr>
          <p:nvPr/>
        </p:nvCxnSpPr>
        <p:spPr>
          <a:xfrm xmlns:a="http://schemas.openxmlformats.org/drawingml/2006/main">
            <a:off x="5734050" y="2219325"/>
            <a:ext cx="742950" cy="228600"/>
          </a:xfrm>
          <a:prstGeom xmlns:a="http://schemas.openxmlformats.org/drawingml/2006/main" prst="bentConnector3">
            <a:avLst>
              <a:gd name="adj1" fmla="val 50000"/>
            </a:avLst>
          </a:prstGeom>
          <a:ln xmlns:a="http://schemas.openxmlformats.org/drawingml/2006/main" w="19050">
            <a:solidFill>
              <a:srgbClr val="35D07F"/>
            </a:solidFill>
            <a:prstDash val="solid"/>
            <a:tailEnd type="arrow" w="med" len="med"/>
          </a:ln>
        </p:spPr>
      </p:cxnSp>
      <p:cxnSp>
        <p:nvCxnSpPr>
          <p:cNvPr id="72" name=""/>
          <p:cNvCxnSpPr>
            <a:stCxn xmlns:a="http://schemas.openxmlformats.org/drawingml/2006/main" id="10" idx="3"/>
            <a:endCxn xmlns:a="http://schemas.openxmlformats.org/drawingml/2006/main" id="15" idx="1"/>
          </p:cNvCxnSpPr>
          <p:nvPr/>
        </p:nvCxnSpPr>
        <p:spPr>
          <a:xfrm xmlns:a="http://schemas.openxmlformats.org/drawingml/2006/main">
            <a:off x="5734050" y="2219325"/>
            <a:ext cx="742950" cy="971550"/>
          </a:xfrm>
          <a:prstGeom xmlns:a="http://schemas.openxmlformats.org/drawingml/2006/main" prst="bentConnector3">
            <a:avLst>
              <a:gd name="adj1" fmla="val 50000"/>
            </a:avLst>
          </a:prstGeom>
          <a:ln xmlns:a="http://schemas.openxmlformats.org/drawingml/2006/main" w="19050">
            <a:solidFill>
              <a:srgbClr val="35D07F"/>
            </a:solidFill>
            <a:prstDash val="solid"/>
            <a:tailEnd type="arrow" w="med" len="med"/>
          </a:ln>
        </p:spPr>
      </p:cxnSp>
      <p:cxnSp>
        <p:nvCxnSpPr>
          <p:cNvPr id="73" name=""/>
          <p:cNvCxnSpPr>
            <a:stCxn xmlns:a="http://schemas.openxmlformats.org/drawingml/2006/main" id="10" idx="3"/>
            <a:endCxn xmlns:a="http://schemas.openxmlformats.org/drawingml/2006/main" id="16" idx="1"/>
          </p:cNvCxnSpPr>
          <p:nvPr/>
        </p:nvCxnSpPr>
        <p:spPr>
          <a:xfrm xmlns:a="http://schemas.openxmlformats.org/drawingml/2006/main">
            <a:off x="5734050" y="2219325"/>
            <a:ext cx="742950" cy="1714500"/>
          </a:xfrm>
          <a:prstGeom xmlns:a="http://schemas.openxmlformats.org/drawingml/2006/main" prst="bentConnector3">
            <a:avLst>
              <a:gd name="adj1" fmla="val 50000"/>
            </a:avLst>
          </a:prstGeom>
          <a:ln xmlns:a="http://schemas.openxmlformats.org/drawingml/2006/main" w="19050">
            <a:solidFill>
              <a:srgbClr val="35D07F"/>
            </a:solidFill>
            <a:prstDash val="solid"/>
            <a:tailEnd type="arrow" w="med" len="med"/>
          </a:ln>
        </p:spPr>
      </p:cxnSp>
      <p:cxnSp>
        <p:nvCxnSpPr>
          <p:cNvPr id="74" name=""/>
          <p:cNvCxnSpPr>
            <a:stCxn xmlns:a="http://schemas.openxmlformats.org/drawingml/2006/main" id="13" idx="3"/>
            <a:endCxn xmlns:a="http://schemas.openxmlformats.org/drawingml/2006/main" id="21" idx="1"/>
          </p:cNvCxnSpPr>
          <p:nvPr/>
        </p:nvCxnSpPr>
        <p:spPr>
          <a:xfrm xmlns:a="http://schemas.openxmlformats.org/drawingml/2006/main">
            <a:off x="8515350" y="1704975"/>
            <a:ext cx="704850" cy="1152525"/>
          </a:xfrm>
          <a:prstGeom xmlns:a="http://schemas.openxmlformats.org/drawingml/2006/main" prst="bentConnector3">
            <a:avLst>
              <a:gd name="adj1" fmla="val 50000"/>
            </a:avLst>
          </a:prstGeom>
          <a:ln xmlns:a="http://schemas.openxmlformats.org/drawingml/2006/main" w="19050">
            <a:solidFill>
              <a:srgbClr val="40D9FF"/>
            </a:solidFill>
            <a:prstDash val="solid"/>
            <a:tailEnd type="arrow" w="med" len="med"/>
          </a:ln>
        </p:spPr>
      </p:cxnSp>
      <p:cxnSp>
        <p:nvCxnSpPr>
          <p:cNvPr id="75" name=""/>
          <p:cNvCxnSpPr>
            <a:stCxn xmlns:a="http://schemas.openxmlformats.org/drawingml/2006/main" id="14" idx="3"/>
            <a:endCxn xmlns:a="http://schemas.openxmlformats.org/drawingml/2006/main" id="21" idx="1"/>
          </p:cNvCxnSpPr>
          <p:nvPr/>
        </p:nvCxnSpPr>
        <p:spPr>
          <a:xfrm xmlns:a="http://schemas.openxmlformats.org/drawingml/2006/main">
            <a:off x="8515350" y="2447925"/>
            <a:ext cx="704850" cy="409575"/>
          </a:xfrm>
          <a:prstGeom xmlns:a="http://schemas.openxmlformats.org/drawingml/2006/main" prst="bentConnector3">
            <a:avLst>
              <a:gd name="adj1" fmla="val 50000"/>
            </a:avLst>
          </a:prstGeom>
          <a:ln xmlns:a="http://schemas.openxmlformats.org/drawingml/2006/main" w="19050">
            <a:solidFill>
              <a:srgbClr val="40D9FF"/>
            </a:solidFill>
            <a:prstDash val="solid"/>
            <a:tailEnd type="arrow" w="med" len="med"/>
          </a:ln>
        </p:spPr>
      </p:cxnSp>
      <p:cxnSp>
        <p:nvCxnSpPr>
          <p:cNvPr id="76" name=""/>
          <p:cNvCxnSpPr>
            <a:stCxn xmlns:a="http://schemas.openxmlformats.org/drawingml/2006/main" id="15" idx="3"/>
            <a:endCxn xmlns:a="http://schemas.openxmlformats.org/drawingml/2006/main" id="21" idx="1"/>
          </p:cNvCxnSpPr>
          <p:nvPr/>
        </p:nvCxnSpPr>
        <p:spPr>
          <a:xfrm xmlns:a="http://schemas.openxmlformats.org/drawingml/2006/main" flipV="1">
            <a:off x="8515350" y="2857500"/>
            <a:ext cx="704850" cy="333375"/>
          </a:xfrm>
          <a:prstGeom xmlns:a="http://schemas.openxmlformats.org/drawingml/2006/main" prst="bentConnector3">
            <a:avLst>
              <a:gd name="adj1" fmla="val 50000"/>
            </a:avLst>
          </a:prstGeom>
          <a:ln xmlns:a="http://schemas.openxmlformats.org/drawingml/2006/main" w="19050">
            <a:solidFill>
              <a:srgbClr val="40D9FF"/>
            </a:solidFill>
            <a:prstDash val="solid"/>
            <a:tailEnd type="arrow" w="med" len="med"/>
          </a:ln>
        </p:spPr>
      </p:cxnSp>
      <p:cxnSp>
        <p:nvCxnSpPr>
          <p:cNvPr id="77" name=""/>
          <p:cNvCxnSpPr>
            <a:stCxn xmlns:a="http://schemas.openxmlformats.org/drawingml/2006/main" id="16" idx="3"/>
            <a:endCxn xmlns:a="http://schemas.openxmlformats.org/drawingml/2006/main" id="21" idx="1"/>
          </p:cNvCxnSpPr>
          <p:nvPr/>
        </p:nvCxnSpPr>
        <p:spPr>
          <a:xfrm xmlns:a="http://schemas.openxmlformats.org/drawingml/2006/main" flipV="1">
            <a:off x="8515350" y="2857500"/>
            <a:ext cx="704850" cy="1076325"/>
          </a:xfrm>
          <a:prstGeom xmlns:a="http://schemas.openxmlformats.org/drawingml/2006/main" prst="bentConnector3">
            <a:avLst>
              <a:gd name="adj1" fmla="val 50000"/>
            </a:avLst>
          </a:prstGeom>
          <a:ln xmlns:a="http://schemas.openxmlformats.org/drawingml/2006/main" w="19050">
            <a:solidFill>
              <a:srgbClr val="40D9FF"/>
            </a:solidFill>
            <a:prstDash val="solid"/>
            <a:tailEnd type="arrow" w="med" len="med"/>
          </a:ln>
        </p:spPr>
      </p:cxnSp>
      <p:sp>
        <p:nvSpPr>
          <p:cNvPr id="33" name="">
            <a:extLst xmlns:a="http://schemas.openxmlformats.org/drawingml/2006/main">
              <a:ext uri="{FF2B5EF4-FFF2-40B4-BE49-F238E27FC236}">
                <a16:creationId xmlns:a16="http://schemas.microsoft.com/office/drawing/2014/main" id="{2A652CB1-09BF-4A0C-9319-562FED19444C}"/>
              </a:ext>
            </a:extLst>
          </p:cNvPr>
          <p:cNvSpPr>
            <a:spLocks xmlns:a="http://schemas.openxmlformats.org/drawingml/2006/main" noGrp="1"/>
          </p:cNvSpPr>
          <p:nvPr/>
        </p:nvSpPr>
        <p:spPr>
          <a:xfrm xmlns:a="http://schemas.openxmlformats.org/drawingml/2006/main">
            <a:off x="685800" y="44005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5FAFF"/>
                </a:solidFill>
              </a:defRPr>
            </a:pPr>
            <a:r>
              <a:rPr sz="1800" b="1">
                <a:solidFill>
                  <a:srgbClr val="F5FAFF"/>
                </a:solidFill>
              </a:rPr>
              <a:t>16 workflow methods</a:t>
            </a:r>
          </a:p>
        </p:txBody>
      </p:sp>
      <p:sp>
        <p:nvSpPr>
          <p:cNvPr id="34" name="">
            <a:extLst xmlns:a="http://schemas.openxmlformats.org/drawingml/2006/main">
              <a:ext uri="{FF2B5EF4-FFF2-40B4-BE49-F238E27FC236}">
                <a16:creationId xmlns:a16="http://schemas.microsoft.com/office/drawing/2014/main" id="{38BDF129-6228-45C3-BFB3-5902778FB661}"/>
              </a:ext>
            </a:extLst>
          </p:cNvPr>
          <p:cNvSpPr>
            <a:spLocks xmlns:a="http://schemas.openxmlformats.org/drawingml/2006/main" noGrp="1"/>
          </p:cNvSpPr>
          <p:nvPr/>
        </p:nvSpPr>
        <p:spPr>
          <a:xfrm xmlns:a="http://schemas.openxmlformats.org/drawingml/2006/main">
            <a:off x="876300" y="494347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35" name="">
            <a:extLst xmlns:a="http://schemas.openxmlformats.org/drawingml/2006/main">
              <a:ext uri="{FF2B5EF4-FFF2-40B4-BE49-F238E27FC236}">
                <a16:creationId xmlns:a16="http://schemas.microsoft.com/office/drawing/2014/main" id="{DF80361F-B1E7-4E51-81CB-2B48A45C5EFF}"/>
              </a:ext>
            </a:extLst>
          </p:cNvPr>
          <p:cNvSpPr>
            <a:spLocks xmlns:a="http://schemas.openxmlformats.org/drawingml/2006/main" noGrp="1"/>
          </p:cNvSpPr>
          <p:nvPr/>
        </p:nvSpPr>
        <p:spPr>
          <a:xfrm xmlns:a="http://schemas.openxmlformats.org/drawingml/2006/main">
            <a:off x="1047750" y="48577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Metadata profile &amp; explanation</a:t>
            </a:r>
          </a:p>
        </p:txBody>
      </p:sp>
      <p:sp>
        <p:nvSpPr>
          <p:cNvPr id="36" name="">
            <a:extLst xmlns:a="http://schemas.openxmlformats.org/drawingml/2006/main">
              <a:ext uri="{FF2B5EF4-FFF2-40B4-BE49-F238E27FC236}">
                <a16:creationId xmlns:a16="http://schemas.microsoft.com/office/drawing/2014/main" id="{A25BA823-76F7-4121-B93B-77A23E71DFBA}"/>
              </a:ext>
            </a:extLst>
          </p:cNvPr>
          <p:cNvSpPr>
            <a:spLocks xmlns:a="http://schemas.openxmlformats.org/drawingml/2006/main" noGrp="1"/>
          </p:cNvSpPr>
          <p:nvPr/>
        </p:nvSpPr>
        <p:spPr>
          <a:xfrm xmlns:a="http://schemas.openxmlformats.org/drawingml/2006/main">
            <a:off x="4400550" y="494347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37" name="">
            <a:extLst xmlns:a="http://schemas.openxmlformats.org/drawingml/2006/main">
              <a:ext uri="{FF2B5EF4-FFF2-40B4-BE49-F238E27FC236}">
                <a16:creationId xmlns:a16="http://schemas.microsoft.com/office/drawing/2014/main" id="{E3943B1B-8282-4431-B81E-3BA39BCCF6B8}"/>
              </a:ext>
            </a:extLst>
          </p:cNvPr>
          <p:cNvSpPr>
            <a:spLocks xmlns:a="http://schemas.openxmlformats.org/drawingml/2006/main" noGrp="1"/>
          </p:cNvSpPr>
          <p:nvPr/>
        </p:nvSpPr>
        <p:spPr>
          <a:xfrm xmlns:a="http://schemas.openxmlformats.org/drawingml/2006/main">
            <a:off x="4572000" y="48577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Table / database / stogroup storage</a:t>
            </a:r>
          </a:p>
        </p:txBody>
      </p:sp>
      <p:sp>
        <p:nvSpPr>
          <p:cNvPr id="38" name="">
            <a:extLst xmlns:a="http://schemas.openxmlformats.org/drawingml/2006/main">
              <a:ext uri="{FF2B5EF4-FFF2-40B4-BE49-F238E27FC236}">
                <a16:creationId xmlns:a16="http://schemas.microsoft.com/office/drawing/2014/main" id="{33357DC1-11DA-461A-B482-C1C4898D7A57}"/>
              </a:ext>
            </a:extLst>
          </p:cNvPr>
          <p:cNvSpPr>
            <a:spLocks xmlns:a="http://schemas.openxmlformats.org/drawingml/2006/main" noGrp="1"/>
          </p:cNvSpPr>
          <p:nvPr/>
        </p:nvSpPr>
        <p:spPr>
          <a:xfrm xmlns:a="http://schemas.openxmlformats.org/drawingml/2006/main">
            <a:off x="7924800" y="4943475"/>
            <a:ext cx="76200" cy="7620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39" name="">
            <a:extLst xmlns:a="http://schemas.openxmlformats.org/drawingml/2006/main">
              <a:ext uri="{FF2B5EF4-FFF2-40B4-BE49-F238E27FC236}">
                <a16:creationId xmlns:a16="http://schemas.microsoft.com/office/drawing/2014/main" id="{8980B7FC-373D-4218-AD0D-69486CDF4F8E}"/>
              </a:ext>
            </a:extLst>
          </p:cNvPr>
          <p:cNvSpPr>
            <a:spLocks xmlns:a="http://schemas.openxmlformats.org/drawingml/2006/main" noGrp="1"/>
          </p:cNvSpPr>
          <p:nvPr/>
        </p:nvSpPr>
        <p:spPr>
          <a:xfrm xmlns:a="http://schemas.openxmlformats.org/drawingml/2006/main">
            <a:off x="8096250" y="48577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Unified health &amp; readiness</a:t>
            </a:r>
          </a:p>
        </p:txBody>
      </p:sp>
      <p:sp>
        <p:nvSpPr>
          <p:cNvPr id="40" name="">
            <a:extLst xmlns:a="http://schemas.openxmlformats.org/drawingml/2006/main">
              <a:ext uri="{FF2B5EF4-FFF2-40B4-BE49-F238E27FC236}">
                <a16:creationId xmlns:a16="http://schemas.microsoft.com/office/drawing/2014/main" id="{940FC59C-4E56-4447-898D-0FC293D0153A}"/>
              </a:ext>
            </a:extLst>
          </p:cNvPr>
          <p:cNvSpPr>
            <a:spLocks xmlns:a="http://schemas.openxmlformats.org/drawingml/2006/main" noGrp="1"/>
          </p:cNvSpPr>
          <p:nvPr/>
        </p:nvSpPr>
        <p:spPr>
          <a:xfrm xmlns:a="http://schemas.openxmlformats.org/drawingml/2006/main">
            <a:off x="876300" y="54387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41" name="">
            <a:extLst xmlns:a="http://schemas.openxmlformats.org/drawingml/2006/main">
              <a:ext uri="{FF2B5EF4-FFF2-40B4-BE49-F238E27FC236}">
                <a16:creationId xmlns:a16="http://schemas.microsoft.com/office/drawing/2014/main" id="{508270F8-20DA-4CAD-9DB8-48ABF3BD8775}"/>
              </a:ext>
            </a:extLst>
          </p:cNvPr>
          <p:cNvSpPr>
            <a:spLocks xmlns:a="http://schemas.openxmlformats.org/drawingml/2006/main" noGrp="1"/>
          </p:cNvSpPr>
          <p:nvPr/>
        </p:nvSpPr>
        <p:spPr>
          <a:xfrm xmlns:a="http://schemas.openxmlformats.org/drawingml/2006/main">
            <a:off x="1047750" y="5353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LOB / XML / archive / temporal</a:t>
            </a:r>
          </a:p>
        </p:txBody>
      </p:sp>
      <p:sp>
        <p:nvSpPr>
          <p:cNvPr id="42" name="">
            <a:extLst xmlns:a="http://schemas.openxmlformats.org/drawingml/2006/main">
              <a:ext uri="{FF2B5EF4-FFF2-40B4-BE49-F238E27FC236}">
                <a16:creationId xmlns:a16="http://schemas.microsoft.com/office/drawing/2014/main" id="{EDF4FAE1-B428-4B67-9CE0-E163BA63E7A2}"/>
              </a:ext>
            </a:extLst>
          </p:cNvPr>
          <p:cNvSpPr>
            <a:spLocks xmlns:a="http://schemas.openxmlformats.org/drawingml/2006/main" noGrp="1"/>
          </p:cNvSpPr>
          <p:nvPr/>
        </p:nvSpPr>
        <p:spPr>
          <a:xfrm xmlns:a="http://schemas.openxmlformats.org/drawingml/2006/main">
            <a:off x="4400550" y="54387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43" name="">
            <a:extLst xmlns:a="http://schemas.openxmlformats.org/drawingml/2006/main">
              <a:ext uri="{FF2B5EF4-FFF2-40B4-BE49-F238E27FC236}">
                <a16:creationId xmlns:a16="http://schemas.microsoft.com/office/drawing/2014/main" id="{A9FDE5E5-AEBB-4B2A-9FAB-ECDCE5C26874}"/>
              </a:ext>
            </a:extLst>
          </p:cNvPr>
          <p:cNvSpPr>
            <a:spLocks xmlns:a="http://schemas.openxmlformats.org/drawingml/2006/main" noGrp="1"/>
          </p:cNvSpPr>
          <p:nvPr/>
        </p:nvSpPr>
        <p:spPr>
          <a:xfrm xmlns:a="http://schemas.openxmlformats.org/drawingml/2006/main">
            <a:off x="4572000" y="5353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Object-family &amp; partition health</a:t>
            </a:r>
          </a:p>
        </p:txBody>
      </p:sp>
      <p:sp>
        <p:nvSpPr>
          <p:cNvPr id="44" name="">
            <a:extLst xmlns:a="http://schemas.openxmlformats.org/drawingml/2006/main">
              <a:ext uri="{FF2B5EF4-FFF2-40B4-BE49-F238E27FC236}">
                <a16:creationId xmlns:a16="http://schemas.microsoft.com/office/drawing/2014/main" id="{34768980-A83A-4A64-929C-B914FB7C1D3C}"/>
              </a:ext>
            </a:extLst>
          </p:cNvPr>
          <p:cNvSpPr>
            <a:spLocks xmlns:a="http://schemas.openxmlformats.org/drawingml/2006/main" noGrp="1"/>
          </p:cNvSpPr>
          <p:nvPr/>
        </p:nvSpPr>
        <p:spPr>
          <a:xfrm xmlns:a="http://schemas.openxmlformats.org/drawingml/2006/main">
            <a:off x="7924800" y="54387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45" name="">
            <a:extLst xmlns:a="http://schemas.openxmlformats.org/drawingml/2006/main">
              <a:ext uri="{FF2B5EF4-FFF2-40B4-BE49-F238E27FC236}">
                <a16:creationId xmlns:a16="http://schemas.microsoft.com/office/drawing/2014/main" id="{85BD04C8-32E0-481A-B20F-462AD56F0636}"/>
              </a:ext>
            </a:extLst>
          </p:cNvPr>
          <p:cNvSpPr>
            <a:spLocks xmlns:a="http://schemas.openxmlformats.org/drawingml/2006/main" noGrp="1"/>
          </p:cNvSpPr>
          <p:nvPr/>
        </p:nvSpPr>
        <p:spPr>
          <a:xfrm xmlns:a="http://schemas.openxmlformats.org/drawingml/2006/main">
            <a:off x="8096250" y="5353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D9E7F4"/>
                </a:solidFill>
              </a:defRPr>
            </a:pPr>
            <a:r>
              <a:rPr sz="1200" b="0">
                <a:solidFill>
                  <a:srgbClr val="D9E7F4"/>
                </a:solidFill>
              </a:rPr>
              <a:t>Change-impact analysis</a:t>
            </a:r>
          </a:p>
        </p:txBody>
      </p:sp>
    </p:spTree>
    <p:extLst>
      <p:ext uri="{BB962C8B-B14F-4D97-AF65-F5344CB8AC3E}">
        <p14:creationId xmlns:p14="http://schemas.microsoft.com/office/powerpoint/2010/main" val="1173040610"/>
      </p:ext>
    </p:extLst>
  </p:cSld>
</p:sld>
</file>

<file path=ppt/slides/slide13.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27DA8AC-71CA-4439-B20D-C4162769FBF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F1F5BB04-EA7A-4501-B993-8F21B5EEF940}"/>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COMPONENT ARCHITECTURE</a:t>
            </a:r>
          </a:p>
        </p:txBody>
      </p:sp>
      <p:sp>
        <p:nvSpPr>
          <p:cNvPr id="3" name="slide-title">
            <a:extLst xmlns:a="http://schemas.openxmlformats.org/drawingml/2006/main">
              <a:ext uri="{FF2B5EF4-FFF2-40B4-BE49-F238E27FC236}">
                <a16:creationId xmlns:a16="http://schemas.microsoft.com/office/drawing/2014/main" id="{69F9CBB7-468E-49AF-8051-5BECB8120FEA}"/>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Fifteen modules separate responsibilities by layer</a:t>
            </a:r>
          </a:p>
        </p:txBody>
      </p:sp>
      <p:sp>
        <p:nvSpPr>
          <p:cNvPr id="4" name="">
            <a:extLst xmlns:a="http://schemas.openxmlformats.org/drawingml/2006/main">
              <a:ext uri="{FF2B5EF4-FFF2-40B4-BE49-F238E27FC236}">
                <a16:creationId xmlns:a16="http://schemas.microsoft.com/office/drawing/2014/main" id="{EEAA0421-19B8-4380-8811-50F1ED032C92}"/>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F1C88799-F27C-4C1C-B75A-5A4FCCEA117C}"/>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13D106C7-4FE9-400F-9C10-25B2FC1F4752}"/>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13</a:t>
            </a:r>
          </a:p>
        </p:txBody>
      </p:sp>
      <p:sp>
        <p:nvSpPr>
          <p:cNvPr id="7" name="">
            <a:extLst xmlns:a="http://schemas.openxmlformats.org/drawingml/2006/main">
              <a:ext uri="{FF2B5EF4-FFF2-40B4-BE49-F238E27FC236}">
                <a16:creationId xmlns:a16="http://schemas.microsoft.com/office/drawing/2014/main" id="{9B7F4317-2836-4E46-B62F-26553D79191D}"/>
              </a:ext>
            </a:extLst>
          </p:cNvPr>
          <p:cNvSpPr>
            <a:spLocks xmlns:a="http://schemas.openxmlformats.org/drawingml/2006/main" noGrp="1"/>
          </p:cNvSpPr>
          <p:nvPr/>
        </p:nvSpPr>
        <p:spPr>
          <a:xfrm xmlns:a="http://schemas.openxmlformats.org/drawingml/2006/main">
            <a:off x="685800" y="15430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40D9FF"/>
                </a:solidFill>
              </a:defRPr>
            </a:pPr>
            <a:r>
              <a:rPr sz="1125" b="1">
                <a:solidFill>
                  <a:srgbClr val="40D9FF"/>
                </a:solidFill>
              </a:rPr>
              <a:t>ENTRY &amp; EXPERIENCE</a:t>
            </a:r>
          </a:p>
        </p:txBody>
      </p:sp>
      <p:sp>
        <p:nvSpPr>
          <p:cNvPr id="8" name="">
            <a:extLst xmlns:a="http://schemas.openxmlformats.org/drawingml/2006/main">
              <a:ext uri="{FF2B5EF4-FFF2-40B4-BE49-F238E27FC236}">
                <a16:creationId xmlns:a16="http://schemas.microsoft.com/office/drawing/2014/main" id="{0B32E863-BF81-422E-AD53-9A11757DF8F5}"/>
              </a:ext>
            </a:extLst>
          </p:cNvPr>
          <p:cNvSpPr>
            <a:spLocks xmlns:a="http://schemas.openxmlformats.org/drawingml/2006/main" noGrp="1"/>
          </p:cNvSpPr>
          <p:nvPr/>
        </p:nvSpPr>
        <p:spPr>
          <a:xfrm xmlns:a="http://schemas.openxmlformats.org/drawingml/2006/main">
            <a:off x="2495550" y="1695450"/>
            <a:ext cx="228600" cy="1905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9" name="">
            <a:extLst xmlns:a="http://schemas.openxmlformats.org/drawingml/2006/main">
              <a:ext uri="{FF2B5EF4-FFF2-40B4-BE49-F238E27FC236}">
                <a16:creationId xmlns:a16="http://schemas.microsoft.com/office/drawing/2014/main" id="{89231E39-F701-491C-B2DF-298EE6DD988A}"/>
              </a:ext>
            </a:extLst>
          </p:cNvPr>
          <p:cNvSpPr>
            <a:spLocks xmlns:a="http://schemas.openxmlformats.org/drawingml/2006/main" noGrp="1"/>
          </p:cNvSpPr>
          <p:nvPr/>
        </p:nvSpPr>
        <p:spPr>
          <a:xfrm xmlns:a="http://schemas.openxmlformats.org/drawingml/2006/main">
            <a:off x="2933700" y="1447800"/>
            <a:ext cx="2768600" cy="647700"/>
          </a:xfrm>
          <a:prstGeom xmlns:a="http://schemas.openxmlformats.org/drawingml/2006/main" prst="roundRect">
            <a:avLst>
              <a:gd name="adj" fmla="val 17647"/>
            </a:avLst>
          </a:prstGeom>
          <a:solidFill xmlns:a="http://schemas.openxmlformats.org/drawingml/2006/main">
            <a:srgbClr val="143A55"/>
          </a:solidFill>
          <a:ln xmlns:a="http://schemas.openxmlformats.org/drawingml/2006/main" w="9525">
            <a:solidFill>
              <a:srgbClr val="40D9FF"/>
            </a:solidFill>
            <a:prstDash val="solid"/>
          </a:ln>
        </p:spPr>
      </p:sp>
      <p:sp>
        <p:nvSpPr>
          <p:cNvPr id="10" name="">
            <a:extLst xmlns:a="http://schemas.openxmlformats.org/drawingml/2006/main">
              <a:ext uri="{FF2B5EF4-FFF2-40B4-BE49-F238E27FC236}">
                <a16:creationId xmlns:a16="http://schemas.microsoft.com/office/drawing/2014/main" id="{26251409-95EA-4E2C-91C9-78FA18641CF4}"/>
              </a:ext>
            </a:extLst>
          </p:cNvPr>
          <p:cNvSpPr>
            <a:spLocks xmlns:a="http://schemas.openxmlformats.org/drawingml/2006/main" noGrp="1"/>
          </p:cNvSpPr>
          <p:nvPr/>
        </p:nvSpPr>
        <p:spPr>
          <a:xfrm xmlns:a="http://schemas.openxmlformats.org/drawingml/2006/main">
            <a:off x="3009900" y="154305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db2ai_main</a:t>
            </a:r>
          </a:p>
        </p:txBody>
      </p:sp>
      <p:sp>
        <p:nvSpPr>
          <p:cNvPr id="11" name="">
            <a:extLst xmlns:a="http://schemas.openxmlformats.org/drawingml/2006/main">
              <a:ext uri="{FF2B5EF4-FFF2-40B4-BE49-F238E27FC236}">
                <a16:creationId xmlns:a16="http://schemas.microsoft.com/office/drawing/2014/main" id="{6627E8CB-E02D-4B40-802A-CC96A8B7D7A2}"/>
              </a:ext>
            </a:extLst>
          </p:cNvPr>
          <p:cNvSpPr>
            <a:spLocks xmlns:a="http://schemas.openxmlformats.org/drawingml/2006/main" noGrp="1"/>
          </p:cNvSpPr>
          <p:nvPr/>
        </p:nvSpPr>
        <p:spPr>
          <a:xfrm xmlns:a="http://schemas.openxmlformats.org/drawingml/2006/main">
            <a:off x="5835650" y="1447800"/>
            <a:ext cx="2768600" cy="647700"/>
          </a:xfrm>
          <a:prstGeom xmlns:a="http://schemas.openxmlformats.org/drawingml/2006/main" prst="roundRect">
            <a:avLst>
              <a:gd name="adj" fmla="val 17647"/>
            </a:avLst>
          </a:prstGeom>
          <a:solidFill xmlns:a="http://schemas.openxmlformats.org/drawingml/2006/main">
            <a:srgbClr val="143A55"/>
          </a:solidFill>
          <a:ln xmlns:a="http://schemas.openxmlformats.org/drawingml/2006/main" w="9525">
            <a:solidFill>
              <a:srgbClr val="40D9FF"/>
            </a:solidFill>
            <a:prstDash val="solid"/>
          </a:ln>
        </p:spPr>
      </p:sp>
      <p:sp>
        <p:nvSpPr>
          <p:cNvPr id="12" name="">
            <a:extLst xmlns:a="http://schemas.openxmlformats.org/drawingml/2006/main">
              <a:ext uri="{FF2B5EF4-FFF2-40B4-BE49-F238E27FC236}">
                <a16:creationId xmlns:a16="http://schemas.microsoft.com/office/drawing/2014/main" id="{BF2003F0-7636-4617-8CE3-3255A538E130}"/>
              </a:ext>
            </a:extLst>
          </p:cNvPr>
          <p:cNvSpPr>
            <a:spLocks xmlns:a="http://schemas.openxmlformats.org/drawingml/2006/main" noGrp="1"/>
          </p:cNvSpPr>
          <p:nvPr/>
        </p:nvSpPr>
        <p:spPr>
          <a:xfrm xmlns:a="http://schemas.openxmlformats.org/drawingml/2006/main">
            <a:off x="5911850" y="154305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db2ai_app</a:t>
            </a:r>
          </a:p>
        </p:txBody>
      </p:sp>
      <p:sp>
        <p:nvSpPr>
          <p:cNvPr id="13" name="">
            <a:extLst xmlns:a="http://schemas.openxmlformats.org/drawingml/2006/main">
              <a:ext uri="{FF2B5EF4-FFF2-40B4-BE49-F238E27FC236}">
                <a16:creationId xmlns:a16="http://schemas.microsoft.com/office/drawing/2014/main" id="{D72262FF-9CB6-4EB0-9BFC-B77C6F4918AA}"/>
              </a:ext>
            </a:extLst>
          </p:cNvPr>
          <p:cNvSpPr>
            <a:spLocks xmlns:a="http://schemas.openxmlformats.org/drawingml/2006/main" noGrp="1"/>
          </p:cNvSpPr>
          <p:nvPr/>
        </p:nvSpPr>
        <p:spPr>
          <a:xfrm xmlns:a="http://schemas.openxmlformats.org/drawingml/2006/main">
            <a:off x="8737600" y="1447800"/>
            <a:ext cx="2768600" cy="647700"/>
          </a:xfrm>
          <a:prstGeom xmlns:a="http://schemas.openxmlformats.org/drawingml/2006/main" prst="roundRect">
            <a:avLst>
              <a:gd name="adj" fmla="val 17647"/>
            </a:avLst>
          </a:prstGeom>
          <a:solidFill xmlns:a="http://schemas.openxmlformats.org/drawingml/2006/main">
            <a:srgbClr val="143A55"/>
          </a:solidFill>
          <a:ln xmlns:a="http://schemas.openxmlformats.org/drawingml/2006/main" w="9525">
            <a:solidFill>
              <a:srgbClr val="40D9FF"/>
            </a:solidFill>
            <a:prstDash val="solid"/>
          </a:ln>
        </p:spPr>
      </p:sp>
      <p:sp>
        <p:nvSpPr>
          <p:cNvPr id="14" name="">
            <a:extLst xmlns:a="http://schemas.openxmlformats.org/drawingml/2006/main">
              <a:ext uri="{FF2B5EF4-FFF2-40B4-BE49-F238E27FC236}">
                <a16:creationId xmlns:a16="http://schemas.microsoft.com/office/drawing/2014/main" id="{3D1C2E63-9D63-468F-B8BC-C0612FA307A4}"/>
              </a:ext>
            </a:extLst>
          </p:cNvPr>
          <p:cNvSpPr>
            <a:spLocks xmlns:a="http://schemas.openxmlformats.org/drawingml/2006/main" noGrp="1"/>
          </p:cNvSpPr>
          <p:nvPr/>
        </p:nvSpPr>
        <p:spPr>
          <a:xfrm xmlns:a="http://schemas.openxmlformats.org/drawingml/2006/main">
            <a:off x="8813800" y="154305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db2ai_renderer</a:t>
            </a:r>
          </a:p>
        </p:txBody>
      </p:sp>
      <p:sp>
        <p:nvSpPr>
          <p:cNvPr id="15" name="">
            <a:extLst xmlns:a="http://schemas.openxmlformats.org/drawingml/2006/main">
              <a:ext uri="{FF2B5EF4-FFF2-40B4-BE49-F238E27FC236}">
                <a16:creationId xmlns:a16="http://schemas.microsoft.com/office/drawing/2014/main" id="{1BC3F862-62AA-4433-BD78-F4D1E89B8FD4}"/>
              </a:ext>
            </a:extLst>
          </p:cNvPr>
          <p:cNvSpPr>
            <a:spLocks xmlns:a="http://schemas.openxmlformats.org/drawingml/2006/main" noGrp="1"/>
          </p:cNvSpPr>
          <p:nvPr/>
        </p:nvSpPr>
        <p:spPr>
          <a:xfrm xmlns:a="http://schemas.openxmlformats.org/drawingml/2006/main">
            <a:off x="685800" y="2667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F4B942"/>
                </a:solidFill>
              </a:defRPr>
            </a:pPr>
            <a:r>
              <a:rPr sz="1125" b="1">
                <a:solidFill>
                  <a:srgbClr val="F4B942"/>
                </a:solidFill>
              </a:rPr>
              <a:t>CONTROL &amp; AI</a:t>
            </a:r>
          </a:p>
        </p:txBody>
      </p:sp>
      <p:sp>
        <p:nvSpPr>
          <p:cNvPr id="16" name="">
            <a:extLst xmlns:a="http://schemas.openxmlformats.org/drawingml/2006/main">
              <a:ext uri="{FF2B5EF4-FFF2-40B4-BE49-F238E27FC236}">
                <a16:creationId xmlns:a16="http://schemas.microsoft.com/office/drawing/2014/main" id="{791227E3-5876-4ADA-80EA-3E97E4D18400}"/>
              </a:ext>
            </a:extLst>
          </p:cNvPr>
          <p:cNvSpPr>
            <a:spLocks xmlns:a="http://schemas.openxmlformats.org/drawingml/2006/main" noGrp="1"/>
          </p:cNvSpPr>
          <p:nvPr/>
        </p:nvSpPr>
        <p:spPr>
          <a:xfrm xmlns:a="http://schemas.openxmlformats.org/drawingml/2006/main">
            <a:off x="2495550" y="2819400"/>
            <a:ext cx="228600" cy="19050"/>
          </a:xfrm>
          <a:prstGeom xmlns:a="http://schemas.openxmlformats.org/drawingml/2006/main" prst="rect">
            <a:avLst/>
          </a:prstGeom>
          <a:solidFill xmlns:a="http://schemas.openxmlformats.org/drawingml/2006/main">
            <a:srgbClr val="F4B942"/>
          </a:solidFill>
          <a:ln xmlns:a="http://schemas.openxmlformats.org/drawingml/2006/main" w="0">
            <a:solidFill>
              <a:srgbClr val="F4B942"/>
            </a:solidFill>
            <a:prstDash val="solid"/>
          </a:ln>
        </p:spPr>
      </p:sp>
      <p:sp>
        <p:nvSpPr>
          <p:cNvPr id="17" name="">
            <a:extLst xmlns:a="http://schemas.openxmlformats.org/drawingml/2006/main">
              <a:ext uri="{FF2B5EF4-FFF2-40B4-BE49-F238E27FC236}">
                <a16:creationId xmlns:a16="http://schemas.microsoft.com/office/drawing/2014/main" id="{B30AA887-19E1-4B99-A298-E332FEFC14DF}"/>
              </a:ext>
            </a:extLst>
          </p:cNvPr>
          <p:cNvSpPr>
            <a:spLocks xmlns:a="http://schemas.openxmlformats.org/drawingml/2006/main" noGrp="1"/>
          </p:cNvSpPr>
          <p:nvPr/>
        </p:nvSpPr>
        <p:spPr>
          <a:xfrm xmlns:a="http://schemas.openxmlformats.org/drawingml/2006/main">
            <a:off x="2933700" y="2571750"/>
            <a:ext cx="27686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F4B942"/>
            </a:solidFill>
            <a:prstDash val="solid"/>
          </a:ln>
        </p:spPr>
      </p:sp>
      <p:sp>
        <p:nvSpPr>
          <p:cNvPr id="18" name="">
            <a:extLst xmlns:a="http://schemas.openxmlformats.org/drawingml/2006/main">
              <a:ext uri="{FF2B5EF4-FFF2-40B4-BE49-F238E27FC236}">
                <a16:creationId xmlns:a16="http://schemas.microsoft.com/office/drawing/2014/main" id="{A7A8045D-22A1-4C8C-BF2A-EF846ADA3A74}"/>
              </a:ext>
            </a:extLst>
          </p:cNvPr>
          <p:cNvSpPr>
            <a:spLocks xmlns:a="http://schemas.openxmlformats.org/drawingml/2006/main" noGrp="1"/>
          </p:cNvSpPr>
          <p:nvPr/>
        </p:nvSpPr>
        <p:spPr>
          <a:xfrm xmlns:a="http://schemas.openxmlformats.org/drawingml/2006/main">
            <a:off x="3009900" y="266700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db2ai_guardrails</a:t>
            </a:r>
          </a:p>
        </p:txBody>
      </p:sp>
      <p:sp>
        <p:nvSpPr>
          <p:cNvPr id="19" name="">
            <a:extLst xmlns:a="http://schemas.openxmlformats.org/drawingml/2006/main">
              <a:ext uri="{FF2B5EF4-FFF2-40B4-BE49-F238E27FC236}">
                <a16:creationId xmlns:a16="http://schemas.microsoft.com/office/drawing/2014/main" id="{4053352E-6372-4F1F-BAF8-E04AA6168085}"/>
              </a:ext>
            </a:extLst>
          </p:cNvPr>
          <p:cNvSpPr>
            <a:spLocks xmlns:a="http://schemas.openxmlformats.org/drawingml/2006/main" noGrp="1"/>
          </p:cNvSpPr>
          <p:nvPr/>
        </p:nvSpPr>
        <p:spPr>
          <a:xfrm xmlns:a="http://schemas.openxmlformats.org/drawingml/2006/main">
            <a:off x="5835650" y="2571750"/>
            <a:ext cx="27686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F4B942"/>
            </a:solidFill>
            <a:prstDash val="solid"/>
          </a:ln>
        </p:spPr>
      </p:sp>
      <p:sp>
        <p:nvSpPr>
          <p:cNvPr id="20" name="">
            <a:extLst xmlns:a="http://schemas.openxmlformats.org/drawingml/2006/main">
              <a:ext uri="{FF2B5EF4-FFF2-40B4-BE49-F238E27FC236}">
                <a16:creationId xmlns:a16="http://schemas.microsoft.com/office/drawing/2014/main" id="{23CA80BB-7AC5-45E9-9C79-1EDE1149E3F4}"/>
              </a:ext>
            </a:extLst>
          </p:cNvPr>
          <p:cNvSpPr>
            <a:spLocks xmlns:a="http://schemas.openxmlformats.org/drawingml/2006/main" noGrp="1"/>
          </p:cNvSpPr>
          <p:nvPr/>
        </p:nvSpPr>
        <p:spPr>
          <a:xfrm xmlns:a="http://schemas.openxmlformats.org/drawingml/2006/main">
            <a:off x="5911850" y="266700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db2ai_nl_router</a:t>
            </a:r>
          </a:p>
        </p:txBody>
      </p:sp>
      <p:sp>
        <p:nvSpPr>
          <p:cNvPr id="21" name="">
            <a:extLst xmlns:a="http://schemas.openxmlformats.org/drawingml/2006/main">
              <a:ext uri="{FF2B5EF4-FFF2-40B4-BE49-F238E27FC236}">
                <a16:creationId xmlns:a16="http://schemas.microsoft.com/office/drawing/2014/main" id="{6F1A4000-8DED-46D9-9B32-E89C7D5DB61E}"/>
              </a:ext>
            </a:extLst>
          </p:cNvPr>
          <p:cNvSpPr>
            <a:spLocks xmlns:a="http://schemas.openxmlformats.org/drawingml/2006/main" noGrp="1"/>
          </p:cNvSpPr>
          <p:nvPr/>
        </p:nvSpPr>
        <p:spPr>
          <a:xfrm xmlns:a="http://schemas.openxmlformats.org/drawingml/2006/main">
            <a:off x="8737600" y="2571750"/>
            <a:ext cx="2768600"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F4B942"/>
            </a:solidFill>
            <a:prstDash val="solid"/>
          </a:ln>
        </p:spPr>
      </p:sp>
      <p:sp>
        <p:nvSpPr>
          <p:cNvPr id="22" name="">
            <a:extLst xmlns:a="http://schemas.openxmlformats.org/drawingml/2006/main">
              <a:ext uri="{FF2B5EF4-FFF2-40B4-BE49-F238E27FC236}">
                <a16:creationId xmlns:a16="http://schemas.microsoft.com/office/drawing/2014/main" id="{DF77F1A4-FB36-472C-A3AD-FB8C327357FB}"/>
              </a:ext>
            </a:extLst>
          </p:cNvPr>
          <p:cNvSpPr>
            <a:spLocks xmlns:a="http://schemas.openxmlformats.org/drawingml/2006/main" noGrp="1"/>
          </p:cNvSpPr>
          <p:nvPr/>
        </p:nvSpPr>
        <p:spPr>
          <a:xfrm xmlns:a="http://schemas.openxmlformats.org/drawingml/2006/main">
            <a:off x="8813800" y="266700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db2ai_llm_agent</a:t>
            </a:r>
          </a:p>
        </p:txBody>
      </p:sp>
      <p:sp>
        <p:nvSpPr>
          <p:cNvPr id="23" name="">
            <a:extLst xmlns:a="http://schemas.openxmlformats.org/drawingml/2006/main">
              <a:ext uri="{FF2B5EF4-FFF2-40B4-BE49-F238E27FC236}">
                <a16:creationId xmlns:a16="http://schemas.microsoft.com/office/drawing/2014/main" id="{BEB91D34-00EA-4200-A9B7-5F5055BD48F5}"/>
              </a:ext>
            </a:extLst>
          </p:cNvPr>
          <p:cNvSpPr>
            <a:spLocks xmlns:a="http://schemas.openxmlformats.org/drawingml/2006/main" noGrp="1"/>
          </p:cNvSpPr>
          <p:nvPr/>
        </p:nvSpPr>
        <p:spPr>
          <a:xfrm xmlns:a="http://schemas.openxmlformats.org/drawingml/2006/main">
            <a:off x="685800" y="379095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5D07F"/>
                </a:solidFill>
              </a:defRPr>
            </a:pPr>
            <a:r>
              <a:rPr sz="1125" b="1">
                <a:solidFill>
                  <a:srgbClr val="35D07F"/>
                </a:solidFill>
              </a:rPr>
              <a:t>DOMAIN &amp; EXECUTION</a:t>
            </a:r>
          </a:p>
        </p:txBody>
      </p:sp>
      <p:sp>
        <p:nvSpPr>
          <p:cNvPr id="24" name="">
            <a:extLst xmlns:a="http://schemas.openxmlformats.org/drawingml/2006/main">
              <a:ext uri="{FF2B5EF4-FFF2-40B4-BE49-F238E27FC236}">
                <a16:creationId xmlns:a16="http://schemas.microsoft.com/office/drawing/2014/main" id="{A1E458B8-D2FE-4D3B-A737-83AC2E9AA4BE}"/>
              </a:ext>
            </a:extLst>
          </p:cNvPr>
          <p:cNvSpPr>
            <a:spLocks xmlns:a="http://schemas.openxmlformats.org/drawingml/2006/main" noGrp="1"/>
          </p:cNvSpPr>
          <p:nvPr/>
        </p:nvSpPr>
        <p:spPr>
          <a:xfrm xmlns:a="http://schemas.openxmlformats.org/drawingml/2006/main">
            <a:off x="2495550" y="3943350"/>
            <a:ext cx="228600" cy="19050"/>
          </a:xfrm>
          <a:prstGeom xmlns:a="http://schemas.openxmlformats.org/drawingml/2006/main" prst="rect">
            <a:avLst/>
          </a:prstGeom>
          <a:solidFill xmlns:a="http://schemas.openxmlformats.org/drawingml/2006/main">
            <a:srgbClr val="35D07F"/>
          </a:solidFill>
          <a:ln xmlns:a="http://schemas.openxmlformats.org/drawingml/2006/main" w="0">
            <a:solidFill>
              <a:srgbClr val="35D07F"/>
            </a:solidFill>
            <a:prstDash val="solid"/>
          </a:ln>
        </p:spPr>
      </p:sp>
      <p:sp>
        <p:nvSpPr>
          <p:cNvPr id="25" name="">
            <a:extLst xmlns:a="http://schemas.openxmlformats.org/drawingml/2006/main">
              <a:ext uri="{FF2B5EF4-FFF2-40B4-BE49-F238E27FC236}">
                <a16:creationId xmlns:a16="http://schemas.microsoft.com/office/drawing/2014/main" id="{665CC515-DDF7-4CBA-B6B5-95E7AF322C0B}"/>
              </a:ext>
            </a:extLst>
          </p:cNvPr>
          <p:cNvSpPr>
            <a:spLocks xmlns:a="http://schemas.openxmlformats.org/drawingml/2006/main" noGrp="1"/>
          </p:cNvSpPr>
          <p:nvPr/>
        </p:nvSpPr>
        <p:spPr>
          <a:xfrm xmlns:a="http://schemas.openxmlformats.org/drawingml/2006/main">
            <a:off x="2933700" y="3695700"/>
            <a:ext cx="2768600" cy="647700"/>
          </a:xfrm>
          <a:prstGeom xmlns:a="http://schemas.openxmlformats.org/drawingml/2006/main" prst="roundRect">
            <a:avLst>
              <a:gd name="adj" fmla="val 17647"/>
            </a:avLst>
          </a:prstGeom>
          <a:solidFill xmlns:a="http://schemas.openxmlformats.org/drawingml/2006/main">
            <a:srgbClr val="143A55"/>
          </a:solidFill>
          <a:ln xmlns:a="http://schemas.openxmlformats.org/drawingml/2006/main" w="9525">
            <a:solidFill>
              <a:srgbClr val="35D07F"/>
            </a:solidFill>
            <a:prstDash val="solid"/>
          </a:ln>
        </p:spPr>
      </p:sp>
      <p:sp>
        <p:nvSpPr>
          <p:cNvPr id="26" name="">
            <a:extLst xmlns:a="http://schemas.openxmlformats.org/drawingml/2006/main">
              <a:ext uri="{FF2B5EF4-FFF2-40B4-BE49-F238E27FC236}">
                <a16:creationId xmlns:a16="http://schemas.microsoft.com/office/drawing/2014/main" id="{69D898A8-8E75-4964-8E9D-970664467082}"/>
              </a:ext>
            </a:extLst>
          </p:cNvPr>
          <p:cNvSpPr>
            <a:spLocks xmlns:a="http://schemas.openxmlformats.org/drawingml/2006/main" noGrp="1"/>
          </p:cNvSpPr>
          <p:nvPr/>
        </p:nvSpPr>
        <p:spPr>
          <a:xfrm xmlns:a="http://schemas.openxmlformats.org/drawingml/2006/main">
            <a:off x="3009900" y="379095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db2ai_catalog_tools</a:t>
            </a:r>
          </a:p>
        </p:txBody>
      </p:sp>
      <p:sp>
        <p:nvSpPr>
          <p:cNvPr id="27" name="">
            <a:extLst xmlns:a="http://schemas.openxmlformats.org/drawingml/2006/main">
              <a:ext uri="{FF2B5EF4-FFF2-40B4-BE49-F238E27FC236}">
                <a16:creationId xmlns:a16="http://schemas.microsoft.com/office/drawing/2014/main" id="{2F210C59-8A17-4333-A581-3D43DBDD6E23}"/>
              </a:ext>
            </a:extLst>
          </p:cNvPr>
          <p:cNvSpPr>
            <a:spLocks xmlns:a="http://schemas.openxmlformats.org/drawingml/2006/main" noGrp="1"/>
          </p:cNvSpPr>
          <p:nvPr/>
        </p:nvSpPr>
        <p:spPr>
          <a:xfrm xmlns:a="http://schemas.openxmlformats.org/drawingml/2006/main">
            <a:off x="5835650" y="3695700"/>
            <a:ext cx="2768600" cy="647700"/>
          </a:xfrm>
          <a:prstGeom xmlns:a="http://schemas.openxmlformats.org/drawingml/2006/main" prst="roundRect">
            <a:avLst>
              <a:gd name="adj" fmla="val 17647"/>
            </a:avLst>
          </a:prstGeom>
          <a:solidFill xmlns:a="http://schemas.openxmlformats.org/drawingml/2006/main">
            <a:srgbClr val="143A55"/>
          </a:solidFill>
          <a:ln xmlns:a="http://schemas.openxmlformats.org/drawingml/2006/main" w="9525">
            <a:solidFill>
              <a:srgbClr val="35D07F"/>
            </a:solidFill>
            <a:prstDash val="solid"/>
          </a:ln>
        </p:spPr>
      </p:sp>
      <p:sp>
        <p:nvSpPr>
          <p:cNvPr id="28" name="">
            <a:extLst xmlns:a="http://schemas.openxmlformats.org/drawingml/2006/main">
              <a:ext uri="{FF2B5EF4-FFF2-40B4-BE49-F238E27FC236}">
                <a16:creationId xmlns:a16="http://schemas.microsoft.com/office/drawing/2014/main" id="{DB8721DE-348C-4F7C-A981-92D80EE2C846}"/>
              </a:ext>
            </a:extLst>
          </p:cNvPr>
          <p:cNvSpPr>
            <a:spLocks xmlns:a="http://schemas.openxmlformats.org/drawingml/2006/main" noGrp="1"/>
          </p:cNvSpPr>
          <p:nvPr/>
        </p:nvSpPr>
        <p:spPr>
          <a:xfrm xmlns:a="http://schemas.openxmlformats.org/drawingml/2006/main">
            <a:off x="5911850" y="379095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db2ai_workflows</a:t>
            </a:r>
          </a:p>
        </p:txBody>
      </p:sp>
      <p:sp>
        <p:nvSpPr>
          <p:cNvPr id="29" name="">
            <a:extLst xmlns:a="http://schemas.openxmlformats.org/drawingml/2006/main">
              <a:ext uri="{FF2B5EF4-FFF2-40B4-BE49-F238E27FC236}">
                <a16:creationId xmlns:a16="http://schemas.microsoft.com/office/drawing/2014/main" id="{4C369886-E3EB-4364-9E27-10749A713FD6}"/>
              </a:ext>
            </a:extLst>
          </p:cNvPr>
          <p:cNvSpPr>
            <a:spLocks xmlns:a="http://schemas.openxmlformats.org/drawingml/2006/main" noGrp="1"/>
          </p:cNvSpPr>
          <p:nvPr/>
        </p:nvSpPr>
        <p:spPr>
          <a:xfrm xmlns:a="http://schemas.openxmlformats.org/drawingml/2006/main">
            <a:off x="8737600" y="3695700"/>
            <a:ext cx="2768600" cy="647700"/>
          </a:xfrm>
          <a:prstGeom xmlns:a="http://schemas.openxmlformats.org/drawingml/2006/main" prst="roundRect">
            <a:avLst>
              <a:gd name="adj" fmla="val 17647"/>
            </a:avLst>
          </a:prstGeom>
          <a:solidFill xmlns:a="http://schemas.openxmlformats.org/drawingml/2006/main">
            <a:srgbClr val="143A55"/>
          </a:solidFill>
          <a:ln xmlns:a="http://schemas.openxmlformats.org/drawingml/2006/main" w="9525">
            <a:solidFill>
              <a:srgbClr val="35D07F"/>
            </a:solidFill>
            <a:prstDash val="solid"/>
          </a:ln>
        </p:spPr>
      </p:sp>
      <p:sp>
        <p:nvSpPr>
          <p:cNvPr id="30" name="">
            <a:extLst xmlns:a="http://schemas.openxmlformats.org/drawingml/2006/main">
              <a:ext uri="{FF2B5EF4-FFF2-40B4-BE49-F238E27FC236}">
                <a16:creationId xmlns:a16="http://schemas.microsoft.com/office/drawing/2014/main" id="{EC8D4C01-81F8-47C3-AD06-8B048C42476D}"/>
              </a:ext>
            </a:extLst>
          </p:cNvPr>
          <p:cNvSpPr>
            <a:spLocks xmlns:a="http://schemas.openxmlformats.org/drawingml/2006/main" noGrp="1"/>
          </p:cNvSpPr>
          <p:nvPr/>
        </p:nvSpPr>
        <p:spPr>
          <a:xfrm xmlns:a="http://schemas.openxmlformats.org/drawingml/2006/main">
            <a:off x="8813800" y="3790950"/>
            <a:ext cx="2616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db2ai_metadata_glossary</a:t>
            </a:r>
          </a:p>
        </p:txBody>
      </p:sp>
      <p:sp>
        <p:nvSpPr>
          <p:cNvPr id="31" name="">
            <a:extLst xmlns:a="http://schemas.openxmlformats.org/drawingml/2006/main">
              <a:ext uri="{FF2B5EF4-FFF2-40B4-BE49-F238E27FC236}">
                <a16:creationId xmlns:a16="http://schemas.microsoft.com/office/drawing/2014/main" id="{BE057B85-CE9A-408D-88F7-8925114563F9}"/>
              </a:ext>
            </a:extLst>
          </p:cNvPr>
          <p:cNvSpPr>
            <a:spLocks xmlns:a="http://schemas.openxmlformats.org/drawingml/2006/main" noGrp="1"/>
          </p:cNvSpPr>
          <p:nvPr/>
        </p:nvSpPr>
        <p:spPr>
          <a:xfrm xmlns:a="http://schemas.openxmlformats.org/drawingml/2006/main">
            <a:off x="685800" y="49149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1">
                <a:solidFill>
                  <a:srgbClr val="3B82F6"/>
                </a:solidFill>
              </a:defRPr>
            </a:pPr>
            <a:r>
              <a:rPr sz="1125" b="1">
                <a:solidFill>
                  <a:srgbClr val="3B82F6"/>
                </a:solidFill>
              </a:rPr>
              <a:t>PLATFORM SERVICES</a:t>
            </a:r>
          </a:p>
        </p:txBody>
      </p:sp>
      <p:sp>
        <p:nvSpPr>
          <p:cNvPr id="32" name="">
            <a:extLst xmlns:a="http://schemas.openxmlformats.org/drawingml/2006/main">
              <a:ext uri="{FF2B5EF4-FFF2-40B4-BE49-F238E27FC236}">
                <a16:creationId xmlns:a16="http://schemas.microsoft.com/office/drawing/2014/main" id="{DD8E3CA8-ABBE-4E0A-A456-231C08B3FE70}"/>
              </a:ext>
            </a:extLst>
          </p:cNvPr>
          <p:cNvSpPr>
            <a:spLocks xmlns:a="http://schemas.openxmlformats.org/drawingml/2006/main" noGrp="1"/>
          </p:cNvSpPr>
          <p:nvPr/>
        </p:nvSpPr>
        <p:spPr>
          <a:xfrm xmlns:a="http://schemas.openxmlformats.org/drawingml/2006/main">
            <a:off x="2495550" y="5067300"/>
            <a:ext cx="228600" cy="19050"/>
          </a:xfrm>
          <a:prstGeom xmlns:a="http://schemas.openxmlformats.org/drawingml/2006/main" prst="rect">
            <a:avLst/>
          </a:prstGeom>
          <a:solidFill xmlns:a="http://schemas.openxmlformats.org/drawingml/2006/main">
            <a:srgbClr val="3B82F6"/>
          </a:solidFill>
          <a:ln xmlns:a="http://schemas.openxmlformats.org/drawingml/2006/main" w="0">
            <a:solidFill>
              <a:srgbClr val="3B82F6"/>
            </a:solidFill>
            <a:prstDash val="solid"/>
          </a:ln>
        </p:spPr>
      </p:sp>
      <p:sp>
        <p:nvSpPr>
          <p:cNvPr id="33" name="">
            <a:extLst xmlns:a="http://schemas.openxmlformats.org/drawingml/2006/main">
              <a:ext uri="{FF2B5EF4-FFF2-40B4-BE49-F238E27FC236}">
                <a16:creationId xmlns:a16="http://schemas.microsoft.com/office/drawing/2014/main" id="{2E6A7375-CFE8-4D81-BFAC-1E3FF753C361}"/>
              </a:ext>
            </a:extLst>
          </p:cNvPr>
          <p:cNvSpPr>
            <a:spLocks xmlns:a="http://schemas.openxmlformats.org/drawingml/2006/main" noGrp="1"/>
          </p:cNvSpPr>
          <p:nvPr/>
        </p:nvSpPr>
        <p:spPr>
          <a:xfrm xmlns:a="http://schemas.openxmlformats.org/drawingml/2006/main">
            <a:off x="2933700" y="4819650"/>
            <a:ext cx="1317625"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3B82F6"/>
            </a:solidFill>
            <a:prstDash val="solid"/>
          </a:ln>
        </p:spPr>
      </p:sp>
      <p:sp>
        <p:nvSpPr>
          <p:cNvPr id="34" name="">
            <a:extLst xmlns:a="http://schemas.openxmlformats.org/drawingml/2006/main">
              <a:ext uri="{FF2B5EF4-FFF2-40B4-BE49-F238E27FC236}">
                <a16:creationId xmlns:a16="http://schemas.microsoft.com/office/drawing/2014/main" id="{A10403FA-1451-48C9-B2D4-963308B14ACD}"/>
              </a:ext>
            </a:extLst>
          </p:cNvPr>
          <p:cNvSpPr>
            <a:spLocks xmlns:a="http://schemas.openxmlformats.org/drawingml/2006/main" noGrp="1"/>
          </p:cNvSpPr>
          <p:nvPr/>
        </p:nvSpPr>
        <p:spPr>
          <a:xfrm xmlns:a="http://schemas.openxmlformats.org/drawingml/2006/main">
            <a:off x="3009900" y="4914900"/>
            <a:ext cx="1165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db2ai_db</a:t>
            </a:r>
          </a:p>
        </p:txBody>
      </p:sp>
      <p:sp>
        <p:nvSpPr>
          <p:cNvPr id="35" name="">
            <a:extLst xmlns:a="http://schemas.openxmlformats.org/drawingml/2006/main">
              <a:ext uri="{FF2B5EF4-FFF2-40B4-BE49-F238E27FC236}">
                <a16:creationId xmlns:a16="http://schemas.microsoft.com/office/drawing/2014/main" id="{60057132-AAF3-4A44-BF1D-DE17BC4225B3}"/>
              </a:ext>
            </a:extLst>
          </p:cNvPr>
          <p:cNvSpPr>
            <a:spLocks xmlns:a="http://schemas.openxmlformats.org/drawingml/2006/main" noGrp="1"/>
          </p:cNvSpPr>
          <p:nvPr/>
        </p:nvSpPr>
        <p:spPr>
          <a:xfrm xmlns:a="http://schemas.openxmlformats.org/drawingml/2006/main">
            <a:off x="4384675" y="4819650"/>
            <a:ext cx="1317625"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3B82F6"/>
            </a:solidFill>
            <a:prstDash val="solid"/>
          </a:ln>
        </p:spPr>
      </p:sp>
      <p:sp>
        <p:nvSpPr>
          <p:cNvPr id="36" name="">
            <a:extLst xmlns:a="http://schemas.openxmlformats.org/drawingml/2006/main">
              <a:ext uri="{FF2B5EF4-FFF2-40B4-BE49-F238E27FC236}">
                <a16:creationId xmlns:a16="http://schemas.microsoft.com/office/drawing/2014/main" id="{91D61F3F-C972-4BDD-9240-337751AC4372}"/>
              </a:ext>
            </a:extLst>
          </p:cNvPr>
          <p:cNvSpPr>
            <a:spLocks xmlns:a="http://schemas.openxmlformats.org/drawingml/2006/main" noGrp="1"/>
          </p:cNvSpPr>
          <p:nvPr/>
        </p:nvSpPr>
        <p:spPr>
          <a:xfrm xmlns:a="http://schemas.openxmlformats.org/drawingml/2006/main">
            <a:off x="4460875" y="4914900"/>
            <a:ext cx="1165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db2ai_models</a:t>
            </a:r>
          </a:p>
        </p:txBody>
      </p:sp>
      <p:sp>
        <p:nvSpPr>
          <p:cNvPr id="37" name="">
            <a:extLst xmlns:a="http://schemas.openxmlformats.org/drawingml/2006/main">
              <a:ext uri="{FF2B5EF4-FFF2-40B4-BE49-F238E27FC236}">
                <a16:creationId xmlns:a16="http://schemas.microsoft.com/office/drawing/2014/main" id="{2FC40F2B-C79A-4488-A0F7-EADC4B55BB5F}"/>
              </a:ext>
            </a:extLst>
          </p:cNvPr>
          <p:cNvSpPr>
            <a:spLocks xmlns:a="http://schemas.openxmlformats.org/drawingml/2006/main" noGrp="1"/>
          </p:cNvSpPr>
          <p:nvPr/>
        </p:nvSpPr>
        <p:spPr>
          <a:xfrm xmlns:a="http://schemas.openxmlformats.org/drawingml/2006/main">
            <a:off x="5835650" y="4819650"/>
            <a:ext cx="1317625"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3B82F6"/>
            </a:solidFill>
            <a:prstDash val="solid"/>
          </a:ln>
        </p:spPr>
      </p:sp>
      <p:sp>
        <p:nvSpPr>
          <p:cNvPr id="38" name="">
            <a:extLst xmlns:a="http://schemas.openxmlformats.org/drawingml/2006/main">
              <a:ext uri="{FF2B5EF4-FFF2-40B4-BE49-F238E27FC236}">
                <a16:creationId xmlns:a16="http://schemas.microsoft.com/office/drawing/2014/main" id="{2691631D-B3A5-42DD-A056-927AADDA008A}"/>
              </a:ext>
            </a:extLst>
          </p:cNvPr>
          <p:cNvSpPr>
            <a:spLocks xmlns:a="http://schemas.openxmlformats.org/drawingml/2006/main" noGrp="1"/>
          </p:cNvSpPr>
          <p:nvPr/>
        </p:nvSpPr>
        <p:spPr>
          <a:xfrm xmlns:a="http://schemas.openxmlformats.org/drawingml/2006/main">
            <a:off x="5911850" y="4914900"/>
            <a:ext cx="1165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db2ai_utils</a:t>
            </a:r>
          </a:p>
        </p:txBody>
      </p:sp>
      <p:sp>
        <p:nvSpPr>
          <p:cNvPr id="39" name="">
            <a:extLst xmlns:a="http://schemas.openxmlformats.org/drawingml/2006/main">
              <a:ext uri="{FF2B5EF4-FFF2-40B4-BE49-F238E27FC236}">
                <a16:creationId xmlns:a16="http://schemas.microsoft.com/office/drawing/2014/main" id="{935E19FE-5F80-420A-B977-A234FBBE5855}"/>
              </a:ext>
            </a:extLst>
          </p:cNvPr>
          <p:cNvSpPr>
            <a:spLocks xmlns:a="http://schemas.openxmlformats.org/drawingml/2006/main" noGrp="1"/>
          </p:cNvSpPr>
          <p:nvPr/>
        </p:nvSpPr>
        <p:spPr>
          <a:xfrm xmlns:a="http://schemas.openxmlformats.org/drawingml/2006/main">
            <a:off x="7286625" y="4819650"/>
            <a:ext cx="1317625"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3B82F6"/>
            </a:solidFill>
            <a:prstDash val="solid"/>
          </a:ln>
        </p:spPr>
      </p:sp>
      <p:sp>
        <p:nvSpPr>
          <p:cNvPr id="40" name="">
            <a:extLst xmlns:a="http://schemas.openxmlformats.org/drawingml/2006/main">
              <a:ext uri="{FF2B5EF4-FFF2-40B4-BE49-F238E27FC236}">
                <a16:creationId xmlns:a16="http://schemas.microsoft.com/office/drawing/2014/main" id="{C3F92337-B188-4218-88EC-9C6100DD1679}"/>
              </a:ext>
            </a:extLst>
          </p:cNvPr>
          <p:cNvSpPr>
            <a:spLocks xmlns:a="http://schemas.openxmlformats.org/drawingml/2006/main" noGrp="1"/>
          </p:cNvSpPr>
          <p:nvPr/>
        </p:nvSpPr>
        <p:spPr>
          <a:xfrm xmlns:a="http://schemas.openxmlformats.org/drawingml/2006/main">
            <a:off x="7362825" y="4914900"/>
            <a:ext cx="1165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db2ai_config</a:t>
            </a:r>
          </a:p>
        </p:txBody>
      </p:sp>
      <p:sp>
        <p:nvSpPr>
          <p:cNvPr id="41" name="">
            <a:extLst xmlns:a="http://schemas.openxmlformats.org/drawingml/2006/main">
              <a:ext uri="{FF2B5EF4-FFF2-40B4-BE49-F238E27FC236}">
                <a16:creationId xmlns:a16="http://schemas.microsoft.com/office/drawing/2014/main" id="{122E5234-9943-4353-A017-77AF58C2AE30}"/>
              </a:ext>
            </a:extLst>
          </p:cNvPr>
          <p:cNvSpPr>
            <a:spLocks xmlns:a="http://schemas.openxmlformats.org/drawingml/2006/main" noGrp="1"/>
          </p:cNvSpPr>
          <p:nvPr/>
        </p:nvSpPr>
        <p:spPr>
          <a:xfrm xmlns:a="http://schemas.openxmlformats.org/drawingml/2006/main">
            <a:off x="8737600" y="4819650"/>
            <a:ext cx="1317625"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3B82F6"/>
            </a:solidFill>
            <a:prstDash val="solid"/>
          </a:ln>
        </p:spPr>
      </p:sp>
      <p:sp>
        <p:nvSpPr>
          <p:cNvPr id="42" name="">
            <a:extLst xmlns:a="http://schemas.openxmlformats.org/drawingml/2006/main">
              <a:ext uri="{FF2B5EF4-FFF2-40B4-BE49-F238E27FC236}">
                <a16:creationId xmlns:a16="http://schemas.microsoft.com/office/drawing/2014/main" id="{D572F075-7CE6-41FD-BA0D-09509E954AA0}"/>
              </a:ext>
            </a:extLst>
          </p:cNvPr>
          <p:cNvSpPr>
            <a:spLocks xmlns:a="http://schemas.openxmlformats.org/drawingml/2006/main" noGrp="1"/>
          </p:cNvSpPr>
          <p:nvPr/>
        </p:nvSpPr>
        <p:spPr>
          <a:xfrm xmlns:a="http://schemas.openxmlformats.org/drawingml/2006/main">
            <a:off x="8813800" y="4914900"/>
            <a:ext cx="1165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db2ai_memory</a:t>
            </a:r>
          </a:p>
        </p:txBody>
      </p:sp>
      <p:sp>
        <p:nvSpPr>
          <p:cNvPr id="43" name="">
            <a:extLst xmlns:a="http://schemas.openxmlformats.org/drawingml/2006/main">
              <a:ext uri="{FF2B5EF4-FFF2-40B4-BE49-F238E27FC236}">
                <a16:creationId xmlns:a16="http://schemas.microsoft.com/office/drawing/2014/main" id="{9C729AB0-6258-4AF2-ACC0-B05E832FB89F}"/>
              </a:ext>
            </a:extLst>
          </p:cNvPr>
          <p:cNvSpPr>
            <a:spLocks xmlns:a="http://schemas.openxmlformats.org/drawingml/2006/main" noGrp="1"/>
          </p:cNvSpPr>
          <p:nvPr/>
        </p:nvSpPr>
        <p:spPr>
          <a:xfrm xmlns:a="http://schemas.openxmlformats.org/drawingml/2006/main">
            <a:off x="10188575" y="4819650"/>
            <a:ext cx="1317625" cy="647700"/>
          </a:xfrm>
          <a:prstGeom xmlns:a="http://schemas.openxmlformats.org/drawingml/2006/main" prst="roundRect">
            <a:avLst>
              <a:gd name="adj" fmla="val 17647"/>
            </a:avLst>
          </a:prstGeom>
          <a:solidFill xmlns:a="http://schemas.openxmlformats.org/drawingml/2006/main">
            <a:srgbClr val="102A43"/>
          </a:solidFill>
          <a:ln xmlns:a="http://schemas.openxmlformats.org/drawingml/2006/main" w="9525">
            <a:solidFill>
              <a:srgbClr val="3B82F6"/>
            </a:solidFill>
            <a:prstDash val="solid"/>
          </a:ln>
        </p:spPr>
      </p:sp>
      <p:sp>
        <p:nvSpPr>
          <p:cNvPr id="44" name="">
            <a:extLst xmlns:a="http://schemas.openxmlformats.org/drawingml/2006/main">
              <a:ext uri="{FF2B5EF4-FFF2-40B4-BE49-F238E27FC236}">
                <a16:creationId xmlns:a16="http://schemas.microsoft.com/office/drawing/2014/main" id="{C66A749E-404F-4B58-A73D-6F8D9B0A205B}"/>
              </a:ext>
            </a:extLst>
          </p:cNvPr>
          <p:cNvSpPr>
            <a:spLocks xmlns:a="http://schemas.openxmlformats.org/drawingml/2006/main" noGrp="1"/>
          </p:cNvSpPr>
          <p:nvPr/>
        </p:nvSpPr>
        <p:spPr>
          <a:xfrm xmlns:a="http://schemas.openxmlformats.org/drawingml/2006/main">
            <a:off x="10264775" y="4914900"/>
            <a:ext cx="11652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5FAFF"/>
                </a:solidFill>
              </a:defRPr>
            </a:pPr>
            <a:r>
              <a:rPr sz="975" b="1">
                <a:solidFill>
                  <a:srgbClr val="F5FAFF"/>
                </a:solidFill>
              </a:rPr>
              <a:t>db2ai_exporter</a:t>
            </a:r>
          </a:p>
        </p:txBody>
      </p:sp>
      <p:sp>
        <p:nvSpPr>
          <p:cNvPr id="45" name="">
            <a:extLst xmlns:a="http://schemas.openxmlformats.org/drawingml/2006/main">
              <a:ext uri="{FF2B5EF4-FFF2-40B4-BE49-F238E27FC236}">
                <a16:creationId xmlns:a16="http://schemas.microsoft.com/office/drawing/2014/main" id="{E077B841-41D4-4B36-A616-0FF142B05EC7}"/>
              </a:ext>
            </a:extLst>
          </p:cNvPr>
          <p:cNvSpPr>
            <a:spLocks xmlns:a="http://schemas.openxmlformats.org/drawingml/2006/main" noGrp="1"/>
          </p:cNvSpPr>
          <p:nvPr/>
        </p:nvSpPr>
        <p:spPr>
          <a:xfrm xmlns:a="http://schemas.openxmlformats.org/drawingml/2006/main">
            <a:off x="685800" y="6000750"/>
            <a:ext cx="10820400" cy="323850"/>
          </a:xfrm>
          <a:prstGeom xmlns:a="http://schemas.openxmlformats.org/drawingml/2006/main" prst="roundRect">
            <a:avLst>
              <a:gd name="adj" fmla="val 35294"/>
            </a:avLst>
          </a:prstGeom>
          <a:solidFill xmlns:a="http://schemas.openxmlformats.org/drawingml/2006/main">
            <a:srgbClr val="06111E"/>
          </a:solidFill>
          <a:ln xmlns:a="http://schemas.openxmlformats.org/drawingml/2006/main" w="9525">
            <a:solidFill>
              <a:srgbClr val="1D405A"/>
            </a:solidFill>
            <a:prstDash val="solid"/>
          </a:ln>
        </p:spPr>
      </p:sp>
      <p:sp>
        <p:nvSpPr>
          <p:cNvPr id="46" name="">
            <a:extLst xmlns:a="http://schemas.openxmlformats.org/drawingml/2006/main">
              <a:ext uri="{FF2B5EF4-FFF2-40B4-BE49-F238E27FC236}">
                <a16:creationId xmlns:a16="http://schemas.microsoft.com/office/drawing/2014/main" id="{A26865D0-A2D5-45EB-8666-8103449D47ED}"/>
              </a:ext>
            </a:extLst>
          </p:cNvPr>
          <p:cNvSpPr>
            <a:spLocks xmlns:a="http://schemas.openxmlformats.org/drawingml/2006/main" noGrp="1"/>
          </p:cNvSpPr>
          <p:nvPr/>
        </p:nvSpPr>
        <p:spPr>
          <a:xfrm xmlns:a="http://schemas.openxmlformats.org/drawingml/2006/main">
            <a:off x="876300" y="6038850"/>
            <a:ext cx="1043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a:solidFill>
                  <a:srgbClr val="91A7BA"/>
                </a:solidFill>
              </a:defRPr>
            </a:pPr>
            <a:r>
              <a:rPr sz="1050" b="0">
                <a:solidFill>
                  <a:srgbClr val="91A7BA"/>
                </a:solidFill>
              </a:rPr>
              <a:t>Documented current architecture: 15 modules | Source listings supplied in this package: 12</a:t>
            </a:r>
          </a:p>
        </p:txBody>
      </p:sp>
    </p:spTree>
    <p:extLst>
      <p:ext uri="{BB962C8B-B14F-4D97-AF65-F5344CB8AC3E}">
        <p14:creationId xmlns:p14="http://schemas.microsoft.com/office/powerpoint/2010/main" val="345372616"/>
      </p:ext>
    </p:extLst>
  </p:cSld>
</p:sld>
</file>

<file path=ppt/slides/slide14.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8685F21-ABE4-48D9-9D06-FF81344D188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4297FA83-8CCE-4DB2-B08B-17771FB971D5}"/>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TECHNOLOGY STACK</a:t>
            </a:r>
          </a:p>
        </p:txBody>
      </p:sp>
      <p:sp>
        <p:nvSpPr>
          <p:cNvPr id="3" name="slide-title">
            <a:extLst xmlns:a="http://schemas.openxmlformats.org/drawingml/2006/main">
              <a:ext uri="{FF2B5EF4-FFF2-40B4-BE49-F238E27FC236}">
                <a16:creationId xmlns:a16="http://schemas.microsoft.com/office/drawing/2014/main" id="{4C826D67-53D9-493A-BA66-DD12C266DFD0}"/>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Deterministic control anchors the enterprise stack</a:t>
            </a:r>
          </a:p>
        </p:txBody>
      </p:sp>
      <p:sp>
        <p:nvSpPr>
          <p:cNvPr id="4" name="">
            <a:extLst xmlns:a="http://schemas.openxmlformats.org/drawingml/2006/main">
              <a:ext uri="{FF2B5EF4-FFF2-40B4-BE49-F238E27FC236}">
                <a16:creationId xmlns:a16="http://schemas.microsoft.com/office/drawing/2014/main" id="{FA7C10C3-1443-46A8-BB4F-81C6F02CD56D}"/>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73FFCD19-AD91-4767-BDB5-FAED9769C13D}"/>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E1A4C91E-8888-4C7C-8E50-29AE090E848B}"/>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14</a:t>
            </a:r>
          </a:p>
        </p:txBody>
      </p:sp>
      <p:sp>
        <p:nvSpPr>
          <p:cNvPr id="7" name="">
            <a:extLst xmlns:a="http://schemas.openxmlformats.org/drawingml/2006/main">
              <a:ext uri="{FF2B5EF4-FFF2-40B4-BE49-F238E27FC236}">
                <a16:creationId xmlns:a16="http://schemas.microsoft.com/office/drawing/2014/main" id="{12598BE4-DC00-4153-A4A4-CD30B2AFC11D}"/>
              </a:ext>
            </a:extLst>
          </p:cNvPr>
          <p:cNvSpPr>
            <a:spLocks xmlns:a="http://schemas.openxmlformats.org/drawingml/2006/main" noGrp="1"/>
          </p:cNvSpPr>
          <p:nvPr/>
        </p:nvSpPr>
        <p:spPr>
          <a:xfrm xmlns:a="http://schemas.openxmlformats.org/drawingml/2006/main">
            <a:off x="685800" y="14287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40D9FF"/>
                </a:solidFill>
              </a:defRPr>
            </a:pPr>
            <a:r>
              <a:rPr sz="1050" b="1">
                <a:solidFill>
                  <a:srgbClr val="40D9FF"/>
                </a:solidFill>
              </a:rPr>
              <a:t>LAYER</a:t>
            </a:r>
          </a:p>
        </p:txBody>
      </p:sp>
      <p:sp>
        <p:nvSpPr>
          <p:cNvPr id="8" name="">
            <a:extLst xmlns:a="http://schemas.openxmlformats.org/drawingml/2006/main">
              <a:ext uri="{FF2B5EF4-FFF2-40B4-BE49-F238E27FC236}">
                <a16:creationId xmlns:a16="http://schemas.microsoft.com/office/drawing/2014/main" id="{EF3D68AC-DA7A-4F10-964E-6A2515B1A601}"/>
              </a:ext>
            </a:extLst>
          </p:cNvPr>
          <p:cNvSpPr>
            <a:spLocks xmlns:a="http://schemas.openxmlformats.org/drawingml/2006/main" noGrp="1"/>
          </p:cNvSpPr>
          <p:nvPr/>
        </p:nvSpPr>
        <p:spPr>
          <a:xfrm xmlns:a="http://schemas.openxmlformats.org/drawingml/2006/main">
            <a:off x="2857500" y="142875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40D9FF"/>
                </a:solidFill>
              </a:defRPr>
            </a:pPr>
            <a:r>
              <a:rPr sz="1050" b="1">
                <a:solidFill>
                  <a:srgbClr val="40D9FF"/>
                </a:solidFill>
              </a:rPr>
              <a:t>TECHNOLOGY</a:t>
            </a:r>
          </a:p>
        </p:txBody>
      </p:sp>
      <p:sp>
        <p:nvSpPr>
          <p:cNvPr id="9" name="">
            <a:extLst xmlns:a="http://schemas.openxmlformats.org/drawingml/2006/main">
              <a:ext uri="{FF2B5EF4-FFF2-40B4-BE49-F238E27FC236}">
                <a16:creationId xmlns:a16="http://schemas.microsoft.com/office/drawing/2014/main" id="{C584A716-E45F-4715-B178-BD4914468BC9}"/>
              </a:ext>
            </a:extLst>
          </p:cNvPr>
          <p:cNvSpPr>
            <a:spLocks xmlns:a="http://schemas.openxmlformats.org/drawingml/2006/main" noGrp="1"/>
          </p:cNvSpPr>
          <p:nvPr/>
        </p:nvSpPr>
        <p:spPr>
          <a:xfrm xmlns:a="http://schemas.openxmlformats.org/drawingml/2006/main">
            <a:off x="6858000" y="1428750"/>
            <a:ext cx="4648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050" b="1">
                <a:solidFill>
                  <a:srgbClr val="40D9FF"/>
                </a:solidFill>
              </a:defRPr>
            </a:pPr>
            <a:r>
              <a:rPr sz="1050" b="1">
                <a:solidFill>
                  <a:srgbClr val="40D9FF"/>
                </a:solidFill>
              </a:rPr>
              <a:t>WHY IT IS USED</a:t>
            </a:r>
          </a:p>
        </p:txBody>
      </p:sp>
      <p:sp>
        <p:nvSpPr>
          <p:cNvPr id="10" name="">
            <a:extLst xmlns:a="http://schemas.openxmlformats.org/drawingml/2006/main">
              <a:ext uri="{FF2B5EF4-FFF2-40B4-BE49-F238E27FC236}">
                <a16:creationId xmlns:a16="http://schemas.microsoft.com/office/drawing/2014/main" id="{4DA12080-8EC9-4D30-B808-1A42BFF1257D}"/>
              </a:ext>
            </a:extLst>
          </p:cNvPr>
          <p:cNvSpPr>
            <a:spLocks xmlns:a="http://schemas.openxmlformats.org/drawingml/2006/main" noGrp="1"/>
          </p:cNvSpPr>
          <p:nvPr/>
        </p:nvSpPr>
        <p:spPr>
          <a:xfrm xmlns:a="http://schemas.openxmlformats.org/drawingml/2006/main">
            <a:off x="685800" y="17145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11" name="">
            <a:extLst xmlns:a="http://schemas.openxmlformats.org/drawingml/2006/main">
              <a:ext uri="{FF2B5EF4-FFF2-40B4-BE49-F238E27FC236}">
                <a16:creationId xmlns:a16="http://schemas.microsoft.com/office/drawing/2014/main" id="{DA5CCDCA-9EA4-40D4-A439-731CBB5B96D8}"/>
              </a:ext>
            </a:extLst>
          </p:cNvPr>
          <p:cNvSpPr>
            <a:spLocks xmlns:a="http://schemas.openxmlformats.org/drawingml/2006/main" noGrp="1"/>
          </p:cNvSpPr>
          <p:nvPr/>
        </p:nvSpPr>
        <p:spPr>
          <a:xfrm xmlns:a="http://schemas.openxmlformats.org/drawingml/2006/main">
            <a:off x="685800" y="1790700"/>
            <a:ext cx="10820400" cy="476250"/>
          </a:xfrm>
          <a:prstGeom xmlns:a="http://schemas.openxmlformats.org/drawingml/2006/main" prst="roundRect">
            <a:avLst>
              <a:gd name="adj" fmla="val 24000"/>
            </a:avLst>
          </a:prstGeom>
          <a:solidFill xmlns:a="http://schemas.openxmlformats.org/drawingml/2006/main">
            <a:srgbClr val="102A43"/>
          </a:solidFill>
          <a:ln xmlns:a="http://schemas.openxmlformats.org/drawingml/2006/main" w="9525">
            <a:solidFill>
              <a:srgbClr val="102A43"/>
            </a:solidFill>
            <a:prstDash val="solid"/>
          </a:ln>
        </p:spPr>
      </p:sp>
      <p:sp>
        <p:nvSpPr>
          <p:cNvPr id="12" name="">
            <a:extLst xmlns:a="http://schemas.openxmlformats.org/drawingml/2006/main">
              <a:ext uri="{FF2B5EF4-FFF2-40B4-BE49-F238E27FC236}">
                <a16:creationId xmlns:a16="http://schemas.microsoft.com/office/drawing/2014/main" id="{11BB5872-173D-4218-AE1C-CC64FDEAE117}"/>
              </a:ext>
            </a:extLst>
          </p:cNvPr>
          <p:cNvSpPr>
            <a:spLocks xmlns:a="http://schemas.openxmlformats.org/drawingml/2006/main" noGrp="1"/>
          </p:cNvSpPr>
          <p:nvPr/>
        </p:nvSpPr>
        <p:spPr>
          <a:xfrm xmlns:a="http://schemas.openxmlformats.org/drawingml/2006/main">
            <a:off x="781050" y="1838325"/>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Runtime &amp; UI</a:t>
            </a:r>
          </a:p>
        </p:txBody>
      </p:sp>
      <p:sp>
        <p:nvSpPr>
          <p:cNvPr id="13" name="">
            <a:extLst xmlns:a="http://schemas.openxmlformats.org/drawingml/2006/main">
              <a:ext uri="{FF2B5EF4-FFF2-40B4-BE49-F238E27FC236}">
                <a16:creationId xmlns:a16="http://schemas.microsoft.com/office/drawing/2014/main" id="{3B4FC68D-D41C-43B2-89C4-D416449BD9AB}"/>
              </a:ext>
            </a:extLst>
          </p:cNvPr>
          <p:cNvSpPr>
            <a:spLocks xmlns:a="http://schemas.openxmlformats.org/drawingml/2006/main" noGrp="1"/>
          </p:cNvSpPr>
          <p:nvPr/>
        </p:nvSpPr>
        <p:spPr>
          <a:xfrm xmlns:a="http://schemas.openxmlformats.org/drawingml/2006/main">
            <a:off x="2952750" y="18383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Python; Rich; input() or prompt_toolkit</a:t>
            </a:r>
          </a:p>
        </p:txBody>
      </p:sp>
      <p:sp>
        <p:nvSpPr>
          <p:cNvPr id="14" name="">
            <a:extLst xmlns:a="http://schemas.openxmlformats.org/drawingml/2006/main">
              <a:ext uri="{FF2B5EF4-FFF2-40B4-BE49-F238E27FC236}">
                <a16:creationId xmlns:a16="http://schemas.microsoft.com/office/drawing/2014/main" id="{4FF6B4AE-741D-4788-979E-633A751466F1}"/>
              </a:ext>
            </a:extLst>
          </p:cNvPr>
          <p:cNvSpPr>
            <a:spLocks xmlns:a="http://schemas.openxmlformats.org/drawingml/2006/main" noGrp="1"/>
          </p:cNvSpPr>
          <p:nvPr/>
        </p:nvSpPr>
        <p:spPr>
          <a:xfrm xmlns:a="http://schemas.openxmlformats.org/drawingml/2006/main">
            <a:off x="6953250" y="1838325"/>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Modular CLI, readable evidence and paste-safe interaction</a:t>
            </a:r>
          </a:p>
        </p:txBody>
      </p:sp>
      <p:sp>
        <p:nvSpPr>
          <p:cNvPr id="15" name="">
            <a:extLst xmlns:a="http://schemas.openxmlformats.org/drawingml/2006/main">
              <a:ext uri="{FF2B5EF4-FFF2-40B4-BE49-F238E27FC236}">
                <a16:creationId xmlns:a16="http://schemas.microsoft.com/office/drawing/2014/main" id="{29677C61-3519-4A78-B934-E7AA47CF2AB9}"/>
              </a:ext>
            </a:extLst>
          </p:cNvPr>
          <p:cNvSpPr>
            <a:spLocks xmlns:a="http://schemas.openxmlformats.org/drawingml/2006/main" noGrp="1"/>
          </p:cNvSpPr>
          <p:nvPr/>
        </p:nvSpPr>
        <p:spPr>
          <a:xfrm xmlns:a="http://schemas.openxmlformats.org/drawingml/2006/main">
            <a:off x="781050" y="23812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Db2 access</a:t>
            </a:r>
          </a:p>
        </p:txBody>
      </p:sp>
      <p:sp>
        <p:nvSpPr>
          <p:cNvPr id="16" name="">
            <a:extLst xmlns:a="http://schemas.openxmlformats.org/drawingml/2006/main">
              <a:ext uri="{FF2B5EF4-FFF2-40B4-BE49-F238E27FC236}">
                <a16:creationId xmlns:a16="http://schemas.microsoft.com/office/drawing/2014/main" id="{D3565E10-6BE9-4675-A1F5-15B25DEF080A}"/>
              </a:ext>
            </a:extLst>
          </p:cNvPr>
          <p:cNvSpPr>
            <a:spLocks xmlns:a="http://schemas.openxmlformats.org/drawingml/2006/main" noGrp="1"/>
          </p:cNvSpPr>
          <p:nvPr/>
        </p:nvSpPr>
        <p:spPr>
          <a:xfrm xmlns:a="http://schemas.openxmlformats.org/drawingml/2006/main">
            <a:off x="2952750" y="23812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pypyodbc; ODBC</a:t>
            </a:r>
          </a:p>
        </p:txBody>
      </p:sp>
      <p:sp>
        <p:nvSpPr>
          <p:cNvPr id="17" name="">
            <a:extLst xmlns:a="http://schemas.openxmlformats.org/drawingml/2006/main">
              <a:ext uri="{FF2B5EF4-FFF2-40B4-BE49-F238E27FC236}">
                <a16:creationId xmlns:a16="http://schemas.microsoft.com/office/drawing/2014/main" id="{C3863394-E29B-467E-81E9-580305EF4729}"/>
              </a:ext>
            </a:extLst>
          </p:cNvPr>
          <p:cNvSpPr>
            <a:spLocks xmlns:a="http://schemas.openxmlformats.org/drawingml/2006/main" noGrp="1"/>
          </p:cNvSpPr>
          <p:nvPr/>
        </p:nvSpPr>
        <p:spPr>
          <a:xfrm xmlns:a="http://schemas.openxmlformats.org/drawingml/2006/main">
            <a:off x="6953250" y="2381250"/>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Controlled connection to Db2 for z/OS through &lt;DB2_DSN&gt;</a:t>
            </a:r>
          </a:p>
        </p:txBody>
      </p:sp>
      <p:sp>
        <p:nvSpPr>
          <p:cNvPr id="18" name="">
            <a:extLst xmlns:a="http://schemas.openxmlformats.org/drawingml/2006/main">
              <a:ext uri="{FF2B5EF4-FFF2-40B4-BE49-F238E27FC236}">
                <a16:creationId xmlns:a16="http://schemas.microsoft.com/office/drawing/2014/main" id="{9852D235-7F6F-4A1B-A490-FE8920F92721}"/>
              </a:ext>
            </a:extLst>
          </p:cNvPr>
          <p:cNvSpPr>
            <a:spLocks xmlns:a="http://schemas.openxmlformats.org/drawingml/2006/main" noGrp="1"/>
          </p:cNvSpPr>
          <p:nvPr/>
        </p:nvSpPr>
        <p:spPr>
          <a:xfrm xmlns:a="http://schemas.openxmlformats.org/drawingml/2006/main">
            <a:off x="685800" y="2876550"/>
            <a:ext cx="10820400" cy="476250"/>
          </a:xfrm>
          <a:prstGeom xmlns:a="http://schemas.openxmlformats.org/drawingml/2006/main" prst="roundRect">
            <a:avLst>
              <a:gd name="adj" fmla="val 24000"/>
            </a:avLst>
          </a:prstGeom>
          <a:solidFill xmlns:a="http://schemas.openxmlformats.org/drawingml/2006/main">
            <a:srgbClr val="102A43"/>
          </a:solidFill>
          <a:ln xmlns:a="http://schemas.openxmlformats.org/drawingml/2006/main" w="9525">
            <a:solidFill>
              <a:srgbClr val="102A43"/>
            </a:solidFill>
            <a:prstDash val="solid"/>
          </a:ln>
        </p:spPr>
      </p:sp>
      <p:sp>
        <p:nvSpPr>
          <p:cNvPr id="19" name="">
            <a:extLst xmlns:a="http://schemas.openxmlformats.org/drawingml/2006/main">
              <a:ext uri="{FF2B5EF4-FFF2-40B4-BE49-F238E27FC236}">
                <a16:creationId xmlns:a16="http://schemas.microsoft.com/office/drawing/2014/main" id="{4351AF7A-49D1-4842-AE34-293E3932559C}"/>
              </a:ext>
            </a:extLst>
          </p:cNvPr>
          <p:cNvSpPr>
            <a:spLocks xmlns:a="http://schemas.openxmlformats.org/drawingml/2006/main" noGrp="1"/>
          </p:cNvSpPr>
          <p:nvPr/>
        </p:nvSpPr>
        <p:spPr>
          <a:xfrm xmlns:a="http://schemas.openxmlformats.org/drawingml/2006/main">
            <a:off x="781050" y="2924175"/>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Validation</a:t>
            </a:r>
          </a:p>
        </p:txBody>
      </p:sp>
      <p:sp>
        <p:nvSpPr>
          <p:cNvPr id="20" name="">
            <a:extLst xmlns:a="http://schemas.openxmlformats.org/drawingml/2006/main">
              <a:ext uri="{FF2B5EF4-FFF2-40B4-BE49-F238E27FC236}">
                <a16:creationId xmlns:a16="http://schemas.microsoft.com/office/drawing/2014/main" id="{914E891D-9B14-4F7B-89D3-0E61CF5E4AB1}"/>
              </a:ext>
            </a:extLst>
          </p:cNvPr>
          <p:cNvSpPr>
            <a:spLocks xmlns:a="http://schemas.openxmlformats.org/drawingml/2006/main" noGrp="1"/>
          </p:cNvSpPr>
          <p:nvPr/>
        </p:nvSpPr>
        <p:spPr>
          <a:xfrm xmlns:a="http://schemas.openxmlformats.org/drawingml/2006/main">
            <a:off x="2952750" y="29241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Pydantic; dataclasses</a:t>
            </a:r>
          </a:p>
        </p:txBody>
      </p:sp>
      <p:sp>
        <p:nvSpPr>
          <p:cNvPr id="21" name="">
            <a:extLst xmlns:a="http://schemas.openxmlformats.org/drawingml/2006/main">
              <a:ext uri="{FF2B5EF4-FFF2-40B4-BE49-F238E27FC236}">
                <a16:creationId xmlns:a16="http://schemas.microsoft.com/office/drawing/2014/main" id="{B90FE16E-866B-433D-AE0E-1A49016089A3}"/>
              </a:ext>
            </a:extLst>
          </p:cNvPr>
          <p:cNvSpPr>
            <a:spLocks xmlns:a="http://schemas.openxmlformats.org/drawingml/2006/main" noGrp="1"/>
          </p:cNvSpPr>
          <p:nvPr/>
        </p:nvSpPr>
        <p:spPr>
          <a:xfrm xmlns:a="http://schemas.openxmlformats.org/drawingml/2006/main">
            <a:off x="6953250" y="2924175"/>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Strict tool inputs and typed context/result structures</a:t>
            </a:r>
          </a:p>
        </p:txBody>
      </p:sp>
      <p:sp>
        <p:nvSpPr>
          <p:cNvPr id="22" name="">
            <a:extLst xmlns:a="http://schemas.openxmlformats.org/drawingml/2006/main">
              <a:ext uri="{FF2B5EF4-FFF2-40B4-BE49-F238E27FC236}">
                <a16:creationId xmlns:a16="http://schemas.microsoft.com/office/drawing/2014/main" id="{F08E2622-DFCB-4E9A-B1E9-3DB96C83E18F}"/>
              </a:ext>
            </a:extLst>
          </p:cNvPr>
          <p:cNvSpPr>
            <a:spLocks xmlns:a="http://schemas.openxmlformats.org/drawingml/2006/main" noGrp="1"/>
          </p:cNvSpPr>
          <p:nvPr/>
        </p:nvSpPr>
        <p:spPr>
          <a:xfrm xmlns:a="http://schemas.openxmlformats.org/drawingml/2006/main">
            <a:off x="781050" y="346710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AI orchestration</a:t>
            </a:r>
          </a:p>
        </p:txBody>
      </p:sp>
      <p:sp>
        <p:nvSpPr>
          <p:cNvPr id="23" name="">
            <a:extLst xmlns:a="http://schemas.openxmlformats.org/drawingml/2006/main">
              <a:ext uri="{FF2B5EF4-FFF2-40B4-BE49-F238E27FC236}">
                <a16:creationId xmlns:a16="http://schemas.microsoft.com/office/drawing/2014/main" id="{020F5347-DF61-4970-A083-190F3FEC5155}"/>
              </a:ext>
            </a:extLst>
          </p:cNvPr>
          <p:cNvSpPr>
            <a:spLocks xmlns:a="http://schemas.openxmlformats.org/drawingml/2006/main" noGrp="1"/>
          </p:cNvSpPr>
          <p:nvPr/>
        </p:nvSpPr>
        <p:spPr>
          <a:xfrm xmlns:a="http://schemas.openxmlformats.org/drawingml/2006/main">
            <a:off x="2952750" y="34671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LangChain; native function calling; strict JSON route</a:t>
            </a:r>
          </a:p>
        </p:txBody>
      </p:sp>
      <p:sp>
        <p:nvSpPr>
          <p:cNvPr id="24" name="">
            <a:extLst xmlns:a="http://schemas.openxmlformats.org/drawingml/2006/main">
              <a:ext uri="{FF2B5EF4-FFF2-40B4-BE49-F238E27FC236}">
                <a16:creationId xmlns:a16="http://schemas.microsoft.com/office/drawing/2014/main" id="{2C23ACBE-5973-4B2C-B99E-9CE29708D467}"/>
              </a:ext>
            </a:extLst>
          </p:cNvPr>
          <p:cNvSpPr>
            <a:spLocks xmlns:a="http://schemas.openxmlformats.org/drawingml/2006/main" noGrp="1"/>
          </p:cNvSpPr>
          <p:nvPr/>
        </p:nvSpPr>
        <p:spPr>
          <a:xfrm xmlns:a="http://schemas.openxmlformats.org/drawingml/2006/main">
            <a:off x="6953250" y="3467100"/>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Intent selection from an approved tool catalog</a:t>
            </a:r>
          </a:p>
        </p:txBody>
      </p:sp>
      <p:sp>
        <p:nvSpPr>
          <p:cNvPr id="25" name="">
            <a:extLst xmlns:a="http://schemas.openxmlformats.org/drawingml/2006/main">
              <a:ext uri="{FF2B5EF4-FFF2-40B4-BE49-F238E27FC236}">
                <a16:creationId xmlns:a16="http://schemas.microsoft.com/office/drawing/2014/main" id="{6B549EAE-7E7B-49E8-8A45-572393D82BC2}"/>
              </a:ext>
            </a:extLst>
          </p:cNvPr>
          <p:cNvSpPr>
            <a:spLocks xmlns:a="http://schemas.openxmlformats.org/drawingml/2006/main" noGrp="1"/>
          </p:cNvSpPr>
          <p:nvPr/>
        </p:nvSpPr>
        <p:spPr>
          <a:xfrm xmlns:a="http://schemas.openxmlformats.org/drawingml/2006/main">
            <a:off x="685800" y="3962400"/>
            <a:ext cx="10820400" cy="476250"/>
          </a:xfrm>
          <a:prstGeom xmlns:a="http://schemas.openxmlformats.org/drawingml/2006/main" prst="roundRect">
            <a:avLst>
              <a:gd name="adj" fmla="val 24000"/>
            </a:avLst>
          </a:prstGeom>
          <a:solidFill xmlns:a="http://schemas.openxmlformats.org/drawingml/2006/main">
            <a:srgbClr val="102A43"/>
          </a:solidFill>
          <a:ln xmlns:a="http://schemas.openxmlformats.org/drawingml/2006/main" w="9525">
            <a:solidFill>
              <a:srgbClr val="102A43"/>
            </a:solidFill>
            <a:prstDash val="solid"/>
          </a:ln>
        </p:spPr>
      </p:sp>
      <p:sp>
        <p:nvSpPr>
          <p:cNvPr id="26" name="">
            <a:extLst xmlns:a="http://schemas.openxmlformats.org/drawingml/2006/main">
              <a:ext uri="{FF2B5EF4-FFF2-40B4-BE49-F238E27FC236}">
                <a16:creationId xmlns:a16="http://schemas.microsoft.com/office/drawing/2014/main" id="{635D9BAF-6A4E-4EA2-9689-9C95DADF7A37}"/>
              </a:ext>
            </a:extLst>
          </p:cNvPr>
          <p:cNvSpPr>
            <a:spLocks xmlns:a="http://schemas.openxmlformats.org/drawingml/2006/main" noGrp="1"/>
          </p:cNvSpPr>
          <p:nvPr/>
        </p:nvSpPr>
        <p:spPr>
          <a:xfrm xmlns:a="http://schemas.openxmlformats.org/drawingml/2006/main">
            <a:off x="781050" y="4010025"/>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Gateway client</a:t>
            </a:r>
          </a:p>
        </p:txBody>
      </p:sp>
      <p:sp>
        <p:nvSpPr>
          <p:cNvPr id="27" name="">
            <a:extLst xmlns:a="http://schemas.openxmlformats.org/drawingml/2006/main">
              <a:ext uri="{FF2B5EF4-FFF2-40B4-BE49-F238E27FC236}">
                <a16:creationId xmlns:a16="http://schemas.microsoft.com/office/drawing/2014/main" id="{7D85FA38-93F8-4D71-8DCD-53C7BB4C2832}"/>
              </a:ext>
            </a:extLst>
          </p:cNvPr>
          <p:cNvSpPr>
            <a:spLocks xmlns:a="http://schemas.openxmlformats.org/drawingml/2006/main" noGrp="1"/>
          </p:cNvSpPr>
          <p:nvPr/>
        </p:nvSpPr>
        <p:spPr>
          <a:xfrm xmlns:a="http://schemas.openxmlformats.org/drawingml/2006/main">
            <a:off x="2952750" y="401002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Azure/OpenAI-compatible &lt;LLM_GATEWAY&gt;; httpx</a:t>
            </a:r>
          </a:p>
        </p:txBody>
      </p:sp>
      <p:sp>
        <p:nvSpPr>
          <p:cNvPr id="28" name="">
            <a:extLst xmlns:a="http://schemas.openxmlformats.org/drawingml/2006/main">
              <a:ext uri="{FF2B5EF4-FFF2-40B4-BE49-F238E27FC236}">
                <a16:creationId xmlns:a16="http://schemas.microsoft.com/office/drawing/2014/main" id="{92FAB5DD-B85F-482E-A0E6-F79328809674}"/>
              </a:ext>
            </a:extLst>
          </p:cNvPr>
          <p:cNvSpPr>
            <a:spLocks xmlns:a="http://schemas.openxmlformats.org/drawingml/2006/main" noGrp="1"/>
          </p:cNvSpPr>
          <p:nvPr/>
        </p:nvSpPr>
        <p:spPr>
          <a:xfrm xmlns:a="http://schemas.openxmlformats.org/drawingml/2006/main">
            <a:off x="6953250" y="4010025"/>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Corporate LLM access with controlled HTTP/SSL behavior</a:t>
            </a:r>
          </a:p>
        </p:txBody>
      </p:sp>
      <p:sp>
        <p:nvSpPr>
          <p:cNvPr id="29" name="">
            <a:extLst xmlns:a="http://schemas.openxmlformats.org/drawingml/2006/main">
              <a:ext uri="{FF2B5EF4-FFF2-40B4-BE49-F238E27FC236}">
                <a16:creationId xmlns:a16="http://schemas.microsoft.com/office/drawing/2014/main" id="{DBE03C55-1FC1-40C6-A049-1DDF36A720AC}"/>
              </a:ext>
            </a:extLst>
          </p:cNvPr>
          <p:cNvSpPr>
            <a:spLocks xmlns:a="http://schemas.openxmlformats.org/drawingml/2006/main" noGrp="1"/>
          </p:cNvSpPr>
          <p:nvPr/>
        </p:nvSpPr>
        <p:spPr>
          <a:xfrm xmlns:a="http://schemas.openxmlformats.org/drawingml/2006/main">
            <a:off x="781050" y="455295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Deterministic knowledge</a:t>
            </a:r>
          </a:p>
        </p:txBody>
      </p:sp>
      <p:sp>
        <p:nvSpPr>
          <p:cNvPr id="30" name="">
            <a:extLst xmlns:a="http://schemas.openxmlformats.org/drawingml/2006/main">
              <a:ext uri="{FF2B5EF4-FFF2-40B4-BE49-F238E27FC236}">
                <a16:creationId xmlns:a16="http://schemas.microsoft.com/office/drawing/2014/main" id="{AB5AED48-C5D5-49FE-9290-E531A311ADB4}"/>
              </a:ext>
            </a:extLst>
          </p:cNvPr>
          <p:cNvSpPr>
            <a:spLocks xmlns:a="http://schemas.openxmlformats.org/drawingml/2006/main" noGrp="1"/>
          </p:cNvSpPr>
          <p:nvPr/>
        </p:nvSpPr>
        <p:spPr>
          <a:xfrm xmlns:a="http://schemas.openxmlformats.org/drawingml/2006/main">
            <a:off x="2952750" y="455295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Pure Python glossaries and text parser</a:t>
            </a:r>
          </a:p>
        </p:txBody>
      </p:sp>
      <p:sp>
        <p:nvSpPr>
          <p:cNvPr id="31" name="">
            <a:extLst xmlns:a="http://schemas.openxmlformats.org/drawingml/2006/main">
              <a:ext uri="{FF2B5EF4-FFF2-40B4-BE49-F238E27FC236}">
                <a16:creationId xmlns:a16="http://schemas.microsoft.com/office/drawing/2014/main" id="{2ECBD305-9FB3-4A4D-ACAD-0D580D58DBB5}"/>
              </a:ext>
            </a:extLst>
          </p:cNvPr>
          <p:cNvSpPr>
            <a:spLocks xmlns:a="http://schemas.openxmlformats.org/drawingml/2006/main" noGrp="1"/>
          </p:cNvSpPr>
          <p:nvPr/>
        </p:nvSpPr>
        <p:spPr>
          <a:xfrm xmlns:a="http://schemas.openxmlformats.org/drawingml/2006/main">
            <a:off x="6953250" y="4552950"/>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Explain metadata and DISPLAY status without SQL</a:t>
            </a:r>
          </a:p>
        </p:txBody>
      </p:sp>
      <p:sp>
        <p:nvSpPr>
          <p:cNvPr id="32" name="">
            <a:extLst xmlns:a="http://schemas.openxmlformats.org/drawingml/2006/main">
              <a:ext uri="{FF2B5EF4-FFF2-40B4-BE49-F238E27FC236}">
                <a16:creationId xmlns:a16="http://schemas.microsoft.com/office/drawing/2014/main" id="{75ACF6FD-5E58-421E-B1C2-62D711DC6805}"/>
              </a:ext>
            </a:extLst>
          </p:cNvPr>
          <p:cNvSpPr>
            <a:spLocks xmlns:a="http://schemas.openxmlformats.org/drawingml/2006/main" noGrp="1"/>
          </p:cNvSpPr>
          <p:nvPr/>
        </p:nvSpPr>
        <p:spPr>
          <a:xfrm xmlns:a="http://schemas.openxmlformats.org/drawingml/2006/main">
            <a:off x="685800" y="5048250"/>
            <a:ext cx="10820400" cy="476250"/>
          </a:xfrm>
          <a:prstGeom xmlns:a="http://schemas.openxmlformats.org/drawingml/2006/main" prst="roundRect">
            <a:avLst>
              <a:gd name="adj" fmla="val 24000"/>
            </a:avLst>
          </a:prstGeom>
          <a:solidFill xmlns:a="http://schemas.openxmlformats.org/drawingml/2006/main">
            <a:srgbClr val="102A43"/>
          </a:solidFill>
          <a:ln xmlns:a="http://schemas.openxmlformats.org/drawingml/2006/main" w="9525">
            <a:solidFill>
              <a:srgbClr val="102A43"/>
            </a:solidFill>
            <a:prstDash val="solid"/>
          </a:ln>
        </p:spPr>
      </p:sp>
      <p:sp>
        <p:nvSpPr>
          <p:cNvPr id="33" name="">
            <a:extLst xmlns:a="http://schemas.openxmlformats.org/drawingml/2006/main">
              <a:ext uri="{FF2B5EF4-FFF2-40B4-BE49-F238E27FC236}">
                <a16:creationId xmlns:a16="http://schemas.microsoft.com/office/drawing/2014/main" id="{AB25375D-E2B2-4676-BCC3-B60F4E40BE85}"/>
              </a:ext>
            </a:extLst>
          </p:cNvPr>
          <p:cNvSpPr>
            <a:spLocks xmlns:a="http://schemas.openxmlformats.org/drawingml/2006/main" noGrp="1"/>
          </p:cNvSpPr>
          <p:nvPr/>
        </p:nvSpPr>
        <p:spPr>
          <a:xfrm xmlns:a="http://schemas.openxmlformats.org/drawingml/2006/main">
            <a:off x="781050" y="5095875"/>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Evidence &amp; state</a:t>
            </a:r>
          </a:p>
        </p:txBody>
      </p:sp>
      <p:sp>
        <p:nvSpPr>
          <p:cNvPr id="34" name="">
            <a:extLst xmlns:a="http://schemas.openxmlformats.org/drawingml/2006/main">
              <a:ext uri="{FF2B5EF4-FFF2-40B4-BE49-F238E27FC236}">
                <a16:creationId xmlns:a16="http://schemas.microsoft.com/office/drawing/2014/main" id="{802A1E5F-A525-4980-B89D-0DCC8A83B313}"/>
              </a:ext>
            </a:extLst>
          </p:cNvPr>
          <p:cNvSpPr>
            <a:spLocks xmlns:a="http://schemas.openxmlformats.org/drawingml/2006/main" noGrp="1"/>
          </p:cNvSpPr>
          <p:nvPr/>
        </p:nvSpPr>
        <p:spPr>
          <a:xfrm xmlns:a="http://schemas.openxmlformats.org/drawingml/2006/main">
            <a:off x="2952750" y="5095875"/>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openpyxl; JSONL; JSON state</a:t>
            </a:r>
          </a:p>
        </p:txBody>
      </p:sp>
      <p:sp>
        <p:nvSpPr>
          <p:cNvPr id="35" name="">
            <a:extLst xmlns:a="http://schemas.openxmlformats.org/drawingml/2006/main">
              <a:ext uri="{FF2B5EF4-FFF2-40B4-BE49-F238E27FC236}">
                <a16:creationId xmlns:a16="http://schemas.microsoft.com/office/drawing/2014/main" id="{3711CBFA-DCAE-4795-A52F-D443A7D0414E}"/>
              </a:ext>
            </a:extLst>
          </p:cNvPr>
          <p:cNvSpPr>
            <a:spLocks xmlns:a="http://schemas.openxmlformats.org/drawingml/2006/main" noGrp="1"/>
          </p:cNvSpPr>
          <p:nvPr/>
        </p:nvSpPr>
        <p:spPr>
          <a:xfrm xmlns:a="http://schemas.openxmlformats.org/drawingml/2006/main">
            <a:off x="6953250" y="5095875"/>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Excel packs, audit trail and safe session context</a:t>
            </a:r>
          </a:p>
        </p:txBody>
      </p:sp>
      <p:sp>
        <p:nvSpPr>
          <p:cNvPr id="36" name="">
            <a:extLst xmlns:a="http://schemas.openxmlformats.org/drawingml/2006/main">
              <a:ext uri="{FF2B5EF4-FFF2-40B4-BE49-F238E27FC236}">
                <a16:creationId xmlns:a16="http://schemas.microsoft.com/office/drawing/2014/main" id="{F6F61261-D5D9-407D-AB6C-3397EF501623}"/>
              </a:ext>
            </a:extLst>
          </p:cNvPr>
          <p:cNvSpPr>
            <a:spLocks xmlns:a="http://schemas.openxmlformats.org/drawingml/2006/main" noGrp="1"/>
          </p:cNvSpPr>
          <p:nvPr/>
        </p:nvSpPr>
        <p:spPr>
          <a:xfrm xmlns:a="http://schemas.openxmlformats.org/drawingml/2006/main">
            <a:off x="781050" y="5638800"/>
            <a:ext cx="1943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F5FAFF"/>
                </a:solidFill>
              </a:defRPr>
            </a:pPr>
            <a:r>
              <a:rPr sz="1200" b="1">
                <a:solidFill>
                  <a:srgbClr val="F5FAFF"/>
                </a:solidFill>
              </a:rPr>
              <a:t>Configuration</a:t>
            </a:r>
          </a:p>
        </p:txBody>
      </p:sp>
      <p:sp>
        <p:nvSpPr>
          <p:cNvPr id="37" name="">
            <a:extLst xmlns:a="http://schemas.openxmlformats.org/drawingml/2006/main">
              <a:ext uri="{FF2B5EF4-FFF2-40B4-BE49-F238E27FC236}">
                <a16:creationId xmlns:a16="http://schemas.microsoft.com/office/drawing/2014/main" id="{E443865F-B82B-4B8D-B256-3FFAA80DECFC}"/>
              </a:ext>
            </a:extLst>
          </p:cNvPr>
          <p:cNvSpPr>
            <a:spLocks xmlns:a="http://schemas.openxmlformats.org/drawingml/2006/main" noGrp="1"/>
          </p:cNvSpPr>
          <p:nvPr/>
        </p:nvSpPr>
        <p:spPr>
          <a:xfrm xmlns:a="http://schemas.openxmlformats.org/drawingml/2006/main">
            <a:off x="2952750" y="56388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D9E7F4"/>
                </a:solidFill>
              </a:defRPr>
            </a:pPr>
            <a:r>
              <a:rPr sz="1125" b="0">
                <a:solidFill>
                  <a:srgbClr val="D9E7F4"/>
                </a:solidFill>
              </a:rPr>
              <a:t>.env; python-dotenv</a:t>
            </a:r>
          </a:p>
        </p:txBody>
      </p:sp>
      <p:sp>
        <p:nvSpPr>
          <p:cNvPr id="38" name="">
            <a:extLst xmlns:a="http://schemas.openxmlformats.org/drawingml/2006/main">
              <a:ext uri="{FF2B5EF4-FFF2-40B4-BE49-F238E27FC236}">
                <a16:creationId xmlns:a16="http://schemas.microsoft.com/office/drawing/2014/main" id="{0F7B91D0-DF90-411C-957A-CFD0253F754A}"/>
              </a:ext>
            </a:extLst>
          </p:cNvPr>
          <p:cNvSpPr>
            <a:spLocks xmlns:a="http://schemas.openxmlformats.org/drawingml/2006/main" noGrp="1"/>
          </p:cNvSpPr>
          <p:nvPr/>
        </p:nvSpPr>
        <p:spPr>
          <a:xfrm xmlns:a="http://schemas.openxmlformats.org/drawingml/2006/main">
            <a:off x="6953250" y="5638800"/>
            <a:ext cx="4457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Externalized non-secret operational settings</a:t>
            </a:r>
          </a:p>
        </p:txBody>
      </p:sp>
    </p:spTree>
    <p:extLst>
      <p:ext uri="{BB962C8B-B14F-4D97-AF65-F5344CB8AC3E}">
        <p14:creationId xmlns:p14="http://schemas.microsoft.com/office/powerpoint/2010/main" val="415925651"/>
      </p:ext>
    </p:extLst>
  </p:cSld>
</p:sld>
</file>

<file path=ppt/slides/slide15.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4B5934C-31B1-4AFB-B3AE-1A34BF81330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19AB2342-39A3-4D55-9570-F9C7082DDAE6}"/>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EVIDENCE AND VALIDATION</a:t>
            </a:r>
          </a:p>
        </p:txBody>
      </p:sp>
      <p:sp>
        <p:nvSpPr>
          <p:cNvPr id="3" name="slide-title">
            <a:extLst xmlns:a="http://schemas.openxmlformats.org/drawingml/2006/main">
              <a:ext uri="{FF2B5EF4-FFF2-40B4-BE49-F238E27FC236}">
                <a16:creationId xmlns:a16="http://schemas.microsoft.com/office/drawing/2014/main" id="{58E76A79-5D8F-4392-9382-D47E0D8CDC0D}"/>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Evidence remains visible, traceable and exportable</a:t>
            </a:r>
          </a:p>
        </p:txBody>
      </p:sp>
      <p:sp>
        <p:nvSpPr>
          <p:cNvPr id="4" name="">
            <a:extLst xmlns:a="http://schemas.openxmlformats.org/drawingml/2006/main">
              <a:ext uri="{FF2B5EF4-FFF2-40B4-BE49-F238E27FC236}">
                <a16:creationId xmlns:a16="http://schemas.microsoft.com/office/drawing/2014/main" id="{57180E8C-1B2E-4A4A-9F3D-26AAC1A70363}"/>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4EDA104D-0633-4E9D-BA23-D35BAB12F3B0}"/>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C32B3ABE-B1D6-4D4A-8487-5C33C01FAA3A}"/>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15</a:t>
            </a:r>
          </a:p>
        </p:txBody>
      </p:sp>
      <p:sp>
        <p:nvSpPr>
          <p:cNvPr id="7" name="">
            <a:extLst xmlns:a="http://schemas.openxmlformats.org/drawingml/2006/main">
              <a:ext uri="{FF2B5EF4-FFF2-40B4-BE49-F238E27FC236}">
                <a16:creationId xmlns:a16="http://schemas.microsoft.com/office/drawing/2014/main" id="{B48F6C6D-EAEF-4B35-9A60-8B7BF6819058}"/>
              </a:ext>
            </a:extLst>
          </p:cNvPr>
          <p:cNvSpPr>
            <a:spLocks xmlns:a="http://schemas.openxmlformats.org/drawingml/2006/main" noGrp="1"/>
          </p:cNvSpPr>
          <p:nvPr/>
        </p:nvSpPr>
        <p:spPr>
          <a:xfrm xmlns:a="http://schemas.openxmlformats.org/drawingml/2006/main">
            <a:off x="685800" y="1695450"/>
            <a:ext cx="2152650" cy="1047750"/>
          </a:xfrm>
          <a:prstGeom xmlns:a="http://schemas.openxmlformats.org/drawingml/2006/main" prst="roundRect">
            <a:avLst>
              <a:gd name="adj" fmla="val 10909"/>
            </a:avLst>
          </a:prstGeom>
          <a:solidFill xmlns:a="http://schemas.openxmlformats.org/drawingml/2006/main">
            <a:srgbClr val="143A55"/>
          </a:solidFill>
          <a:ln xmlns:a="http://schemas.openxmlformats.org/drawingml/2006/main" w="9525">
            <a:solidFill>
              <a:srgbClr val="40D9FF"/>
            </a:solidFill>
            <a:prstDash val="solid"/>
          </a:ln>
        </p:spPr>
      </p:sp>
      <p:sp>
        <p:nvSpPr>
          <p:cNvPr id="8" name="">
            <a:extLst xmlns:a="http://schemas.openxmlformats.org/drawingml/2006/main">
              <a:ext uri="{FF2B5EF4-FFF2-40B4-BE49-F238E27FC236}">
                <a16:creationId xmlns:a16="http://schemas.microsoft.com/office/drawing/2014/main" id="{3EFF4410-8CC2-43A1-9B65-CF044D1C2543}"/>
              </a:ext>
            </a:extLst>
          </p:cNvPr>
          <p:cNvSpPr>
            <a:spLocks xmlns:a="http://schemas.openxmlformats.org/drawingml/2006/main" noGrp="1"/>
          </p:cNvSpPr>
          <p:nvPr/>
        </p:nvSpPr>
        <p:spPr>
          <a:xfrm xmlns:a="http://schemas.openxmlformats.org/drawingml/2006/main">
            <a:off x="895350" y="1847850"/>
            <a:ext cx="173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40D9FF"/>
                </a:solidFill>
              </a:defRPr>
            </a:pPr>
            <a:r>
              <a:rPr sz="1050" b="1">
                <a:solidFill>
                  <a:srgbClr val="40D9FF"/>
                </a:solidFill>
              </a:rPr>
              <a:t>RESULT OBJECTS</a:t>
            </a:r>
          </a:p>
        </p:txBody>
      </p:sp>
      <p:sp>
        <p:nvSpPr>
          <p:cNvPr id="9" name="">
            <a:extLst xmlns:a="http://schemas.openxmlformats.org/drawingml/2006/main">
              <a:ext uri="{FF2B5EF4-FFF2-40B4-BE49-F238E27FC236}">
                <a16:creationId xmlns:a16="http://schemas.microsoft.com/office/drawing/2014/main" id="{3767834B-4063-49C0-BBE6-576E585B98AA}"/>
              </a:ext>
            </a:extLst>
          </p:cNvPr>
          <p:cNvSpPr>
            <a:spLocks xmlns:a="http://schemas.openxmlformats.org/drawingml/2006/main" noGrp="1"/>
          </p:cNvSpPr>
          <p:nvPr/>
        </p:nvSpPr>
        <p:spPr>
          <a:xfrm xmlns:a="http://schemas.openxmlformats.org/drawingml/2006/main">
            <a:off x="895350" y="2190750"/>
            <a:ext cx="17335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0">
                <a:solidFill>
                  <a:srgbClr val="F5FAFF"/>
                </a:solidFill>
              </a:defRPr>
            </a:pPr>
            <a:r>
              <a:rPr sz="1425" b="0">
                <a:solidFill>
                  <a:srgbClr val="F5FAFF"/>
                </a:solidFill>
              </a:rPr>
              <a:t>QueryResult</a:t>
            </a:r>
          </a:p>
          <a:p xmlns:a="http://schemas.openxmlformats.org/drawingml/2006/main">
            <a:pPr algn="ctr">
              <a:defRPr sz="1425" b="0">
                <a:solidFill>
                  <a:srgbClr val="F5FAFF"/>
                </a:solidFill>
              </a:defRPr>
            </a:pPr>
            <a:r>
              <a:rPr sz="1425" b="0">
                <a:solidFill>
                  <a:srgbClr val="F5FAFF"/>
                </a:solidFill>
              </a:rPr>
              <a:t>WorkflowResult</a:t>
            </a:r>
          </a:p>
        </p:txBody>
      </p:sp>
      <p:sp>
        <p:nvSpPr>
          <p:cNvPr id="10" name="">
            <a:extLst xmlns:a="http://schemas.openxmlformats.org/drawingml/2006/main">
              <a:ext uri="{FF2B5EF4-FFF2-40B4-BE49-F238E27FC236}">
                <a16:creationId xmlns:a16="http://schemas.microsoft.com/office/drawing/2014/main" id="{A05EF101-6F30-4DC3-A538-73EB17883016}"/>
              </a:ext>
            </a:extLst>
          </p:cNvPr>
          <p:cNvSpPr>
            <a:spLocks xmlns:a="http://schemas.openxmlformats.org/drawingml/2006/main" noGrp="1"/>
          </p:cNvSpPr>
          <p:nvPr/>
        </p:nvSpPr>
        <p:spPr>
          <a:xfrm xmlns:a="http://schemas.openxmlformats.org/drawingml/2006/main">
            <a:off x="3524250" y="1428750"/>
            <a:ext cx="2286000" cy="895350"/>
          </a:xfrm>
          <a:prstGeom xmlns:a="http://schemas.openxmlformats.org/drawingml/2006/main" prst="roundRect">
            <a:avLst>
              <a:gd name="adj" fmla="val 12766"/>
            </a:avLst>
          </a:prstGeom>
          <a:solidFill xmlns:a="http://schemas.openxmlformats.org/drawingml/2006/main">
            <a:srgbClr val="102A43"/>
          </a:solidFill>
          <a:ln xmlns:a="http://schemas.openxmlformats.org/drawingml/2006/main" w="9525">
            <a:solidFill>
              <a:srgbClr val="3B82F6"/>
            </a:solidFill>
            <a:prstDash val="solid"/>
          </a:ln>
        </p:spPr>
      </p:sp>
      <p:sp>
        <p:nvSpPr>
          <p:cNvPr id="11" name="">
            <a:extLst xmlns:a="http://schemas.openxmlformats.org/drawingml/2006/main">
              <a:ext uri="{FF2B5EF4-FFF2-40B4-BE49-F238E27FC236}">
                <a16:creationId xmlns:a16="http://schemas.microsoft.com/office/drawing/2014/main" id="{E3AB7BE2-1AB8-4361-A700-4BBDAD6D7E29}"/>
              </a:ext>
            </a:extLst>
          </p:cNvPr>
          <p:cNvSpPr>
            <a:spLocks xmlns:a="http://schemas.openxmlformats.org/drawingml/2006/main" noGrp="1"/>
          </p:cNvSpPr>
          <p:nvPr/>
        </p:nvSpPr>
        <p:spPr>
          <a:xfrm xmlns:a="http://schemas.openxmlformats.org/drawingml/2006/main">
            <a:off x="3733800" y="16002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B82F6"/>
                </a:solidFill>
              </a:defRPr>
            </a:pPr>
            <a:r>
              <a:rPr sz="1050" b="1">
                <a:solidFill>
                  <a:srgbClr val="3B82F6"/>
                </a:solidFill>
              </a:rPr>
              <a:t>TERMINAL</a:t>
            </a:r>
          </a:p>
        </p:txBody>
      </p:sp>
      <p:sp>
        <p:nvSpPr>
          <p:cNvPr id="12" name="">
            <a:extLst xmlns:a="http://schemas.openxmlformats.org/drawingml/2006/main">
              <a:ext uri="{FF2B5EF4-FFF2-40B4-BE49-F238E27FC236}">
                <a16:creationId xmlns:a16="http://schemas.microsoft.com/office/drawing/2014/main" id="{271A6B8E-D16C-41EB-A022-8F766D1FD68C}"/>
              </a:ext>
            </a:extLst>
          </p:cNvPr>
          <p:cNvSpPr>
            <a:spLocks xmlns:a="http://schemas.openxmlformats.org/drawingml/2006/main" noGrp="1"/>
          </p:cNvSpPr>
          <p:nvPr/>
        </p:nvSpPr>
        <p:spPr>
          <a:xfrm xmlns:a="http://schemas.openxmlformats.org/drawingml/2006/main">
            <a:off x="3733800" y="1885950"/>
            <a:ext cx="1866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5FAFF"/>
                </a:solidFill>
              </a:defRPr>
            </a:pPr>
            <a:r>
              <a:rPr sz="1200" b="0">
                <a:solidFill>
                  <a:srgbClr val="F5FAFF"/>
                </a:solidFill>
              </a:rPr>
              <a:t>tables, findings, panels,</a:t>
            </a:r>
          </a:p>
          <a:p xmlns:a="http://schemas.openxmlformats.org/drawingml/2006/main">
            <a:pPr algn="ctr">
              <a:defRPr sz="1200" b="0">
                <a:solidFill>
                  <a:srgbClr val="F5FAFF"/>
                </a:solidFill>
              </a:defRPr>
            </a:pPr>
            <a:r>
              <a:rPr sz="1200" b="0">
                <a:solidFill>
                  <a:srgbClr val="F5FAFF"/>
                </a:solidFill>
              </a:rPr>
              <a:t>trace and warnings</a:t>
            </a:r>
          </a:p>
        </p:txBody>
      </p:sp>
      <p:sp>
        <p:nvSpPr>
          <p:cNvPr id="13" name="">
            <a:extLst xmlns:a="http://schemas.openxmlformats.org/drawingml/2006/main">
              <a:ext uri="{FF2B5EF4-FFF2-40B4-BE49-F238E27FC236}">
                <a16:creationId xmlns:a16="http://schemas.microsoft.com/office/drawing/2014/main" id="{F8BE7DEB-8E39-4D7B-9C1B-29738B486FBE}"/>
              </a:ext>
            </a:extLst>
          </p:cNvPr>
          <p:cNvSpPr>
            <a:spLocks xmlns:a="http://schemas.openxmlformats.org/drawingml/2006/main" noGrp="1"/>
          </p:cNvSpPr>
          <p:nvPr/>
        </p:nvSpPr>
        <p:spPr>
          <a:xfrm xmlns:a="http://schemas.openxmlformats.org/drawingml/2006/main">
            <a:off x="3524250" y="2552700"/>
            <a:ext cx="2286000" cy="800100"/>
          </a:xfrm>
          <a:prstGeom xmlns:a="http://schemas.openxmlformats.org/drawingml/2006/main" prst="roundRect">
            <a:avLst>
              <a:gd name="adj" fmla="val 14286"/>
            </a:avLst>
          </a:prstGeom>
          <a:solidFill xmlns:a="http://schemas.openxmlformats.org/drawingml/2006/main">
            <a:srgbClr val="102A43"/>
          </a:solidFill>
          <a:ln xmlns:a="http://schemas.openxmlformats.org/drawingml/2006/main" w="9525">
            <a:solidFill>
              <a:srgbClr val="F4B942"/>
            </a:solidFill>
            <a:prstDash val="solid"/>
          </a:ln>
        </p:spPr>
      </p:sp>
      <p:sp>
        <p:nvSpPr>
          <p:cNvPr id="14" name="">
            <a:extLst xmlns:a="http://schemas.openxmlformats.org/drawingml/2006/main">
              <a:ext uri="{FF2B5EF4-FFF2-40B4-BE49-F238E27FC236}">
                <a16:creationId xmlns:a16="http://schemas.microsoft.com/office/drawing/2014/main" id="{4967E959-F36C-46AC-B8C0-4C48BDDB422B}"/>
              </a:ext>
            </a:extLst>
          </p:cNvPr>
          <p:cNvSpPr>
            <a:spLocks xmlns:a="http://schemas.openxmlformats.org/drawingml/2006/main" noGrp="1"/>
          </p:cNvSpPr>
          <p:nvPr/>
        </p:nvSpPr>
        <p:spPr>
          <a:xfrm xmlns:a="http://schemas.openxmlformats.org/drawingml/2006/main">
            <a:off x="3733800" y="2705100"/>
            <a:ext cx="1866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4B942"/>
                </a:solidFill>
              </a:defRPr>
            </a:pPr>
            <a:r>
              <a:rPr sz="1050" b="1">
                <a:solidFill>
                  <a:srgbClr val="F4B942"/>
                </a:solidFill>
              </a:rPr>
              <a:t>AUDIT &amp; STATE</a:t>
            </a:r>
          </a:p>
        </p:txBody>
      </p:sp>
      <p:sp>
        <p:nvSpPr>
          <p:cNvPr id="15" name="">
            <a:extLst xmlns:a="http://schemas.openxmlformats.org/drawingml/2006/main">
              <a:ext uri="{FF2B5EF4-FFF2-40B4-BE49-F238E27FC236}">
                <a16:creationId xmlns:a16="http://schemas.microsoft.com/office/drawing/2014/main" id="{C7552F6A-3096-4918-BBCB-6C1564CF38CD}"/>
              </a:ext>
            </a:extLst>
          </p:cNvPr>
          <p:cNvSpPr>
            <a:spLocks xmlns:a="http://schemas.openxmlformats.org/drawingml/2006/main" noGrp="1"/>
          </p:cNvSpPr>
          <p:nvPr/>
        </p:nvSpPr>
        <p:spPr>
          <a:xfrm xmlns:a="http://schemas.openxmlformats.org/drawingml/2006/main">
            <a:off x="3733800" y="29908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5FAFF"/>
                </a:solidFill>
              </a:defRPr>
            </a:pPr>
            <a:r>
              <a:rPr sz="1200" b="0">
                <a:solidFill>
                  <a:srgbClr val="F5FAFF"/>
                </a:solidFill>
              </a:rPr>
              <a:t>JSONL usage log</a:t>
            </a:r>
          </a:p>
          <a:p xmlns:a="http://schemas.openxmlformats.org/drawingml/2006/main">
            <a:pPr algn="ctr">
              <a:defRPr sz="1200" b="0">
                <a:solidFill>
                  <a:srgbClr val="F5FAFF"/>
                </a:solidFill>
              </a:defRPr>
            </a:pPr>
            <a:r>
              <a:rPr sz="1200" b="0">
                <a:solidFill>
                  <a:srgbClr val="F5FAFF"/>
                </a:solidFill>
              </a:rPr>
              <a:t>safe session memory</a:t>
            </a:r>
          </a:p>
        </p:txBody>
      </p:sp>
      <p:sp>
        <p:nvSpPr>
          <p:cNvPr id="16" name="">
            <a:extLst xmlns:a="http://schemas.openxmlformats.org/drawingml/2006/main">
              <a:ext uri="{FF2B5EF4-FFF2-40B4-BE49-F238E27FC236}">
                <a16:creationId xmlns:a16="http://schemas.microsoft.com/office/drawing/2014/main" id="{D171DBE5-DD8A-4838-B14C-19C5FFDCD6C1}"/>
              </a:ext>
            </a:extLst>
          </p:cNvPr>
          <p:cNvSpPr>
            <a:spLocks xmlns:a="http://schemas.openxmlformats.org/drawingml/2006/main" noGrp="1"/>
          </p:cNvSpPr>
          <p:nvPr/>
        </p:nvSpPr>
        <p:spPr>
          <a:xfrm xmlns:a="http://schemas.openxmlformats.org/drawingml/2006/main">
            <a:off x="6496050" y="1695450"/>
            <a:ext cx="2190750" cy="1047750"/>
          </a:xfrm>
          <a:prstGeom xmlns:a="http://schemas.openxmlformats.org/drawingml/2006/main" prst="roundRect">
            <a:avLst>
              <a:gd name="adj" fmla="val 10909"/>
            </a:avLst>
          </a:prstGeom>
          <a:solidFill xmlns:a="http://schemas.openxmlformats.org/drawingml/2006/main">
            <a:srgbClr val="143A55"/>
          </a:solidFill>
          <a:ln xmlns:a="http://schemas.openxmlformats.org/drawingml/2006/main" w="9525">
            <a:solidFill>
              <a:srgbClr val="35D07F"/>
            </a:solidFill>
            <a:prstDash val="solid"/>
          </a:ln>
        </p:spPr>
      </p:sp>
      <p:sp>
        <p:nvSpPr>
          <p:cNvPr id="17" name="">
            <a:extLst xmlns:a="http://schemas.openxmlformats.org/drawingml/2006/main">
              <a:ext uri="{FF2B5EF4-FFF2-40B4-BE49-F238E27FC236}">
                <a16:creationId xmlns:a16="http://schemas.microsoft.com/office/drawing/2014/main" id="{7E4E0DE9-1A08-483E-88D8-3EC0F785B674}"/>
              </a:ext>
            </a:extLst>
          </p:cNvPr>
          <p:cNvSpPr>
            <a:spLocks xmlns:a="http://schemas.openxmlformats.org/drawingml/2006/main" noGrp="1"/>
          </p:cNvSpPr>
          <p:nvPr/>
        </p:nvSpPr>
        <p:spPr>
          <a:xfrm xmlns:a="http://schemas.openxmlformats.org/drawingml/2006/main">
            <a:off x="6705600" y="1847850"/>
            <a:ext cx="1771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5D07F"/>
                </a:solidFill>
              </a:defRPr>
            </a:pPr>
            <a:r>
              <a:rPr sz="1050" b="1">
                <a:solidFill>
                  <a:srgbClr val="35D07F"/>
                </a:solidFill>
              </a:rPr>
              <a:t>OPENPYXL EXPORT</a:t>
            </a:r>
          </a:p>
        </p:txBody>
      </p:sp>
      <p:sp>
        <p:nvSpPr>
          <p:cNvPr id="18" name="">
            <a:extLst xmlns:a="http://schemas.openxmlformats.org/drawingml/2006/main">
              <a:ext uri="{FF2B5EF4-FFF2-40B4-BE49-F238E27FC236}">
                <a16:creationId xmlns:a16="http://schemas.microsoft.com/office/drawing/2014/main" id="{7D6D5B47-72DC-4CF5-9106-28DB2C5CCBDE}"/>
              </a:ext>
            </a:extLst>
          </p:cNvPr>
          <p:cNvSpPr>
            <a:spLocks xmlns:a="http://schemas.openxmlformats.org/drawingml/2006/main" noGrp="1"/>
          </p:cNvSpPr>
          <p:nvPr/>
        </p:nvSpPr>
        <p:spPr>
          <a:xfrm xmlns:a="http://schemas.openxmlformats.org/drawingml/2006/main">
            <a:off x="6705600" y="2190750"/>
            <a:ext cx="177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F5FAFF"/>
                </a:solidFill>
              </a:defRPr>
            </a:pPr>
            <a:r>
              <a:rPr sz="1350" b="0">
                <a:solidFill>
                  <a:srgbClr val="F5FAFF"/>
                </a:solidFill>
              </a:rPr>
              <a:t>/export-last</a:t>
            </a:r>
          </a:p>
          <a:p xmlns:a="http://schemas.openxmlformats.org/drawingml/2006/main">
            <a:pPr algn="ctr">
              <a:defRPr sz="1350" b="0">
                <a:solidFill>
                  <a:srgbClr val="F5FAFF"/>
                </a:solidFill>
              </a:defRPr>
            </a:pPr>
            <a:r>
              <a:rPr sz="1350" b="0">
                <a:solidFill>
                  <a:srgbClr val="F5FAFF"/>
                </a:solidFill>
              </a:rPr>
              <a:t>/export-evidence</a:t>
            </a:r>
          </a:p>
        </p:txBody>
      </p:sp>
      <p:sp>
        <p:nvSpPr>
          <p:cNvPr id="19" name="">
            <a:extLst xmlns:a="http://schemas.openxmlformats.org/drawingml/2006/main">
              <a:ext uri="{FF2B5EF4-FFF2-40B4-BE49-F238E27FC236}">
                <a16:creationId xmlns:a16="http://schemas.microsoft.com/office/drawing/2014/main" id="{F6690734-93D4-48B7-9B5E-AEFD5967AB26}"/>
              </a:ext>
            </a:extLst>
          </p:cNvPr>
          <p:cNvSpPr>
            <a:spLocks xmlns:a="http://schemas.openxmlformats.org/drawingml/2006/main" noGrp="1"/>
          </p:cNvSpPr>
          <p:nvPr/>
        </p:nvSpPr>
        <p:spPr>
          <a:xfrm xmlns:a="http://schemas.openxmlformats.org/drawingml/2006/main">
            <a:off x="9372600" y="1409700"/>
            <a:ext cx="2133600" cy="1981200"/>
          </a:xfrm>
          <a:prstGeom xmlns:a="http://schemas.openxmlformats.org/drawingml/2006/main" prst="roundRect">
            <a:avLst>
              <a:gd name="adj" fmla="val 5769"/>
            </a:avLst>
          </a:prstGeom>
          <a:solidFill xmlns:a="http://schemas.openxmlformats.org/drawingml/2006/main">
            <a:srgbClr val="102A43"/>
          </a:solidFill>
          <a:ln xmlns:a="http://schemas.openxmlformats.org/drawingml/2006/main" w="9525">
            <a:solidFill>
              <a:srgbClr val="35D07F"/>
            </a:solidFill>
            <a:prstDash val="solid"/>
          </a:ln>
        </p:spPr>
      </p:sp>
      <p:sp>
        <p:nvSpPr>
          <p:cNvPr id="20" name="">
            <a:extLst xmlns:a="http://schemas.openxmlformats.org/drawingml/2006/main">
              <a:ext uri="{FF2B5EF4-FFF2-40B4-BE49-F238E27FC236}">
                <a16:creationId xmlns:a16="http://schemas.microsoft.com/office/drawing/2014/main" id="{DDA3659B-AE2D-421A-BC5E-62DE8A4A5F2A}"/>
              </a:ext>
            </a:extLst>
          </p:cNvPr>
          <p:cNvSpPr>
            <a:spLocks xmlns:a="http://schemas.openxmlformats.org/drawingml/2006/main" noGrp="1"/>
          </p:cNvSpPr>
          <p:nvPr/>
        </p:nvSpPr>
        <p:spPr>
          <a:xfrm xmlns:a="http://schemas.openxmlformats.org/drawingml/2006/main">
            <a:off x="9563100" y="1562100"/>
            <a:ext cx="1752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35D07F"/>
                </a:solidFill>
              </a:defRPr>
            </a:pPr>
            <a:r>
              <a:rPr sz="1050" b="1">
                <a:solidFill>
                  <a:srgbClr val="35D07F"/>
                </a:solidFill>
              </a:rPr>
              <a:t>EVIDENCE PACK</a:t>
            </a:r>
          </a:p>
        </p:txBody>
      </p:sp>
      <p:sp>
        <p:nvSpPr>
          <p:cNvPr id="21" name="">
            <a:extLst xmlns:a="http://schemas.openxmlformats.org/drawingml/2006/main">
              <a:ext uri="{FF2B5EF4-FFF2-40B4-BE49-F238E27FC236}">
                <a16:creationId xmlns:a16="http://schemas.microsoft.com/office/drawing/2014/main" id="{4C98A121-C8A5-4989-97DE-FDF5C49578A9}"/>
              </a:ext>
            </a:extLst>
          </p:cNvPr>
          <p:cNvSpPr>
            <a:spLocks xmlns:a="http://schemas.openxmlformats.org/drawingml/2006/main" noGrp="1"/>
          </p:cNvSpPr>
          <p:nvPr/>
        </p:nvSpPr>
        <p:spPr>
          <a:xfrm xmlns:a="http://schemas.openxmlformats.org/drawingml/2006/main">
            <a:off x="9563100" y="1905000"/>
            <a:ext cx="175260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F5FAFF"/>
                </a:solidFill>
              </a:defRPr>
            </a:pPr>
            <a:r>
              <a:rPr sz="1200" b="0">
                <a:solidFill>
                  <a:srgbClr val="F5FAFF"/>
                </a:solidFill>
              </a:rPr>
              <a:t>Summary</a:t>
            </a:r>
          </a:p>
          <a:p xmlns:a="http://schemas.openxmlformats.org/drawingml/2006/main">
            <a:pPr algn="ctr">
              <a:defRPr sz="1200" b="0">
                <a:solidFill>
                  <a:srgbClr val="F5FAFF"/>
                </a:solidFill>
              </a:defRPr>
            </a:pPr>
            <a:r>
              <a:rPr sz="1200" b="0">
                <a:solidFill>
                  <a:srgbClr val="F5FAFF"/>
                </a:solidFill>
              </a:rPr>
              <a:t>Sheet Index</a:t>
            </a:r>
          </a:p>
          <a:p xmlns:a="http://schemas.openxmlformats.org/drawingml/2006/main">
            <a:pPr algn="ctr">
              <a:defRPr sz="1200" b="0">
                <a:solidFill>
                  <a:srgbClr val="F5FAFF"/>
                </a:solidFill>
              </a:defRPr>
            </a:pPr>
            <a:r>
              <a:rPr sz="1200" b="0">
                <a:solidFill>
                  <a:srgbClr val="F5FAFF"/>
                </a:solidFill>
              </a:rPr>
              <a:t>Tool Trace</a:t>
            </a:r>
          </a:p>
          <a:p xmlns:a="http://schemas.openxmlformats.org/drawingml/2006/main">
            <a:pPr algn="ctr">
              <a:defRPr sz="1200" b="0">
                <a:solidFill>
                  <a:srgbClr val="F5FAFF"/>
                </a:solidFill>
              </a:defRPr>
            </a:pPr>
            <a:r>
              <a:rPr sz="1200" b="0">
                <a:solidFill>
                  <a:srgbClr val="F5FAFF"/>
                </a:solidFill>
              </a:rPr>
              <a:t>Findings</a:t>
            </a:r>
          </a:p>
          <a:p xmlns:a="http://schemas.openxmlformats.org/drawingml/2006/main">
            <a:pPr algn="ctr">
              <a:defRPr sz="1200" b="0">
                <a:solidFill>
                  <a:srgbClr val="F5FAFF"/>
                </a:solidFill>
              </a:defRPr>
            </a:pPr>
            <a:r>
              <a:rPr sz="1200" b="0">
                <a:solidFill>
                  <a:srgbClr val="F5FAFF"/>
                </a:solidFill>
              </a:rPr>
              <a:t>Warnings</a:t>
            </a:r>
          </a:p>
          <a:p xmlns:a="http://schemas.openxmlformats.org/drawingml/2006/main">
            <a:pPr algn="ctr">
              <a:defRPr sz="1200" b="0">
                <a:solidFill>
                  <a:srgbClr val="F5FAFF"/>
                </a:solidFill>
              </a:defRPr>
            </a:pPr>
            <a:r>
              <a:rPr sz="1200" b="0">
                <a:solidFill>
                  <a:srgbClr val="F5FAFF"/>
                </a:solidFill>
              </a:rPr>
              <a:t>Result tables</a:t>
            </a:r>
          </a:p>
          <a:p xmlns:a="http://schemas.openxmlformats.org/drawingml/2006/main">
            <a:pPr algn="ctr">
              <a:defRPr sz="1200" b="0">
                <a:solidFill>
                  <a:srgbClr val="F5FAFF"/>
                </a:solidFill>
              </a:defRPr>
            </a:pPr>
            <a:r>
              <a:rPr sz="1200" b="0">
                <a:solidFill>
                  <a:srgbClr val="F5FAFF"/>
                </a:solidFill>
              </a:rPr>
              <a:t>SQL Evidence</a:t>
            </a:r>
          </a:p>
          <a:p xmlns:a="http://schemas.openxmlformats.org/drawingml/2006/main">
            <a:pPr algn="ctr">
              <a:defRPr sz="1200" b="0">
                <a:solidFill>
                  <a:srgbClr val="F5FAFF"/>
                </a:solidFill>
              </a:defRPr>
            </a:pPr>
            <a:r>
              <a:rPr sz="1200" b="0">
                <a:solidFill>
                  <a:srgbClr val="F5FAFF"/>
                </a:solidFill>
              </a:rPr>
              <a:t>Context</a:t>
            </a:r>
          </a:p>
        </p:txBody>
      </p:sp>
      <p:cxnSp>
        <p:nvCxnSpPr>
          <p:cNvPr id="57" name=""/>
          <p:cNvCxnSpPr>
            <a:stCxn xmlns:a="http://schemas.openxmlformats.org/drawingml/2006/main" id="7" idx="3"/>
            <a:endCxn xmlns:a="http://schemas.openxmlformats.org/drawingml/2006/main" id="10" idx="1"/>
          </p:cNvCxnSpPr>
          <p:nvPr/>
        </p:nvCxnSpPr>
        <p:spPr>
          <a:xfrm xmlns:a="http://schemas.openxmlformats.org/drawingml/2006/main" flipV="1">
            <a:off x="2838450" y="1876425"/>
            <a:ext cx="685800" cy="342900"/>
          </a:xfrm>
          <a:prstGeom xmlns:a="http://schemas.openxmlformats.org/drawingml/2006/main" prst="bentConnector3">
            <a:avLst>
              <a:gd name="adj1" fmla="val 50000"/>
            </a:avLst>
          </a:prstGeom>
          <a:ln xmlns:a="http://schemas.openxmlformats.org/drawingml/2006/main" w="19050">
            <a:solidFill>
              <a:srgbClr val="40D9FF"/>
            </a:solidFill>
            <a:prstDash val="solid"/>
            <a:tailEnd type="arrow" w="med" len="med"/>
          </a:ln>
        </p:spPr>
      </p:cxnSp>
      <p:cxnSp>
        <p:nvCxnSpPr>
          <p:cNvPr id="58" name=""/>
          <p:cNvCxnSpPr>
            <a:stCxn xmlns:a="http://schemas.openxmlformats.org/drawingml/2006/main" id="7" idx="3"/>
            <a:endCxn xmlns:a="http://schemas.openxmlformats.org/drawingml/2006/main" id="13" idx="1"/>
          </p:cNvCxnSpPr>
          <p:nvPr/>
        </p:nvCxnSpPr>
        <p:spPr>
          <a:xfrm xmlns:a="http://schemas.openxmlformats.org/drawingml/2006/main">
            <a:off x="2838450" y="2219325"/>
            <a:ext cx="685800" cy="733425"/>
          </a:xfrm>
          <a:prstGeom xmlns:a="http://schemas.openxmlformats.org/drawingml/2006/main" prst="bentConnector3">
            <a:avLst>
              <a:gd name="adj1" fmla="val 50000"/>
            </a:avLst>
          </a:prstGeom>
          <a:ln xmlns:a="http://schemas.openxmlformats.org/drawingml/2006/main" w="19050">
            <a:solidFill>
              <a:srgbClr val="F4B942"/>
            </a:solidFill>
            <a:prstDash val="solid"/>
            <a:tailEnd type="arrow" w="med" len="med"/>
          </a:ln>
        </p:spPr>
      </p:cxnSp>
      <p:cxnSp>
        <p:nvCxnSpPr>
          <p:cNvPr id="59" name=""/>
          <p:cNvCxnSpPr>
            <a:stCxn xmlns:a="http://schemas.openxmlformats.org/drawingml/2006/main" id="7" idx="3"/>
            <a:endCxn xmlns:a="http://schemas.openxmlformats.org/drawingml/2006/main" id="16" idx="1"/>
          </p:cNvCxnSpPr>
          <p:nvPr/>
        </p:nvCxnSpPr>
        <p:spPr>
          <a:xfrm xmlns:a="http://schemas.openxmlformats.org/drawingml/2006/main">
            <a:off x="2838450" y="2219325"/>
            <a:ext cx="3657600" cy="219075"/>
          </a:xfrm>
          <a:prstGeom xmlns:a="http://schemas.openxmlformats.org/drawingml/2006/main" prst="bentConnector4">
            <a:avLst/>
          </a:prstGeom>
          <a:ln xmlns:a="http://schemas.openxmlformats.org/drawingml/2006/main" w="19050">
            <a:solidFill>
              <a:srgbClr val="35D07F"/>
            </a:solidFill>
            <a:prstDash val="solid"/>
            <a:tailEnd type="arrow" w="med" len="med"/>
          </a:ln>
        </p:spPr>
      </p:cxnSp>
      <p:cxnSp>
        <p:nvCxnSpPr>
          <p:cNvPr id="60" name=""/>
          <p:cNvCxnSpPr>
            <a:stCxn xmlns:a="http://schemas.openxmlformats.org/drawingml/2006/main" id="16" idx="3"/>
            <a:endCxn xmlns:a="http://schemas.openxmlformats.org/drawingml/2006/main" id="19" idx="1"/>
          </p:cNvCxnSpPr>
          <p:nvPr/>
        </p:nvCxnSpPr>
        <p:spPr>
          <a:xfrm xmlns:a="http://schemas.openxmlformats.org/drawingml/2006/main">
            <a:off x="8686800" y="2219325"/>
            <a:ext cx="685800" cy="180975"/>
          </a:xfrm>
          <a:prstGeom xmlns:a="http://schemas.openxmlformats.org/drawingml/2006/main" prst="bentConnector3">
            <a:avLst>
              <a:gd name="adj1" fmla="val 50000"/>
            </a:avLst>
          </a:prstGeom>
          <a:ln xmlns:a="http://schemas.openxmlformats.org/drawingml/2006/main" w="19050">
            <a:solidFill>
              <a:srgbClr val="35D07F"/>
            </a:solidFill>
            <a:prstDash val="solid"/>
            <a:tailEnd type="arrow" w="med" len="med"/>
          </a:ln>
        </p:spPr>
      </p:cxnSp>
      <p:sp>
        <p:nvSpPr>
          <p:cNvPr id="26" name="">
            <a:extLst xmlns:a="http://schemas.openxmlformats.org/drawingml/2006/main">
              <a:ext uri="{FF2B5EF4-FFF2-40B4-BE49-F238E27FC236}">
                <a16:creationId xmlns:a16="http://schemas.microsoft.com/office/drawing/2014/main" id="{583A308A-E75D-4DB4-BEDE-C87A0A474F23}"/>
              </a:ext>
            </a:extLst>
          </p:cNvPr>
          <p:cNvSpPr>
            <a:spLocks xmlns:a="http://schemas.openxmlformats.org/drawingml/2006/main" noGrp="1"/>
          </p:cNvSpPr>
          <p:nvPr/>
        </p:nvSpPr>
        <p:spPr>
          <a:xfrm xmlns:a="http://schemas.openxmlformats.org/drawingml/2006/main">
            <a:off x="685800" y="371475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27" name="">
            <a:extLst xmlns:a="http://schemas.openxmlformats.org/drawingml/2006/main">
              <a:ext uri="{FF2B5EF4-FFF2-40B4-BE49-F238E27FC236}">
                <a16:creationId xmlns:a16="http://schemas.microsoft.com/office/drawing/2014/main" id="{4D7E3577-761D-4DAC-AD9B-05C6C398D996}"/>
              </a:ext>
            </a:extLst>
          </p:cNvPr>
          <p:cNvSpPr>
            <a:spLocks xmlns:a="http://schemas.openxmlformats.org/drawingml/2006/main" noGrp="1"/>
          </p:cNvSpPr>
          <p:nvPr/>
        </p:nvSpPr>
        <p:spPr>
          <a:xfrm xmlns:a="http://schemas.openxmlformats.org/drawingml/2006/main">
            <a:off x="685800" y="3943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00" b="1">
                <a:solidFill>
                  <a:srgbClr val="F5FAFF"/>
                </a:solidFill>
              </a:defRPr>
            </a:pPr>
            <a:r>
              <a:rPr sz="1800" b="1">
                <a:solidFill>
                  <a:srgbClr val="F5FAFF"/>
                </a:solidFill>
              </a:rPr>
              <a:t>Documented validation</a:t>
            </a:r>
          </a:p>
        </p:txBody>
      </p:sp>
      <p:sp>
        <p:nvSpPr>
          <p:cNvPr id="28" name="">
            <a:extLst xmlns:a="http://schemas.openxmlformats.org/drawingml/2006/main">
              <a:ext uri="{FF2B5EF4-FFF2-40B4-BE49-F238E27FC236}">
                <a16:creationId xmlns:a16="http://schemas.microsoft.com/office/drawing/2014/main" id="{FA55C96B-F3CD-48DE-AC99-A8164E59AF61}"/>
              </a:ext>
            </a:extLst>
          </p:cNvPr>
          <p:cNvSpPr>
            <a:spLocks xmlns:a="http://schemas.openxmlformats.org/drawingml/2006/main" noGrp="1"/>
          </p:cNvSpPr>
          <p:nvPr/>
        </p:nvSpPr>
        <p:spPr>
          <a:xfrm xmlns:a="http://schemas.openxmlformats.org/drawingml/2006/main">
            <a:off x="952500" y="4438650"/>
            <a:ext cx="209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35D07F"/>
                </a:solidFill>
              </a:defRPr>
            </a:pPr>
            <a:r>
              <a:rPr sz="2550" b="1">
                <a:solidFill>
                  <a:srgbClr val="35D07F"/>
                </a:solidFill>
              </a:rPr>
              <a:t>15 / 15</a:t>
            </a:r>
          </a:p>
        </p:txBody>
      </p:sp>
      <p:sp>
        <p:nvSpPr>
          <p:cNvPr id="29" name="">
            <a:extLst xmlns:a="http://schemas.openxmlformats.org/drawingml/2006/main">
              <a:ext uri="{FF2B5EF4-FFF2-40B4-BE49-F238E27FC236}">
                <a16:creationId xmlns:a16="http://schemas.microsoft.com/office/drawing/2014/main" id="{E848E507-D84C-418B-9D03-8337F299EE44}"/>
              </a:ext>
            </a:extLst>
          </p:cNvPr>
          <p:cNvSpPr>
            <a:spLocks xmlns:a="http://schemas.openxmlformats.org/drawingml/2006/main" noGrp="1"/>
          </p:cNvSpPr>
          <p:nvPr/>
        </p:nvSpPr>
        <p:spPr>
          <a:xfrm xmlns:a="http://schemas.openxmlformats.org/drawingml/2006/main">
            <a:off x="952500" y="4876800"/>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source files compile cleanly</a:t>
            </a:r>
          </a:p>
          <a:p xmlns:a="http://schemas.openxmlformats.org/drawingml/2006/main">
            <a:pPr algn="ctr">
              <a:defRPr sz="1125" b="0">
                <a:solidFill>
                  <a:srgbClr val="91A7BA"/>
                </a:solidFill>
              </a:defRPr>
            </a:pPr>
            <a:r>
              <a:rPr sz="1125" b="0">
                <a:solidFill>
                  <a:srgbClr val="91A7BA"/>
                </a:solidFill>
              </a:rPr>
              <a:t>documented P25F result</a:t>
            </a:r>
          </a:p>
        </p:txBody>
      </p:sp>
      <p:sp>
        <p:nvSpPr>
          <p:cNvPr id="30" name="">
            <a:extLst xmlns:a="http://schemas.openxmlformats.org/drawingml/2006/main">
              <a:ext uri="{FF2B5EF4-FFF2-40B4-BE49-F238E27FC236}">
                <a16:creationId xmlns:a16="http://schemas.microsoft.com/office/drawing/2014/main" id="{6CD649E4-3C67-4588-8A2C-D233D6778FDE}"/>
              </a:ext>
            </a:extLst>
          </p:cNvPr>
          <p:cNvSpPr>
            <a:spLocks xmlns:a="http://schemas.openxmlformats.org/drawingml/2006/main" noGrp="1"/>
          </p:cNvSpPr>
          <p:nvPr/>
        </p:nvSpPr>
        <p:spPr>
          <a:xfrm xmlns:a="http://schemas.openxmlformats.org/drawingml/2006/main">
            <a:off x="3314700" y="4438650"/>
            <a:ext cx="1905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35D07F"/>
                </a:solidFill>
              </a:defRPr>
            </a:pPr>
            <a:r>
              <a:rPr sz="2550" b="1">
                <a:solidFill>
                  <a:srgbClr val="35D07F"/>
                </a:solidFill>
              </a:rPr>
              <a:t>0</a:t>
            </a:r>
          </a:p>
        </p:txBody>
      </p:sp>
      <p:sp>
        <p:nvSpPr>
          <p:cNvPr id="31" name="">
            <a:extLst xmlns:a="http://schemas.openxmlformats.org/drawingml/2006/main">
              <a:ext uri="{FF2B5EF4-FFF2-40B4-BE49-F238E27FC236}">
                <a16:creationId xmlns:a16="http://schemas.microsoft.com/office/drawing/2014/main" id="{30B0BCF8-27CB-44FE-898C-A448A24E53EC}"/>
              </a:ext>
            </a:extLst>
          </p:cNvPr>
          <p:cNvSpPr>
            <a:spLocks xmlns:a="http://schemas.openxmlformats.org/drawingml/2006/main" noGrp="1"/>
          </p:cNvSpPr>
          <p:nvPr/>
        </p:nvSpPr>
        <p:spPr>
          <a:xfrm xmlns:a="http://schemas.openxmlformats.org/drawingml/2006/main">
            <a:off x="3314700" y="4876800"/>
            <a:ext cx="190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documented syntax failures</a:t>
            </a:r>
          </a:p>
        </p:txBody>
      </p:sp>
      <p:sp>
        <p:nvSpPr>
          <p:cNvPr id="32" name="">
            <a:extLst xmlns:a="http://schemas.openxmlformats.org/drawingml/2006/main">
              <a:ext uri="{FF2B5EF4-FFF2-40B4-BE49-F238E27FC236}">
                <a16:creationId xmlns:a16="http://schemas.microsoft.com/office/drawing/2014/main" id="{DB285F2B-8DEF-4E01-93B2-F18AC21CA615}"/>
              </a:ext>
            </a:extLst>
          </p:cNvPr>
          <p:cNvSpPr>
            <a:spLocks xmlns:a="http://schemas.openxmlformats.org/drawingml/2006/main" noGrp="1"/>
          </p:cNvSpPr>
          <p:nvPr/>
        </p:nvSpPr>
        <p:spPr>
          <a:xfrm xmlns:a="http://schemas.openxmlformats.org/drawingml/2006/main">
            <a:off x="5543550" y="4438650"/>
            <a:ext cx="2419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40D9FF"/>
                </a:solidFill>
              </a:defRPr>
            </a:pPr>
            <a:r>
              <a:rPr sz="2550" b="1">
                <a:solidFill>
                  <a:srgbClr val="40D9FF"/>
                </a:solidFill>
              </a:rPr>
              <a:t>PASS</a:t>
            </a:r>
          </a:p>
        </p:txBody>
      </p:sp>
      <p:sp>
        <p:nvSpPr>
          <p:cNvPr id="33" name="">
            <a:extLst xmlns:a="http://schemas.openxmlformats.org/drawingml/2006/main">
              <a:ext uri="{FF2B5EF4-FFF2-40B4-BE49-F238E27FC236}">
                <a16:creationId xmlns:a16="http://schemas.microsoft.com/office/drawing/2014/main" id="{6105C8DF-DB8F-4F12-B4F5-E33D01F03AF3}"/>
              </a:ext>
            </a:extLst>
          </p:cNvPr>
          <p:cNvSpPr>
            <a:spLocks xmlns:a="http://schemas.openxmlformats.org/drawingml/2006/main" noGrp="1"/>
          </p:cNvSpPr>
          <p:nvPr/>
        </p:nvSpPr>
        <p:spPr>
          <a:xfrm xmlns:a="http://schemas.openxmlformats.org/drawingml/2006/main">
            <a:off x="5543550" y="4876800"/>
            <a:ext cx="241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P25 catalog abnormal-status,</a:t>
            </a:r>
          </a:p>
          <a:p xmlns:a="http://schemas.openxmlformats.org/drawingml/2006/main">
            <a:pPr algn="ctr">
              <a:defRPr sz="1125" b="0">
                <a:solidFill>
                  <a:srgbClr val="91A7BA"/>
                </a:solidFill>
              </a:defRPr>
            </a:pPr>
            <a:r>
              <a:rPr sz="1125" b="0">
                <a:solidFill>
                  <a:srgbClr val="91A7BA"/>
                </a:solidFill>
              </a:rPr>
              <a:t>DISPLAY glossary and parser</a:t>
            </a:r>
          </a:p>
        </p:txBody>
      </p:sp>
      <p:sp>
        <p:nvSpPr>
          <p:cNvPr id="34" name="">
            <a:extLst xmlns:a="http://schemas.openxmlformats.org/drawingml/2006/main">
              <a:ext uri="{FF2B5EF4-FFF2-40B4-BE49-F238E27FC236}">
                <a16:creationId xmlns:a16="http://schemas.microsoft.com/office/drawing/2014/main" id="{42E038FA-7567-487A-A567-98F35EE5C714}"/>
              </a:ext>
            </a:extLst>
          </p:cNvPr>
          <p:cNvSpPr>
            <a:spLocks xmlns:a="http://schemas.openxmlformats.org/drawingml/2006/main" noGrp="1"/>
          </p:cNvSpPr>
          <p:nvPr/>
        </p:nvSpPr>
        <p:spPr>
          <a:xfrm xmlns:a="http://schemas.openxmlformats.org/drawingml/2006/main">
            <a:off x="8286750" y="4438650"/>
            <a:ext cx="2419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550" b="1">
                <a:solidFill>
                  <a:srgbClr val="40D9FF"/>
                </a:solidFill>
              </a:defRPr>
            </a:pPr>
            <a:r>
              <a:rPr sz="2550" b="1">
                <a:solidFill>
                  <a:srgbClr val="40D9FF"/>
                </a:solidFill>
              </a:rPr>
              <a:t>PASS</a:t>
            </a:r>
          </a:p>
        </p:txBody>
      </p:sp>
      <p:sp>
        <p:nvSpPr>
          <p:cNvPr id="35" name="">
            <a:extLst xmlns:a="http://schemas.openxmlformats.org/drawingml/2006/main">
              <a:ext uri="{FF2B5EF4-FFF2-40B4-BE49-F238E27FC236}">
                <a16:creationId xmlns:a16="http://schemas.microsoft.com/office/drawing/2014/main" id="{805A0176-B510-423A-861A-8E7FED885087}"/>
              </a:ext>
            </a:extLst>
          </p:cNvPr>
          <p:cNvSpPr>
            <a:spLocks xmlns:a="http://schemas.openxmlformats.org/drawingml/2006/main" noGrp="1"/>
          </p:cNvSpPr>
          <p:nvPr/>
        </p:nvSpPr>
        <p:spPr>
          <a:xfrm xmlns:a="http://schemas.openxmlformats.org/drawingml/2006/main">
            <a:off x="8286750" y="4876800"/>
            <a:ext cx="2419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0">
                <a:solidFill>
                  <a:srgbClr val="91A7BA"/>
                </a:solidFill>
              </a:defRPr>
            </a:pPr>
            <a:r>
              <a:rPr sz="1125" b="0">
                <a:solidFill>
                  <a:srgbClr val="91A7BA"/>
                </a:solidFill>
              </a:rPr>
              <a:t>safety regression categories</a:t>
            </a:r>
          </a:p>
          <a:p xmlns:a="http://schemas.openxmlformats.org/drawingml/2006/main">
            <a:pPr algn="ctr">
              <a:defRPr sz="1125" b="0">
                <a:solidFill>
                  <a:srgbClr val="91A7BA"/>
                </a:solidFill>
              </a:defRPr>
            </a:pPr>
            <a:r>
              <a:rPr sz="1125" b="0">
                <a:solidFill>
                  <a:srgbClr val="91A7BA"/>
                </a:solidFill>
              </a:rPr>
              <a:t>and clarification flow</a:t>
            </a:r>
          </a:p>
        </p:txBody>
      </p:sp>
    </p:spTree>
    <p:extLst>
      <p:ext uri="{BB962C8B-B14F-4D97-AF65-F5344CB8AC3E}">
        <p14:creationId xmlns:p14="http://schemas.microsoft.com/office/powerpoint/2010/main" val="338516016"/>
      </p:ext>
    </p:extLst>
  </p:cSld>
</p:sld>
</file>

<file path=ppt/slides/slide16.xml><?xml version="1.0" encoding="utf-8"?>
<p:sld xmlns:p="http://schemas.openxmlformats.org/presentationml/2006/main">
  <p:cSld>
    <p:bg>
      <p:bgPr>
        <a:solidFill xmlns:a="http://schemas.openxmlformats.org/drawingml/2006/main">
          <a:srgbClr val="071525"/>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6B9009A-8BFC-4240-87BC-8807A1F11C7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40D9FF"/>
          </a:solidFill>
          <a:ln xmlns:a="http://schemas.openxmlformats.org/drawingml/2006/main" w="0">
            <a:solidFill>
              <a:srgbClr val="40D9FF"/>
            </a:solidFill>
            <a:prstDash val="solid"/>
          </a:ln>
        </p:spPr>
      </p:sp>
      <p:sp>
        <p:nvSpPr>
          <p:cNvPr id="2" name="">
            <a:extLst xmlns:a="http://schemas.openxmlformats.org/drawingml/2006/main">
              <a:ext uri="{FF2B5EF4-FFF2-40B4-BE49-F238E27FC236}">
                <a16:creationId xmlns:a16="http://schemas.microsoft.com/office/drawing/2014/main" id="{F7570290-1DD6-4F92-8345-23C11A71E19D}"/>
              </a:ext>
            </a:extLst>
          </p:cNvPr>
          <p:cNvSpPr>
            <a:spLocks xmlns:a="http://schemas.openxmlformats.org/drawingml/2006/main" noGrp="1"/>
          </p:cNvSpPr>
          <p:nvPr/>
        </p:nvSpPr>
        <p:spPr>
          <a:xfrm xmlns:a="http://schemas.openxmlformats.org/drawingml/2006/main">
            <a:off x="685800" y="32385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40D9FF"/>
                </a:solidFill>
              </a:defRPr>
            </a:pPr>
            <a:r>
              <a:rPr sz="975" b="1">
                <a:solidFill>
                  <a:srgbClr val="40D9FF"/>
                </a:solidFill>
              </a:rPr>
              <a:t>IMPACT AND ROADMAP</a:t>
            </a:r>
          </a:p>
        </p:txBody>
      </p:sp>
      <p:sp>
        <p:nvSpPr>
          <p:cNvPr id="3" name="slide-title">
            <a:extLst xmlns:a="http://schemas.openxmlformats.org/drawingml/2006/main">
              <a:ext uri="{FF2B5EF4-FFF2-40B4-BE49-F238E27FC236}">
                <a16:creationId xmlns:a16="http://schemas.microsoft.com/office/drawing/2014/main" id="{1C79F3D9-B7A0-47FD-AEA2-DF71982173FF}"/>
              </a:ext>
            </a:extLst>
          </p:cNvPr>
          <p:cNvSpPr>
            <a:spLocks xmlns:a="http://schemas.openxmlformats.org/drawingml/2006/main" noGrp="1"/>
          </p:cNvSpPr>
          <p:nvPr/>
        </p:nvSpPr>
        <p:spPr>
          <a:xfrm xmlns:a="http://schemas.openxmlformats.org/drawingml/2006/main">
            <a:off x="685800" y="64770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850" b="1">
                <a:solidFill>
                  <a:srgbClr val="F5FAFF"/>
                </a:solidFill>
              </a:defRPr>
            </a:pPr>
            <a:r>
              <a:rPr sz="2850" b="1">
                <a:solidFill>
                  <a:srgbClr val="F5FAFF"/>
                </a:solidFill>
              </a:rPr>
              <a:t>DAISY delivers repeatable, governed investigation</a:t>
            </a:r>
          </a:p>
        </p:txBody>
      </p:sp>
      <p:sp>
        <p:nvSpPr>
          <p:cNvPr id="4" name="">
            <a:extLst xmlns:a="http://schemas.openxmlformats.org/drawingml/2006/main">
              <a:ext uri="{FF2B5EF4-FFF2-40B4-BE49-F238E27FC236}">
                <a16:creationId xmlns:a16="http://schemas.microsoft.com/office/drawing/2014/main" id="{DD73E642-0B81-4ABB-BBC8-52CCA1D3250E}"/>
              </a:ext>
            </a:extLst>
          </p:cNvPr>
          <p:cNvSpPr>
            <a:spLocks xmlns:a="http://schemas.openxmlformats.org/drawingml/2006/main" noGrp="1"/>
          </p:cNvSpPr>
          <p:nvPr/>
        </p:nvSpPr>
        <p:spPr>
          <a:xfrm xmlns:a="http://schemas.openxmlformats.org/drawingml/2006/main">
            <a:off x="685800" y="121920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5" name="">
            <a:extLst xmlns:a="http://schemas.openxmlformats.org/drawingml/2006/main">
              <a:ext uri="{FF2B5EF4-FFF2-40B4-BE49-F238E27FC236}">
                <a16:creationId xmlns:a16="http://schemas.microsoft.com/office/drawing/2014/main" id="{AAF3A8E5-7CF3-416B-BC5B-82F0772D1D63}"/>
              </a:ext>
            </a:extLst>
          </p:cNvPr>
          <p:cNvSpPr>
            <a:spLocks xmlns:a="http://schemas.openxmlformats.org/drawingml/2006/main" noGrp="1"/>
          </p:cNvSpPr>
          <p:nvPr/>
        </p:nvSpPr>
        <p:spPr>
          <a:xfrm xmlns:a="http://schemas.openxmlformats.org/drawingml/2006/main">
            <a:off x="685800" y="649605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825" b="0">
                <a:solidFill>
                  <a:srgbClr val="91A7BA"/>
                </a:solidFill>
              </a:defRPr>
            </a:pPr>
            <a:r>
              <a:rPr sz="825" b="0">
                <a:solidFill>
                  <a:srgbClr val="91A7BA"/>
                </a:solidFill>
              </a:rPr>
              <a:t>DB2AI Catalog Console / DAISY</a:t>
            </a:r>
          </a:p>
        </p:txBody>
      </p:sp>
      <p:sp>
        <p:nvSpPr>
          <p:cNvPr id="6" name="">
            <a:extLst xmlns:a="http://schemas.openxmlformats.org/drawingml/2006/main">
              <a:ext uri="{FF2B5EF4-FFF2-40B4-BE49-F238E27FC236}">
                <a16:creationId xmlns:a16="http://schemas.microsoft.com/office/drawing/2014/main" id="{CD7C27AF-93C9-4E50-B6D4-874E57CE21B0}"/>
              </a:ext>
            </a:extLst>
          </p:cNvPr>
          <p:cNvSpPr>
            <a:spLocks xmlns:a="http://schemas.openxmlformats.org/drawingml/2006/main" noGrp="1"/>
          </p:cNvSpPr>
          <p:nvPr/>
        </p:nvSpPr>
        <p:spPr>
          <a:xfrm xmlns:a="http://schemas.openxmlformats.org/drawingml/2006/main">
            <a:off x="11049000" y="64960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a:solidFill>
                  <a:srgbClr val="91A7BA"/>
                </a:solidFill>
              </a:defRPr>
            </a:pPr>
            <a:r>
              <a:rPr sz="825" b="0">
                <a:solidFill>
                  <a:srgbClr val="91A7BA"/>
                </a:solidFill>
              </a:rPr>
              <a:t>16</a:t>
            </a:r>
          </a:p>
        </p:txBody>
      </p:sp>
      <p:sp>
        <p:nvSpPr>
          <p:cNvPr id="7" name="">
            <a:extLst xmlns:a="http://schemas.openxmlformats.org/drawingml/2006/main">
              <a:ext uri="{FF2B5EF4-FFF2-40B4-BE49-F238E27FC236}">
                <a16:creationId xmlns:a16="http://schemas.microsoft.com/office/drawing/2014/main" id="{1CFF6832-E1AF-4DC2-83E7-1217A2B70277}"/>
              </a:ext>
            </a:extLst>
          </p:cNvPr>
          <p:cNvSpPr>
            <a:spLocks xmlns:a="http://schemas.openxmlformats.org/drawingml/2006/main" noGrp="1"/>
          </p:cNvSpPr>
          <p:nvPr/>
        </p:nvSpPr>
        <p:spPr>
          <a:xfrm xmlns:a="http://schemas.openxmlformats.org/drawingml/2006/main">
            <a:off x="68580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35D07F"/>
                </a:solidFill>
              </a:defRPr>
            </a:pPr>
            <a:r>
              <a:rPr sz="1875" b="1">
                <a:solidFill>
                  <a:srgbClr val="35D07F"/>
                </a:solidFill>
              </a:rPr>
              <a:t>Operational value</a:t>
            </a:r>
          </a:p>
        </p:txBody>
      </p:sp>
      <p:sp>
        <p:nvSpPr>
          <p:cNvPr id="8" name="">
            <a:extLst xmlns:a="http://schemas.openxmlformats.org/drawingml/2006/main">
              <a:ext uri="{FF2B5EF4-FFF2-40B4-BE49-F238E27FC236}">
                <a16:creationId xmlns:a16="http://schemas.microsoft.com/office/drawing/2014/main" id="{2C5F28B9-F5DB-47CE-9352-15C85FF20887}"/>
              </a:ext>
            </a:extLst>
          </p:cNvPr>
          <p:cNvSpPr>
            <a:spLocks xmlns:a="http://schemas.openxmlformats.org/drawingml/2006/main" noGrp="1"/>
          </p:cNvSpPr>
          <p:nvPr/>
        </p:nvSpPr>
        <p:spPr>
          <a:xfrm xmlns:a="http://schemas.openxmlformats.org/drawingml/2006/main">
            <a:off x="876300" y="20478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9" name="">
            <a:extLst xmlns:a="http://schemas.openxmlformats.org/drawingml/2006/main">
              <a:ext uri="{FF2B5EF4-FFF2-40B4-BE49-F238E27FC236}">
                <a16:creationId xmlns:a16="http://schemas.microsoft.com/office/drawing/2014/main" id="{5285F310-CEA0-418D-8E36-8A509A55C00D}"/>
              </a:ext>
            </a:extLst>
          </p:cNvPr>
          <p:cNvSpPr>
            <a:spLocks xmlns:a="http://schemas.openxmlformats.org/drawingml/2006/main" noGrp="1"/>
          </p:cNvSpPr>
          <p:nvPr/>
        </p:nvSpPr>
        <p:spPr>
          <a:xfrm xmlns:a="http://schemas.openxmlformats.org/drawingml/2006/main">
            <a:off x="1066800" y="196215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Less repeated manual catalog SQL for common investigations</a:t>
            </a:r>
          </a:p>
        </p:txBody>
      </p:sp>
      <p:sp>
        <p:nvSpPr>
          <p:cNvPr id="10" name="">
            <a:extLst xmlns:a="http://schemas.openxmlformats.org/drawingml/2006/main">
              <a:ext uri="{FF2B5EF4-FFF2-40B4-BE49-F238E27FC236}">
                <a16:creationId xmlns:a16="http://schemas.microsoft.com/office/drawing/2014/main" id="{72C3BEC8-623E-44CF-AAA3-555B0AEBAF7E}"/>
              </a:ext>
            </a:extLst>
          </p:cNvPr>
          <p:cNvSpPr>
            <a:spLocks xmlns:a="http://schemas.openxmlformats.org/drawingml/2006/main" noGrp="1"/>
          </p:cNvSpPr>
          <p:nvPr/>
        </p:nvSpPr>
        <p:spPr>
          <a:xfrm xmlns:a="http://schemas.openxmlformats.org/drawingml/2006/main">
            <a:off x="876300" y="26003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1" name="">
            <a:extLst xmlns:a="http://schemas.openxmlformats.org/drawingml/2006/main">
              <a:ext uri="{FF2B5EF4-FFF2-40B4-BE49-F238E27FC236}">
                <a16:creationId xmlns:a16="http://schemas.microsoft.com/office/drawing/2014/main" id="{6DD29D90-606B-443F-ACEC-A1EEC3772E0C}"/>
              </a:ext>
            </a:extLst>
          </p:cNvPr>
          <p:cNvSpPr>
            <a:spLocks xmlns:a="http://schemas.openxmlformats.org/drawingml/2006/main" noGrp="1"/>
          </p:cNvSpPr>
          <p:nvPr/>
        </p:nvSpPr>
        <p:spPr>
          <a:xfrm xmlns:a="http://schemas.openxmlformats.org/drawingml/2006/main">
            <a:off x="1066800" y="25146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Faster impact analysis across dependencies and object families</a:t>
            </a:r>
          </a:p>
        </p:txBody>
      </p:sp>
      <p:sp>
        <p:nvSpPr>
          <p:cNvPr id="12" name="">
            <a:extLst xmlns:a="http://schemas.openxmlformats.org/drawingml/2006/main">
              <a:ext uri="{FF2B5EF4-FFF2-40B4-BE49-F238E27FC236}">
                <a16:creationId xmlns:a16="http://schemas.microsoft.com/office/drawing/2014/main" id="{AAC6EC78-F6F5-469F-837F-0D49EF47A24B}"/>
              </a:ext>
            </a:extLst>
          </p:cNvPr>
          <p:cNvSpPr>
            <a:spLocks xmlns:a="http://schemas.openxmlformats.org/drawingml/2006/main" noGrp="1"/>
          </p:cNvSpPr>
          <p:nvPr/>
        </p:nvSpPr>
        <p:spPr>
          <a:xfrm xmlns:a="http://schemas.openxmlformats.org/drawingml/2006/main">
            <a:off x="876300" y="315277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3" name="">
            <a:extLst xmlns:a="http://schemas.openxmlformats.org/drawingml/2006/main">
              <a:ext uri="{FF2B5EF4-FFF2-40B4-BE49-F238E27FC236}">
                <a16:creationId xmlns:a16="http://schemas.microsoft.com/office/drawing/2014/main" id="{FFABA0EE-2E67-4C4E-8376-AAEE45AE1177}"/>
              </a:ext>
            </a:extLst>
          </p:cNvPr>
          <p:cNvSpPr>
            <a:spLocks xmlns:a="http://schemas.openxmlformats.org/drawingml/2006/main" noGrp="1"/>
          </p:cNvSpPr>
          <p:nvPr/>
        </p:nvSpPr>
        <p:spPr>
          <a:xfrm xmlns:a="http://schemas.openxmlformats.org/drawingml/2006/main">
            <a:off x="1066800" y="306705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Consistent workflows, terminology and evidence interpretation</a:t>
            </a:r>
          </a:p>
        </p:txBody>
      </p:sp>
      <p:sp>
        <p:nvSpPr>
          <p:cNvPr id="14" name="">
            <a:extLst xmlns:a="http://schemas.openxmlformats.org/drawingml/2006/main">
              <a:ext uri="{FF2B5EF4-FFF2-40B4-BE49-F238E27FC236}">
                <a16:creationId xmlns:a16="http://schemas.microsoft.com/office/drawing/2014/main" id="{2A0D5338-C071-4F1A-9A6E-90742336C6B2}"/>
              </a:ext>
            </a:extLst>
          </p:cNvPr>
          <p:cNvSpPr>
            <a:spLocks xmlns:a="http://schemas.openxmlformats.org/drawingml/2006/main" noGrp="1"/>
          </p:cNvSpPr>
          <p:nvPr/>
        </p:nvSpPr>
        <p:spPr>
          <a:xfrm xmlns:a="http://schemas.openxmlformats.org/drawingml/2006/main">
            <a:off x="876300" y="3705225"/>
            <a:ext cx="76200" cy="76200"/>
          </a:xfrm>
          <a:prstGeom xmlns:a="http://schemas.openxmlformats.org/drawingml/2006/main" prst="ellipse">
            <a:avLst/>
          </a:prstGeom>
          <a:solidFill xmlns:a="http://schemas.openxmlformats.org/drawingml/2006/main">
            <a:srgbClr val="35D07F"/>
          </a:solidFill>
          <a:ln xmlns:a="http://schemas.openxmlformats.org/drawingml/2006/main" w="9525">
            <a:solidFill>
              <a:srgbClr val="35D07F"/>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5" name="">
            <a:extLst xmlns:a="http://schemas.openxmlformats.org/drawingml/2006/main">
              <a:ext uri="{FF2B5EF4-FFF2-40B4-BE49-F238E27FC236}">
                <a16:creationId xmlns:a16="http://schemas.microsoft.com/office/drawing/2014/main" id="{CF937C9A-E398-47E6-B30E-89871B26F5AF}"/>
              </a:ext>
            </a:extLst>
          </p:cNvPr>
          <p:cNvSpPr>
            <a:spLocks xmlns:a="http://schemas.openxmlformats.org/drawingml/2006/main" noGrp="1"/>
          </p:cNvSpPr>
          <p:nvPr/>
        </p:nvSpPr>
        <p:spPr>
          <a:xfrm xmlns:a="http://schemas.openxmlformats.org/drawingml/2006/main">
            <a:off x="1066800" y="3619500"/>
            <a:ext cx="495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Stronger handover through terminal output, trace and Excel packs</a:t>
            </a:r>
          </a:p>
        </p:txBody>
      </p:sp>
      <p:sp>
        <p:nvSpPr>
          <p:cNvPr id="16" name="">
            <a:extLst xmlns:a="http://schemas.openxmlformats.org/drawingml/2006/main">
              <a:ext uri="{FF2B5EF4-FFF2-40B4-BE49-F238E27FC236}">
                <a16:creationId xmlns:a16="http://schemas.microsoft.com/office/drawing/2014/main" id="{8214C1DD-050E-4AF7-93B8-DD1B66CC3BA4}"/>
              </a:ext>
            </a:extLst>
          </p:cNvPr>
          <p:cNvSpPr>
            <a:spLocks xmlns:a="http://schemas.openxmlformats.org/drawingml/2006/main" noGrp="1"/>
          </p:cNvSpPr>
          <p:nvPr/>
        </p:nvSpPr>
        <p:spPr>
          <a:xfrm xmlns:a="http://schemas.openxmlformats.org/drawingml/2006/main">
            <a:off x="6572250" y="14668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875" b="1">
                <a:solidFill>
                  <a:srgbClr val="F4B942"/>
                </a:solidFill>
              </a:defRPr>
            </a:pPr>
            <a:r>
              <a:rPr sz="1875" b="1">
                <a:solidFill>
                  <a:srgbClr val="F4B942"/>
                </a:solidFill>
              </a:rPr>
              <a:t>Current boundaries</a:t>
            </a:r>
          </a:p>
        </p:txBody>
      </p:sp>
      <p:sp>
        <p:nvSpPr>
          <p:cNvPr id="17" name="">
            <a:extLst xmlns:a="http://schemas.openxmlformats.org/drawingml/2006/main">
              <a:ext uri="{FF2B5EF4-FFF2-40B4-BE49-F238E27FC236}">
                <a16:creationId xmlns:a16="http://schemas.microsoft.com/office/drawing/2014/main" id="{46E4E0D3-FFF2-429B-8E74-772F3A94D2A4}"/>
              </a:ext>
            </a:extLst>
          </p:cNvPr>
          <p:cNvSpPr>
            <a:spLocks xmlns:a="http://schemas.openxmlformats.org/drawingml/2006/main" noGrp="1"/>
          </p:cNvSpPr>
          <p:nvPr/>
        </p:nvSpPr>
        <p:spPr>
          <a:xfrm xmlns:a="http://schemas.openxmlformats.org/drawingml/2006/main">
            <a:off x="6762750" y="2047875"/>
            <a:ext cx="76200" cy="762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18" name="">
            <a:extLst xmlns:a="http://schemas.openxmlformats.org/drawingml/2006/main">
              <a:ext uri="{FF2B5EF4-FFF2-40B4-BE49-F238E27FC236}">
                <a16:creationId xmlns:a16="http://schemas.microsoft.com/office/drawing/2014/main" id="{33855C66-399B-4178-A507-0F6A5C9AB94B}"/>
              </a:ext>
            </a:extLst>
          </p:cNvPr>
          <p:cNvSpPr>
            <a:spLocks xmlns:a="http://schemas.openxmlformats.org/drawingml/2006/main" noGrp="1"/>
          </p:cNvSpPr>
          <p:nvPr/>
        </p:nvSpPr>
        <p:spPr>
          <a:xfrm xmlns:a="http://schemas.openxmlformats.org/drawingml/2006/main">
            <a:off x="6953250" y="196215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Catalog and RTS evidence is not live DISPLAY DATABASE proof</a:t>
            </a:r>
          </a:p>
        </p:txBody>
      </p:sp>
      <p:sp>
        <p:nvSpPr>
          <p:cNvPr id="19" name="">
            <a:extLst xmlns:a="http://schemas.openxmlformats.org/drawingml/2006/main">
              <a:ext uri="{FF2B5EF4-FFF2-40B4-BE49-F238E27FC236}">
                <a16:creationId xmlns:a16="http://schemas.microsoft.com/office/drawing/2014/main" id="{491D9D38-21AE-41AD-AFD2-FC2D887E4476}"/>
              </a:ext>
            </a:extLst>
          </p:cNvPr>
          <p:cNvSpPr>
            <a:spLocks xmlns:a="http://schemas.openxmlformats.org/drawingml/2006/main" noGrp="1"/>
          </p:cNvSpPr>
          <p:nvPr/>
        </p:nvSpPr>
        <p:spPr>
          <a:xfrm xmlns:a="http://schemas.openxmlformats.org/drawingml/2006/main">
            <a:off x="6762750" y="2600325"/>
            <a:ext cx="76200" cy="762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0" name="">
            <a:extLst xmlns:a="http://schemas.openxmlformats.org/drawingml/2006/main">
              <a:ext uri="{FF2B5EF4-FFF2-40B4-BE49-F238E27FC236}">
                <a16:creationId xmlns:a16="http://schemas.microsoft.com/office/drawing/2014/main" id="{FBCF47B3-A49D-4ACD-AED3-B84C689C847C}"/>
              </a:ext>
            </a:extLst>
          </p:cNvPr>
          <p:cNvSpPr>
            <a:spLocks xmlns:a="http://schemas.openxmlformats.org/drawingml/2006/main" noGrp="1"/>
          </p:cNvSpPr>
          <p:nvPr/>
        </p:nvSpPr>
        <p:spPr>
          <a:xfrm xmlns:a="http://schemas.openxmlformats.org/drawingml/2006/main">
            <a:off x="6953250" y="251460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Pasted DISPLAY parsing is best-effort and needs more real samples</a:t>
            </a:r>
          </a:p>
        </p:txBody>
      </p:sp>
      <p:sp>
        <p:nvSpPr>
          <p:cNvPr id="21" name="">
            <a:extLst xmlns:a="http://schemas.openxmlformats.org/drawingml/2006/main">
              <a:ext uri="{FF2B5EF4-FFF2-40B4-BE49-F238E27FC236}">
                <a16:creationId xmlns:a16="http://schemas.microsoft.com/office/drawing/2014/main" id="{9B933E60-C20D-4B2E-BDA9-50491BCFCE85}"/>
              </a:ext>
            </a:extLst>
          </p:cNvPr>
          <p:cNvSpPr>
            <a:spLocks xmlns:a="http://schemas.openxmlformats.org/drawingml/2006/main" noGrp="1"/>
          </p:cNvSpPr>
          <p:nvPr/>
        </p:nvSpPr>
        <p:spPr>
          <a:xfrm xmlns:a="http://schemas.openxmlformats.org/drawingml/2006/main">
            <a:off x="6762750" y="3152775"/>
            <a:ext cx="76200" cy="762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2" name="">
            <a:extLst xmlns:a="http://schemas.openxmlformats.org/drawingml/2006/main">
              <a:ext uri="{FF2B5EF4-FFF2-40B4-BE49-F238E27FC236}">
                <a16:creationId xmlns:a16="http://schemas.microsoft.com/office/drawing/2014/main" id="{866688AF-BCEB-4767-8212-342D5833E5F6}"/>
              </a:ext>
            </a:extLst>
          </p:cNvPr>
          <p:cNvSpPr>
            <a:spLocks xmlns:a="http://schemas.openxmlformats.org/drawingml/2006/main" noGrp="1"/>
          </p:cNvSpPr>
          <p:nvPr/>
        </p:nvSpPr>
        <p:spPr>
          <a:xfrm xmlns:a="http://schemas.openxmlformats.org/drawingml/2006/main">
            <a:off x="6953250" y="306705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No application-data access, utilities or automated remediation</a:t>
            </a:r>
          </a:p>
        </p:txBody>
      </p:sp>
      <p:sp>
        <p:nvSpPr>
          <p:cNvPr id="23" name="">
            <a:extLst xmlns:a="http://schemas.openxmlformats.org/drawingml/2006/main">
              <a:ext uri="{FF2B5EF4-FFF2-40B4-BE49-F238E27FC236}">
                <a16:creationId xmlns:a16="http://schemas.microsoft.com/office/drawing/2014/main" id="{3DFD9FF3-7CCF-412B-BD25-06E751D48CED}"/>
              </a:ext>
            </a:extLst>
          </p:cNvPr>
          <p:cNvSpPr>
            <a:spLocks xmlns:a="http://schemas.openxmlformats.org/drawingml/2006/main" noGrp="1"/>
          </p:cNvSpPr>
          <p:nvPr/>
        </p:nvSpPr>
        <p:spPr>
          <a:xfrm xmlns:a="http://schemas.openxmlformats.org/drawingml/2006/main">
            <a:off x="6762750" y="3705225"/>
            <a:ext cx="76200" cy="76200"/>
          </a:xfrm>
          <a:prstGeom xmlns:a="http://schemas.openxmlformats.org/drawingml/2006/main" prst="ellipse">
            <a:avLst/>
          </a:prstGeom>
          <a:solidFill xmlns:a="http://schemas.openxmlformats.org/drawingml/2006/main">
            <a:srgbClr val="F4B942"/>
          </a:solidFill>
          <a:ln xmlns:a="http://schemas.openxmlformats.org/drawingml/2006/main" w="9525">
            <a:solidFill>
              <a:srgbClr val="F4B942"/>
            </a:solidFill>
            <a:prstDash val="solid"/>
          </a:ln>
        </p:spPr>
        <p:txBody>
          <a:bodyPr xmlns:a="http://schemas.openxmlformats.org/drawingml/2006/main" anchor="ctr"/>
          <a:lstStyle xmlns:a="http://schemas.openxmlformats.org/drawingml/2006/main"/>
          <a:p xmlns:a="http://schemas.openxmlformats.org/drawingml/2006/main">
            <a:r>
              <a:t/>
            </a:r>
          </a:p>
        </p:txBody>
      </p:sp>
      <p:sp>
        <p:nvSpPr>
          <p:cNvPr id="24" name="">
            <a:extLst xmlns:a="http://schemas.openxmlformats.org/drawingml/2006/main">
              <a:ext uri="{FF2B5EF4-FFF2-40B4-BE49-F238E27FC236}">
                <a16:creationId xmlns:a16="http://schemas.microsoft.com/office/drawing/2014/main" id="{D0E2136C-420F-4715-9C27-759F8E8F3DED}"/>
              </a:ext>
            </a:extLst>
          </p:cNvPr>
          <p:cNvSpPr>
            <a:spLocks xmlns:a="http://schemas.openxmlformats.org/drawingml/2006/main" noGrp="1"/>
          </p:cNvSpPr>
          <p:nvPr/>
        </p:nvSpPr>
        <p:spPr>
          <a:xfrm xmlns:a="http://schemas.openxmlformats.org/drawingml/2006/main">
            <a:off x="6953250" y="361950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a:solidFill>
                  <a:srgbClr val="D9E7F4"/>
                </a:solidFill>
              </a:defRPr>
            </a:pPr>
            <a:r>
              <a:rPr sz="1350" b="0">
                <a:solidFill>
                  <a:srgbClr val="D9E7F4"/>
                </a:solidFill>
              </a:rPr>
              <a:t>No quantified time-saved metric in the supplied evidence</a:t>
            </a:r>
          </a:p>
        </p:txBody>
      </p:sp>
      <p:sp>
        <p:nvSpPr>
          <p:cNvPr id="25" name="">
            <a:extLst xmlns:a="http://schemas.openxmlformats.org/drawingml/2006/main">
              <a:ext uri="{FF2B5EF4-FFF2-40B4-BE49-F238E27FC236}">
                <a16:creationId xmlns:a16="http://schemas.microsoft.com/office/drawing/2014/main" id="{F5B27291-4B34-4C37-9B65-1213DC939F0C}"/>
              </a:ext>
            </a:extLst>
          </p:cNvPr>
          <p:cNvSpPr>
            <a:spLocks xmlns:a="http://schemas.openxmlformats.org/drawingml/2006/main" noGrp="1"/>
          </p:cNvSpPr>
          <p:nvPr/>
        </p:nvSpPr>
        <p:spPr>
          <a:xfrm xmlns:a="http://schemas.openxmlformats.org/drawingml/2006/main">
            <a:off x="685800" y="4362450"/>
            <a:ext cx="10820400" cy="9525"/>
          </a:xfrm>
          <a:prstGeom xmlns:a="http://schemas.openxmlformats.org/drawingml/2006/main" prst="rect">
            <a:avLst/>
          </a:prstGeom>
          <a:solidFill xmlns:a="http://schemas.openxmlformats.org/drawingml/2006/main">
            <a:srgbClr val="1D405A"/>
          </a:solidFill>
          <a:ln xmlns:a="http://schemas.openxmlformats.org/drawingml/2006/main" w="0">
            <a:solidFill>
              <a:srgbClr val="1D405A"/>
            </a:solidFill>
            <a:prstDash val="solid"/>
          </a:ln>
        </p:spPr>
      </p:sp>
      <p:sp>
        <p:nvSpPr>
          <p:cNvPr id="26" name="">
            <a:extLst xmlns:a="http://schemas.openxmlformats.org/drawingml/2006/main">
              <a:ext uri="{FF2B5EF4-FFF2-40B4-BE49-F238E27FC236}">
                <a16:creationId xmlns:a16="http://schemas.microsoft.com/office/drawing/2014/main" id="{3D863888-0F1B-4137-8302-2DB07F4908C2}"/>
              </a:ext>
            </a:extLst>
          </p:cNvPr>
          <p:cNvSpPr>
            <a:spLocks xmlns:a="http://schemas.openxmlformats.org/drawingml/2006/main" noGrp="1"/>
          </p:cNvSpPr>
          <p:nvPr/>
        </p:nvSpPr>
        <p:spPr>
          <a:xfrm xmlns:a="http://schemas.openxmlformats.org/drawingml/2006/main">
            <a:off x="685800" y="4591050"/>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F5FAFF"/>
                </a:solidFill>
              </a:defRPr>
            </a:pPr>
            <a:r>
              <a:rPr sz="1575" b="1">
                <a:solidFill>
                  <a:srgbClr val="F5FAFF"/>
                </a:solidFill>
              </a:rPr>
              <a:t>Enhancement roadmap supported by current documents</a:t>
            </a:r>
          </a:p>
        </p:txBody>
      </p:sp>
      <p:sp>
        <p:nvSpPr>
          <p:cNvPr id="27" name="">
            <a:extLst xmlns:a="http://schemas.openxmlformats.org/drawingml/2006/main">
              <a:ext uri="{FF2B5EF4-FFF2-40B4-BE49-F238E27FC236}">
                <a16:creationId xmlns:a16="http://schemas.microsoft.com/office/drawing/2014/main" id="{BC77BD27-C043-4A7D-854F-26C6409EA5BB}"/>
              </a:ext>
            </a:extLst>
          </p:cNvPr>
          <p:cNvSpPr>
            <a:spLocks xmlns:a="http://schemas.openxmlformats.org/drawingml/2006/main" noGrp="1"/>
          </p:cNvSpPr>
          <p:nvPr/>
        </p:nvSpPr>
        <p:spPr>
          <a:xfrm xmlns:a="http://schemas.openxmlformats.org/drawingml/2006/main">
            <a:off x="685800" y="5086350"/>
            <a:ext cx="323850" cy="323850"/>
          </a:xfrm>
          <a:prstGeom xmlns:a="http://schemas.openxmlformats.org/drawingml/2006/main" prst="ellipse">
            <a:avLst/>
          </a:prstGeom>
          <a:solidFill xmlns:a="http://schemas.openxmlformats.org/drawingml/2006/main">
            <a:srgbClr val="40D9FF"/>
          </a:solidFill>
          <a:ln xmlns:a="http://schemas.openxmlformats.org/drawingml/2006/main" w="9525">
            <a:solidFill>
              <a:srgbClr val="40D9FF"/>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5FAFF"/>
                </a:solidFill>
              </a:defRPr>
            </a:pPr>
            <a:r>
              <a:rPr sz="1050" b="1">
                <a:solidFill>
                  <a:srgbClr val="F5FAFF"/>
                </a:solidFill>
              </a:rPr>
              <a:t>1</a:t>
            </a:r>
          </a:p>
        </p:txBody>
      </p:sp>
      <p:sp>
        <p:nvSpPr>
          <p:cNvPr id="28" name="">
            <a:extLst xmlns:a="http://schemas.openxmlformats.org/drawingml/2006/main">
              <a:ext uri="{FF2B5EF4-FFF2-40B4-BE49-F238E27FC236}">
                <a16:creationId xmlns:a16="http://schemas.microsoft.com/office/drawing/2014/main" id="{A7825FB0-41E2-4D21-B727-BCC9FCF696BF}"/>
              </a:ext>
            </a:extLst>
          </p:cNvPr>
          <p:cNvSpPr>
            <a:spLocks xmlns:a="http://schemas.openxmlformats.org/drawingml/2006/main" noGrp="1"/>
          </p:cNvSpPr>
          <p:nvPr/>
        </p:nvSpPr>
        <p:spPr>
          <a:xfrm xmlns:a="http://schemas.openxmlformats.org/drawingml/2006/main">
            <a:off x="1143000" y="5029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5FAFF"/>
                </a:solidFill>
              </a:defRPr>
            </a:pPr>
            <a:r>
              <a:rPr sz="1275" b="1">
                <a:solidFill>
                  <a:srgbClr val="F5FAFF"/>
                </a:solidFill>
              </a:rPr>
              <a:t>Demo hardening</a:t>
            </a:r>
          </a:p>
        </p:txBody>
      </p:sp>
      <p:sp>
        <p:nvSpPr>
          <p:cNvPr id="29" name="">
            <a:extLst xmlns:a="http://schemas.openxmlformats.org/drawingml/2006/main">
              <a:ext uri="{FF2B5EF4-FFF2-40B4-BE49-F238E27FC236}">
                <a16:creationId xmlns:a16="http://schemas.microsoft.com/office/drawing/2014/main" id="{17E65F2B-BAD4-4B2F-86B7-A88BD05A9ACB}"/>
              </a:ext>
            </a:extLst>
          </p:cNvPr>
          <p:cNvSpPr>
            <a:spLocks xmlns:a="http://schemas.openxmlformats.org/drawingml/2006/main" noGrp="1"/>
          </p:cNvSpPr>
          <p:nvPr/>
        </p:nvSpPr>
        <p:spPr>
          <a:xfrm xmlns:a="http://schemas.openxmlformats.org/drawingml/2006/main">
            <a:off x="1143000" y="533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More real DISPLAY samples; polish route labels</a:t>
            </a:r>
          </a:p>
        </p:txBody>
      </p:sp>
      <p:sp>
        <p:nvSpPr>
          <p:cNvPr id="30" name="">
            <a:extLst xmlns:a="http://schemas.openxmlformats.org/drawingml/2006/main">
              <a:ext uri="{FF2B5EF4-FFF2-40B4-BE49-F238E27FC236}">
                <a16:creationId xmlns:a16="http://schemas.microsoft.com/office/drawing/2014/main" id="{42F7D987-6212-4CA3-A622-0EAC2E30532B}"/>
              </a:ext>
            </a:extLst>
          </p:cNvPr>
          <p:cNvSpPr>
            <a:spLocks xmlns:a="http://schemas.openxmlformats.org/drawingml/2006/main" noGrp="1"/>
          </p:cNvSpPr>
          <p:nvPr/>
        </p:nvSpPr>
        <p:spPr>
          <a:xfrm xmlns:a="http://schemas.openxmlformats.org/drawingml/2006/main">
            <a:off x="4305300" y="5086350"/>
            <a:ext cx="323850" cy="3238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5FAFF"/>
                </a:solidFill>
              </a:defRPr>
            </a:pPr>
            <a:r>
              <a:rPr sz="1050" b="1">
                <a:solidFill>
                  <a:srgbClr val="F5FAFF"/>
                </a:solidFill>
              </a:rPr>
              <a:t>2</a:t>
            </a:r>
          </a:p>
        </p:txBody>
      </p:sp>
      <p:sp>
        <p:nvSpPr>
          <p:cNvPr id="31" name="">
            <a:extLst xmlns:a="http://schemas.openxmlformats.org/drawingml/2006/main">
              <a:ext uri="{FF2B5EF4-FFF2-40B4-BE49-F238E27FC236}">
                <a16:creationId xmlns:a16="http://schemas.microsoft.com/office/drawing/2014/main" id="{177D6E7F-8F37-4656-B949-6B560E34A923}"/>
              </a:ext>
            </a:extLst>
          </p:cNvPr>
          <p:cNvSpPr>
            <a:spLocks xmlns:a="http://schemas.openxmlformats.org/drawingml/2006/main" noGrp="1"/>
          </p:cNvSpPr>
          <p:nvPr/>
        </p:nvSpPr>
        <p:spPr>
          <a:xfrm xmlns:a="http://schemas.openxmlformats.org/drawingml/2006/main">
            <a:off x="4762500" y="5029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5FAFF"/>
                </a:solidFill>
              </a:defRPr>
            </a:pPr>
            <a:r>
              <a:rPr sz="1275" b="1">
                <a:solidFill>
                  <a:srgbClr val="F5FAFF"/>
                </a:solidFill>
              </a:rPr>
              <a:t>Management export</a:t>
            </a:r>
          </a:p>
        </p:txBody>
      </p:sp>
      <p:sp>
        <p:nvSpPr>
          <p:cNvPr id="32" name="">
            <a:extLst xmlns:a="http://schemas.openxmlformats.org/drawingml/2006/main">
              <a:ext uri="{FF2B5EF4-FFF2-40B4-BE49-F238E27FC236}">
                <a16:creationId xmlns:a16="http://schemas.microsoft.com/office/drawing/2014/main" id="{03D410F6-C4EB-4772-8278-10099DA64A5B}"/>
              </a:ext>
            </a:extLst>
          </p:cNvPr>
          <p:cNvSpPr>
            <a:spLocks xmlns:a="http://schemas.openxmlformats.org/drawingml/2006/main" noGrp="1"/>
          </p:cNvSpPr>
          <p:nvPr/>
        </p:nvSpPr>
        <p:spPr>
          <a:xfrm xmlns:a="http://schemas.openxmlformats.org/drawingml/2006/main">
            <a:off x="4762500" y="533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Optional executive summary / README tab</a:t>
            </a:r>
          </a:p>
        </p:txBody>
      </p:sp>
      <p:sp>
        <p:nvSpPr>
          <p:cNvPr id="33" name="">
            <a:extLst xmlns:a="http://schemas.openxmlformats.org/drawingml/2006/main">
              <a:ext uri="{FF2B5EF4-FFF2-40B4-BE49-F238E27FC236}">
                <a16:creationId xmlns:a16="http://schemas.microsoft.com/office/drawing/2014/main" id="{13272F95-9C1C-4AD8-A16B-681C850620AD}"/>
              </a:ext>
            </a:extLst>
          </p:cNvPr>
          <p:cNvSpPr>
            <a:spLocks xmlns:a="http://schemas.openxmlformats.org/drawingml/2006/main" noGrp="1"/>
          </p:cNvSpPr>
          <p:nvPr/>
        </p:nvSpPr>
        <p:spPr>
          <a:xfrm xmlns:a="http://schemas.openxmlformats.org/drawingml/2006/main">
            <a:off x="7924800" y="5086350"/>
            <a:ext cx="323850" cy="323850"/>
          </a:xfrm>
          <a:prstGeom xmlns:a="http://schemas.openxmlformats.org/drawingml/2006/main" prst="ellipse">
            <a:avLst/>
          </a:prstGeom>
          <a:solidFill xmlns:a="http://schemas.openxmlformats.org/drawingml/2006/main">
            <a:srgbClr val="3B82F6"/>
          </a:solidFill>
          <a:ln xmlns:a="http://schemas.openxmlformats.org/drawingml/2006/main" w="9525">
            <a:solidFill>
              <a:srgbClr val="3B82F6"/>
            </a:solid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5FAFF"/>
                </a:solidFill>
              </a:defRPr>
            </a:pPr>
            <a:r>
              <a:rPr sz="1050" b="1">
                <a:solidFill>
                  <a:srgbClr val="F5FAFF"/>
                </a:solidFill>
              </a:rPr>
              <a:t>3</a:t>
            </a:r>
          </a:p>
        </p:txBody>
      </p:sp>
      <p:sp>
        <p:nvSpPr>
          <p:cNvPr id="34" name="">
            <a:extLst xmlns:a="http://schemas.openxmlformats.org/drawingml/2006/main">
              <a:ext uri="{FF2B5EF4-FFF2-40B4-BE49-F238E27FC236}">
                <a16:creationId xmlns:a16="http://schemas.microsoft.com/office/drawing/2014/main" id="{FB425A91-3E0E-4B39-AF9A-027F953DB33E}"/>
              </a:ext>
            </a:extLst>
          </p:cNvPr>
          <p:cNvSpPr>
            <a:spLocks xmlns:a="http://schemas.openxmlformats.org/drawingml/2006/main" noGrp="1"/>
          </p:cNvSpPr>
          <p:nvPr/>
        </p:nvSpPr>
        <p:spPr>
          <a:xfrm xmlns:a="http://schemas.openxmlformats.org/drawingml/2006/main">
            <a:off x="8382000" y="50292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F5FAFF"/>
                </a:solidFill>
              </a:defRPr>
            </a:pPr>
            <a:r>
              <a:rPr sz="1275" b="1">
                <a:solidFill>
                  <a:srgbClr val="F5FAFF"/>
                </a:solidFill>
              </a:rPr>
              <a:t>Operational adoption</a:t>
            </a:r>
          </a:p>
        </p:txBody>
      </p:sp>
      <p:sp>
        <p:nvSpPr>
          <p:cNvPr id="35" name="">
            <a:extLst xmlns:a="http://schemas.openxmlformats.org/drawingml/2006/main">
              <a:ext uri="{FF2B5EF4-FFF2-40B4-BE49-F238E27FC236}">
                <a16:creationId xmlns:a16="http://schemas.microsoft.com/office/drawing/2014/main" id="{48DC75DD-7CEB-4CD8-AA4C-E455F33D5675}"/>
              </a:ext>
            </a:extLst>
          </p:cNvPr>
          <p:cNvSpPr>
            <a:spLocks xmlns:a="http://schemas.openxmlformats.org/drawingml/2006/main" noGrp="1"/>
          </p:cNvSpPr>
          <p:nvPr/>
        </p:nvSpPr>
        <p:spPr>
          <a:xfrm xmlns:a="http://schemas.openxmlformats.org/drawingml/2006/main">
            <a:off x="8382000" y="533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125" b="0">
                <a:solidFill>
                  <a:srgbClr val="91A7BA"/>
                </a:solidFill>
              </a:defRPr>
            </a:pPr>
            <a:r>
              <a:rPr sz="1125" b="0">
                <a:solidFill>
                  <a:srgbClr val="91A7BA"/>
                </a:solidFill>
              </a:rPr>
              <a:t>Demo guide, dry run and demo-safe object set</a:t>
            </a:r>
          </a:p>
        </p:txBody>
      </p:sp>
      <p:sp>
        <p:nvSpPr>
          <p:cNvPr id="36" name="">
            <a:extLst xmlns:a="http://schemas.openxmlformats.org/drawingml/2006/main">
              <a:ext uri="{FF2B5EF4-FFF2-40B4-BE49-F238E27FC236}">
                <a16:creationId xmlns:a16="http://schemas.microsoft.com/office/drawing/2014/main" id="{19F60E66-B12E-474C-9B4A-798AF748FFFC}"/>
              </a:ext>
            </a:extLst>
          </p:cNvPr>
          <p:cNvSpPr>
            <a:spLocks xmlns:a="http://schemas.openxmlformats.org/drawingml/2006/main" noGrp="1"/>
          </p:cNvSpPr>
          <p:nvPr/>
        </p:nvSpPr>
        <p:spPr>
          <a:xfrm xmlns:a="http://schemas.openxmlformats.org/drawingml/2006/main">
            <a:off x="685800" y="5943600"/>
            <a:ext cx="10820400" cy="361950"/>
          </a:xfrm>
          <a:prstGeom xmlns:a="http://schemas.openxmlformats.org/drawingml/2006/main" prst="roundRect">
            <a:avLst>
              <a:gd name="adj" fmla="val 31579"/>
            </a:avLst>
          </a:prstGeom>
          <a:solidFill xmlns:a="http://schemas.openxmlformats.org/drawingml/2006/main">
            <a:srgbClr val="143A55"/>
          </a:solidFill>
          <a:ln xmlns:a="http://schemas.openxmlformats.org/drawingml/2006/main" w="9525">
            <a:solidFill>
              <a:srgbClr val="40D9FF"/>
            </a:solidFill>
            <a:prstDash val="solid"/>
          </a:ln>
        </p:spPr>
      </p:sp>
      <p:sp>
        <p:nvSpPr>
          <p:cNvPr id="37" name="">
            <a:extLst xmlns:a="http://schemas.openxmlformats.org/drawingml/2006/main">
              <a:ext uri="{FF2B5EF4-FFF2-40B4-BE49-F238E27FC236}">
                <a16:creationId xmlns:a16="http://schemas.microsoft.com/office/drawing/2014/main" id="{0B3B39A2-D0D1-447E-B467-88CB2B68A9E4}"/>
              </a:ext>
            </a:extLst>
          </p:cNvPr>
          <p:cNvSpPr>
            <a:spLocks xmlns:a="http://schemas.openxmlformats.org/drawingml/2006/main" noGrp="1"/>
          </p:cNvSpPr>
          <p:nvPr/>
        </p:nvSpPr>
        <p:spPr>
          <a:xfrm xmlns:a="http://schemas.openxmlformats.org/drawingml/2006/main">
            <a:off x="876300" y="5991225"/>
            <a:ext cx="10439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F5FAFF"/>
                </a:solidFill>
              </a:defRPr>
            </a:pPr>
            <a:r>
              <a:rPr sz="1275" b="1">
                <a:solidFill>
                  <a:srgbClr val="F5FAFF"/>
                </a:solidFill>
              </a:rPr>
              <a:t>DAISY makes catalog intelligence easier to access while keeping execution deterministic, approved and read-only.</a:t>
            </a:r>
          </a:p>
        </p:txBody>
      </p:sp>
    </p:spTree>
    <p:extLst>
      <p:ext uri="{BB962C8B-B14F-4D97-AF65-F5344CB8AC3E}">
        <p14:creationId xmlns:p14="http://schemas.microsoft.com/office/powerpoint/2010/main" val="18940929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2026-07-26T02:15:34.2020000Z</dcterms:created>
  <dcterms:modified xsi:type="dcterms:W3CDTF">2026-07-26T02:15:34.2020000Z</dcterms:modified>
</coreProperties>
</file>